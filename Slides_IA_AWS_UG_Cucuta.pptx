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3" r:id="rId38"/>
    <p:sldId id="292"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4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4610"/>
  </p:normalViewPr>
  <p:slideViewPr>
    <p:cSldViewPr snapToGrid="0" snapToObjects="1">
      <p:cViewPr varScale="1">
        <p:scale>
          <a:sx n="119" d="100"/>
          <a:sy n="119" d="100"/>
        </p:scale>
        <p:origin x="208"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807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
Se proyecta mientras te presentan y subes a tarima. No la narres.
Avanza a la siguiente cuando vayas a decir “Antes de empezar, un minuto sobre mí”.</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Quién les habla]  00:00–01:15
ACTO 0 - Esta no era la charla que iba a dar
----------------------------------------
Antes de empezar, un minuto sobre mí, para que sepan desde dónde les estoy hablando.
Soy Gabriel Díaz. Soy ingeniero de sistemas de la UFPS — de aquí.
Llevo diecisiete años en desarrollo de software. Hoy soy CEO y fundador de GLD Consulting, y trabajo como consultor de TI para empresas en Estados Unidos: Twilio, Livevox, Inpowered AI, Attain Outcomes.
Soy Arquitecto de Soluciones AWS y programador Java certificado.
Y en este momento estoy cursando un Máster en Inteligencia Artificial en el Instituto Europeo de Postgrado — que es, en buena parte, de dónde sale la inquietud que originó esta charla.
&gt;&gt; Menciona la UFPS con intención. Si en la sala hay estudiantes de allí, esa frase hace más por tu credibilidad que toda la lista de clientes. Estás diciendo "yo estuve sentado donde ustedes están".
&gt;&gt; Un minuto. No más. Los enlaces están en pantalla; no los leas en voz alta, solo di "ahí quedan mis datos si quieren escribirme". Un speaker que se presenta largo pierde la sala antes de empezar.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El cambio de tema]  01:15–02:55
ACTO 0 - Esta no era la charla que iba a dar
----------------------------------------
Quiero comenzar contándoles algo.
Esta no era la charla que originalmente iba a dar.
Cuando comenzamos a pensar en este evento, la idea inicial era hablar de las microVMs detrás de AWS Lambda.
Y era un tema buenísimo. Cómo AWS logra arrancar una máquina virtual completa en milisegundos, con su propio kernel y su propio aislamiento, para ejecutar la función de un solo cliente y después destruirla. Cómo eso resuelve al mismo tiempo el problema de la seguridad multi-tenant y el del arranque en frío. Podía mostrar el modelo de ejecución, hacer una demo, y terminar con recomendaciones prácticas.
Es exactamente la clase de tema que a mí me gusta: entender cómo funciona algo por dentro.
&gt;&gt; Este párrafo tiene que sonar entusiasta, no como excusa. El giro funciona solo si el público cree que el tema original valía la pena. No lo despaches en dos segundos.
Pero mientras preparaba esa charla apareció una pregunta mucho más incómoda.
&gt;&gt; Pausa. Deja que la pregunta llegue sola antes de proyectarla.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El cambio de tema]  01:15–02:55
ACTO 0 - Esta no era la charla que iba a dar
----------------------------------------
Porque algo extraño está pasando en nuestra industria.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 Por qué esta vez es diferente]  02:55–04:54
ACTO 0 - Esta no era la charla que iba a dar
----------------------------------------
Quienes trabajamos en tecnología estamos acostumbrados al cambio.
Cada cierto tiempo aparece un nuevo lenguaje, un nuevo framework, una nueva arquitectura, una nueva plataforma cloud, una nueva forma de desplegar software.
Y nuestra reacción como ingenieros siempre ha sido bastante sencilla:
"Bueno... toca aprenderlo."
Aprendimos Git. Aprendimos contenedores. Aprendimos cloud. Aprendimos CI/CD. Aprendimos nuevos frameworks.
Y seguimos adelante.
Miren esta imagen. A la izquierda, lo que necesitaba saber un desarrollador Java en 2015: seis cosas en una mochila. A la derecha, 2026.
&gt;&gt; Deja la imagen en pantalla y haz la pregunta al público: *"¿esto es progreso, o es carga?"* No la respondas todavía — la respuesta llega en 1.3, cuando hablemos de que la abstracción mueve el nivel en vez de eliminarlo. Vale unos treinta segundos de reacción de la sala.
Pero con la inteligencia artificial empecé a pensar que estaba pasando algo distinto.
&gt;&gt; Baja el ritmo aquí. Esta es la primera idea fuerte de la charla.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 Por qué esta vez es diferente]  02:55–04:54
ACTO 0 - Esta no era la charla que iba a dar
----------------------------------------
Porque esta vez la nueva herramienta no solamente nos ayuda a hacer nuestro trabajo.
Puede hacer una parte del trabajo que durante años usamos para definir nuestra profesión.
Puede escribir código. Puede crear pruebas. Puede explicar un repositorio completo. Puede modificar repositorios completos. Puede encontrar errores. Puede crear infraestructura. Puede proponer arquitecturas. Puede documentar. Puede tomar una tarea y empezar a implementarla sola.
Entonces la pregunta dejó de ser una y pasó a ser otra.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 Por qué esta vez es diferente]  02:55–04:54
ACTO 0 - Esta no era la charla que iba a dar
----------------------------------------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La misma pregunta, tres versiones]  04:54–07:08
ACTO 0 - Esta no era la charla que iba a dar
----------------------------------------
Seguramente muchos de los estudiantes que están aquí han pensado alguna vez:
"¿Será que escogí la carrera correcta?"
O quizá:
"Estoy aprendiendo Java, Python o JavaScript mientras ChatGPT, Claude, Kiro y Copilot ya pueden generar todo esto."
Y entonces aparece inevitablemente:
¿Para qué estoy aprendiendo a programar?
Pero esta pregunta no es solamente de los estudiantes.
Los que llevamos algunos años trabajando tenemos nuestra propia versión:
¿Lo que sé hacer hoy seguirá siendo valioso dentro de cinco años?
Y las empresas tienen otra:
¿Qué debería esperar de un ingeniero de software si tiene inteligencia artificial disponible todo el tiempo?
Tres perspectivas diferentes sobre el mismo cambio.
&gt;&gt; Si el público es mayoritariamente estudiantes, pregunta a mano alzada quién se ha hecho la primera pregunta. Genera complicidad temprana.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Lo que vamos a conversar hoy]  07:08–08:08
ACTO 0 - Esta no era la charla que iba a dar
----------------------------------------
Así que decidí cambiar el tema.
Porque quizá lo más útil que puedo hacer hoy no es enseñarles otra herramienta, sino conversar sobre qué está pasando con nuestra profesión.
Hoy quiero que respondamos cinco preguntas:
1. ¿Qué cambió realmente con la inteligencia artificial?
2. ¿Se va a acabar el trabajo para los programadores?
3. ¿Qué pasa cuando dejamos que la IA escriba software que nosotros mismos no entendemos?
4. ¿Vale la pena aprender a programar?
5. ¿Qué deberíamos aprender ahora?
&gt;&gt; Cada pregunta corresponde exactamente a un acto, en orden. Si proyectas esta pantalla entre actos, resalta la que estás por responder.
No tengo una bola de cristal. Pero sí podemos mirar lo que está ocurriendo hoy y entender hacia dónde se está moviendo la profesión.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Las tres horas y los treinta segundos]  08:08–10:01
ACTO I - De dónde venimos
----------------------------------------
Quiero empezar con una pregunta para los estudiantes.
¿Cuántos están aprendiendo ahora mismo Java, Python, JavaScript, C#, Go o algún otro lenguaje?
&gt;&gt; Espera las manos. No sigas hasta que se levanten.
Ahora imaginen que mañana aparece una herramienta capaz de escribir en treinta segundos el código que a ustedes les tomó tres horas aprender a construir.
¿Perdieron esas tres horas?
&gt;&gt; Pausa larga. Tres segundos completos. No respondas todavía.
¿O estaban aprendiendo algo mucho más importante que escribir código?
Esa es probablemente una de las preguntas más importantes para cualquier persona que esté estudiando ingeniería en este momento.
Vamos a volver a ella al final.
&gt;&gt; Este es el gancho que se cierra en el Acto de cierre. No lo resuelvas aquí.</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Cuatro etapas de la abstracción]  10:01–12:34
ACTO I - De dónde venimos
----------------------------------------
Para entender hacia dónde vamos, primero hay que recordar de dónde venimos.
Porque hay algo que solemos olvidar: esta no es la primera vez que una tecnología hace que programar sea más fácil. De hecho, prácticamente toda la historia de nuestra industria consiste en eso.
Primera etapa: programar era hablar con la máquina.
El desarrollador tenía que conocer profundamente memoria, estructuras de datos, sistemas operativos, compiladores, lenguajes, infraestructura.
Construir software era costoso. El código era escaso.
Segunda etapa: aparecen las abstracciones.
Llegaron los frameworks, las bibliotecas, cloud computing, los servicios administrados, las APIs, Infrastructure as Code, CI/CD, los contenedores.
Antes alguien configuraba servidores físicamente. Después escribíamos scripts. Después aparecieron Terraform, CloudFormation, CDK. Después, plataformas completamente administradas.
Cada generación permitió hacer más con menos esfuerzo. La industria siempre ha avanzado eliminando trabajo manual.
&gt;&gt; Callback opcional al tema abandonado. Funciona muy bien aquí y cuesta veinte segundos.
Y fíjense en algo, volviendo al tema del que les iba a hablar.
Cuando ustedes suben una función a Lambda, escriben veinte líneas y se olvidan del resto. Esa es la abstracción.
Pero debajo de esas veinte líneas alguien tuvo que diseñar una microVM que arranca en milisegundos, aislar la ejecución de miles de clientes distintos y decidir qué pasa cuando algo falla.
La abstracción no eliminó ese trabajo. Lo movió de lugar. Y alguien lo sigue haciendo.
Guárdense esa idea, porque vamos a volver a ella.
Tercera etapa: Google, Stack Overflow y GitHub.
El desarrollador dejó de memorizar todo. Aprendimos a buscar. Y una habilidad fundamental pasó a ser saber encontrar la respuesta correcta.
Cuarta etapa: IA generativa.
Aquí pasa algo distinto. Ya no solamente buscamos la respuesta. Ahora podemos decir "construye esta funcionalidad" — y la máquina lo hace.
Por primera vez estamos automatizando parcialmente la producción del código mismo.
Ahí está el verdadero cambio.
&gt;&gt; La infografía "2015 vs 2026" ya la mostraste en 0.3. Si alguien la trae de vuelta aquí, retómala: la segunda etapa es exactamente lo que hizo crecer esa silueta.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La abstracción nunca eliminó al ingeniero]  12:34–14:00
ACTO I - De dónde venimos
----------------------------------------
Y aquí conviene recordar algo, porque esta conversación ya la tuvimos antes.
Las calculadoras no hicieron innecesario aprender matemáticas. Hicieron innecesario hacer ciertos cálculos a mano.
Las hojas de cálculo no eliminaron a los financieros. Los hicieron capaces de trabajar con problemas más grandes.
Los compiladores no eliminaron a los programadores porque dejamos de escribir ensamblador. Los lenguajes de alto nivel tampoco.
Cloud no eliminó a los ingenieros porque dejamos de instalar servidores físicamente.
&gt;&gt; Ritmo de lista. Cada par debe caer con confianza, sin explicación adicional.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La abstracción nunca eliminó al ingeniero]  12:34–14:00
ACTO I - De dónde venimos
----------------------------------------
La abstracción mueve el nivel en el que resolvemos los problemas.
La IA está haciendo exactamente eso. Nos está obligando a subir un nivel.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El código se volvió barato]  14:00–15:09
ACTO I - De dónde venimos
----------------------------------------
Lo que pasó, en el fondo, es que la IA cambió radicalmente la economía de producir software.
Durante décadas el código fue escaso y caro. Eso ya no es cierto.
Y si tuviera que resumir toda esta charla en una frase, sería esta:
El código se está volviendo barato. El criterio sigue siendo caro.
Generar trescientas líneas de código puede tomar segundos.
Pero sigue siendo difícil responder si son las trescientas líneas correctas.
Y de eso quiero hablar ahora.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Las preguntas que la IA no responde por ti]  15:09–16:06
ACTO II - Lo que cambió en el trabajo
----------------------------------------
Estas son las preguntas que siguen siendo difíciles:
¿Resuelve el problema que teníamos? ¿Es seguro? ¿Escala? ¿Cuánto va a costar en producción? ¿Qué pasa cuando falle un servicio del que depende? ¿Estamos almacenando bien los datos? ¿Cumplimos con privacidad y regulación? ¿Es esta realmente la arquitectura que necesitamos?
&gt;&gt; Lee rápido, en avalancha. El efecto es acumulativo: que se sienta el peso de todo lo que la IA no decide.
La IA puede producir una respuesta.
El ingeniero sigue siendo responsable de determinar si es una buena respuesta.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La nueva unidad de productividad]  16:06–17:21
ACTO II - Lo que cambió en el trabajo
----------------------------------------
Antes pensábamos así: problema, desarrollador, código.
Ahora es así: problema, ingeniero, IA y agentes y herramientas, software.
Esto significa que una persona puede producir mucho más que antes.
Pero también significa algo más incómodo.
&gt;&gt; Pausa antes de la línea siguiente. Es el giro del acto.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La nueva unidad de productividad]  16:06–17:21
ACTO II - Lo que cambió en el trabajo
----------------------------------------
Una mala decisión también se puede producir muchísimo más rápido.
Con IA podemos acelerar buenas decisiones. Pero también podemos acelerar deuda técnica, vulnerabilidades, arquitecturas deficientes, complejidad innecesaria, costos cloud y errores.
La velocidad no reemplaza al conocimiento.
La velocidad multiplica aquello que ya sabemos hacer.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De programador a ingeniero aumentado]  17:21–19:15
ACTO II - Lo que cambió en el trabajo
----------------------------------------
Y si esto es la dirección, vale la pena preguntarse cómo se ve el trabajo en el tiempo.
Ayer, el desarrollador escribía a mano la mayor parte del código.
Hoy, el desarrollador escribe código junto con asistentes de IA.
Mañana — y aquí especulo, pero no mucho — el ingeniero probablemente va a coordinar múltiples agentes y herramientas trabajando en paralelo: implementando funcionalidades, escribiendo pruebas, revisando código, desplegando infraestructura, analizando vulnerabilidades, generando documentación, investigando incidentes.
Fíjense en el verbo. No "escribir". Coordinar.
&gt;&gt; Esta es la transición conceptual más importante del acto. Si algo se recuerda de esta sección, que sea el cambio de encargo que viene ahora.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De programador a ingeniero aumentado]  17:21–19:15
ACTO II - Lo que cambió en el trabajo
----------------------------------------
Y eso cambia la forma del encargo que uno recibe.
El trabajo se va a parecer cada vez menos a:
"Escribe esta función."
Y cada vez más a:
"Este es el sistema que necesitamos. Estas son sus restricciones. Estas son las condiciones bajo las cuales debe funcionar. Demuestra que cumple con ellas."
&gt;&gt; Pausa en "demuestra". Esa palabra es la bisagra de toda la charla: la carga de la prueba se queda con el ingeniero, no con la herramienta.
Esa última parte es la que no se delega.
La IA puede construir el sistema. Demostrar que cumple sigue siendo tu trabajo.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Qué buscan ahora las empresas]  19:15–21:06
ACTO II - Lo que cambió en el trabajo
----------------------------------------
Durante muchos años una entrevista podía estar dominada por preguntas como: ¿conoces Java? ¿sabes React? ¿has trabajado con Spring? ¿sabes hacer una API REST?
Eso sigue teniendo valor. Pero cada vez es menos suficiente.
Porque la empresa no contrata a alguien porque sabe escribir Java.
La empresa tiene clientes, procesos, restricciones, riesgos, dinero, infraestructura, datos y problemas.
Y necesita personas capaces de convertir todo eso en sistemas confiables.
Por eso el perfil valioso se está moviendo de "sé programar en X" hacia "sé resolver problemas usando software".
&gt;&gt; Aquí baja el registro. Deja el tono de conferencia y habla como si le contaras algo a un amigo. Esta es la única parte de la charla donde el argumento deja de ser una idea y pasa a ser tu vida.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Qué buscan ahora las empresas]  19:15–21:06
ACTO II - Lo que cambió en el trabajo
----------------------------------------
Y les voy a contar algo personal, porque para mí esto no es teoría.
Hace un año y medio trabajo para un cliente en Estados Unidos. El proyecto es en Rust, Python y TypeScript, sobre infraestructura en Google Cloud manejada con Terraform.
Yo soy programador Java. Java neto. Y me encanta Java.
No sabía Rust cuando entré. Y si por "saber Rust" ustedes entienden poder sentarme a escribirlo de memoria, todavía no sé Rust. Tampoco Python.
&gt;&gt; Pausa aquí. Deja que la sala procese que acabas de admitir eso en público.
Y la empresa lo sabía. Desde la primera entrevista sabían que yo venía de Java.
Me contrataron igual.
¿Por qué?
Porque no me estaban contratando por la sintaxis. Me contrataron porque sé construir software.
Llevo año y medio entregando en ese proyecto, y lo he logrado por dos cosas — en este orden.
Primero: porque entiendo cómo se diseña un sistema, cómo se modela la información, cómo se maneja la concurrencia, qué es una buena prueba, qué significa operar algo en producción.
Segundo: porque tengo inteligencia artificial disponible para todo lo que no me sé de memoria.
&gt;&gt; El orden importa y hay que decirlo con énfasis. Si el público invierte esos dos factores, se lleva exactamente la lección contraria a la que quieres dejar.
Fíjense en el orden. Si fuera solamente la IA, no funcionaría.
&gt;&gt; Este párrafo es obligatorio. Sin él, un estudiante de primer semestre concluye "entonces no necesito aprender a programar" — y le habrás hecho daño. No lo recortes nunca, aunque vayas pasado de tiempo.
Y quiero ser muy claro con esto, porque es fácil sacar la lección equivocada.
Esto no significa que no haya que aprender a programar. Significa exactamente lo contrario.
Yo puedo trabajar en Rust sin dominar Rust porque pasé años dominando Java lo suficientemente bien como para entender qué está haciendo un programa por debajo.
Sin esos años, la IA me habría entregado código que yo no habría sabido evaluar.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Vibe coding: lo que sí funciona]  21:06–22:31
ACTO III - La trampa
----------------------------------------
Quiero hablar del vibe coding, y quiero hablarlo con justicia — porque es extraordinariamente útil.
Una persona describe lo que quiere, la IA genera algo, lo prueba superficialmente y sigue iterando.
"Haz que este botón funcione." "Ahora agrega autenticación." "Ahora conecta una base de datos." "Corrige este error."
Y en poco tiempo tenemos una aplicación funcionando.
Para prototipos, experimentos, hackathones, aprender y validar ideas, esto es increíble. De verdad. No estoy aquí a decirles que no lo usen.
El problema empieza en otro punto.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Vibe coding: lo que sí funciona]  21:06–22:31
ACTO III - La trampa
----------------------------------------
El problema empieza cuando confundimos "funciona en mi computador" con "está listo para producción".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El interrogatorio]  22:31–24:30
ACTO III - La trampa
----------------------------------------
Imaginemos que le pedimos a una IA crear una aplicación.
Después de veinte prompts tenemos frontend, backend, login, base de datos, API y despliegue.
Todo parece funcionar.
Entonces alguien pregunta:
&gt;&gt; Aquí baja la voz y cambia el ritmo. Pregunta y responde tú mismo, dejando un segundo entre cada par. Este es el momento más memorable de la charla — no lo apures.
¿Cómo funciona la autenticación?
No sabemos.
¿Por qué elegimos esta base de datos?
No sabemos.
¿Qué pasa si tenemos diez mil usuarios concurrentes?
No sabemos.
¿Dónde están almacenados los secretos?
No sabemos.
¿Cuánto cuesta operar esto?
No sabemos.
&gt;&gt; Pausa larga.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El interrogatorio]  22:31–24:30
ACTO III - La trampa
----------------------------------------
Y aparece el problema de fondo.
Somos propietarios de un sistema que no entendemos.
Ese es, para mí, el riesgo más importante de construir software solamente mediante prompts.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 La paradoja de la IA]  24:30–25:45
ACTO III - La trampa
----------------------------------------
Lo que nos lleva a la idea más contraintuitiva de esta charla.
Mientras más código pueda escribir la IA, más importantes se vuelven los fundamentos de ingeniería.
¿Por qué? Porque alguien tiene que reconocer cuándo la IA propone algo incorrecto.
Para detectar una mala arquitectura necesitas conocer arquitectura.
Para detectar una vulnerabilidad necesitas conocer seguridad.
Para detectar una consulta ineficiente necesitas entender bases de datos.
Para evaluar código concurrente necesitas entender concurrencia.
Para diseñar un sistema distribuido necesitas entender sistemas distribuidos.
&gt;&gt; Ritmo de lista otra vez. Cada línea con la misma cadencia, sin adornos.
La IA reduce la necesidad de recordar sintaxis.
Pero aumenta la necesidad de comprender conceptos.
&gt;&gt; Callback a tu historia. Es importante hacerlo: desde que la contaste, parte del público viene pensando *"pero lo que él hace, ¿no es lo mismo que el vibe coding que acaba de criticar?"*. Esta es la respuesta. No la dejes sin dar.
Y aquí quiero volver un momento a lo que les conté de mí.
Yo no sé Rust de memoria. Pero si la IA me propone un manejo de concurrencia equivocado en Rust, lo detecto.
No porque sepa Rust. Porque entiendo concurrencia.
&gt;&gt; Pausa. Esta es la distinción más fina de toda la charla.
Esa es exactamente la diferencia entre lo que yo hago y el vibe coding del que hablábamos hace un momento.
No está en la herramienta. Las dos personas usan la misma herramienta.
Está en lo que uno trae.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 Sí — pero qué significa programar]  25:45–27:00
ACTO IV - ¿Entonces vale la pena aprender a programar?
----------------------------------------
Volvamos a la pregunta que muchos estudiantes tienen de verdad: ¿vale la pena pasar años aprendiendo a programar si una IA puede escribir código?
Sí.
Pero tenemos que ser mucho más precisos sobre qué significa aprender a programar.
Porque aprender a programar no consiste en recordar cómo escribir for, if, while, class y function.
Programar enseña a dividir problemas grandes en problemas pequeños. A construir abstracciones. A modelar información. A pensar en estados. A manejar errores. A comprender algoritmos. A razonar sobre eficiencia. A diseñar interfaces. A depurar sistemas. A pensar sistemáticamente.
Eso no se depreció. Eso subió de valor.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 Del prompt a la especificación]  27:00–28:20
ACTO IV - ¿Entonces vale la pena aprender a programar?
----------------------------------------
Y aquí hay algo particularmente interesante.
Si la IA es capaz de escribir el código, entonces una de las habilidades más valiosas pasa a ser explicar con precisión qué queremos construir.
Eso nos mueve de prompt-driven development a spec-driven development.
No decir simplemente "créame una aplicación para reservas", sino definir qué problema resuelve, cuáles son sus requisitos, cuáles son sus restricciones, qué comportamientos esperamos, cuáles son los criterios de aceptación y cómo debería probarse.
&gt;&gt; Aquí entra Kiro por primera y única vez como concepto. No lo trates como "otro editor con IA" — trátalo como la evidencia de que la industria se está moviendo en esta dirección.
Y noten algo del segundo flujo: la IA no participa solo en el paso de escribir código. Participa en todos — ayudando a redactar los requisitos, a proponer el diseño, a partir el trabajo en tareas, a implementar y a probar.
Esto no es una teoría mía. Es hacia donde se está moviendo el tooling.
AWS tiene una herramienta que se llama Kiro, y su propuesta es exactamente esta: convertir prompts en requisitos, diseños arquitectónicos y tareas ordenadas, y después implementarlos.
Y hay un detalle que me parece revelador: antes de escribir código, Kiro revisa los requisitos buscando contradicciones y vacíos.
Piénsenlo un segundo. La herramienta no está optimizando la escritura de código. Está optimizando la calidad de la especificación.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 Del prompt a la especificación]  27:00–28:20
ACTO IV - ¿Entonces vale la pena aprender a programar?
----------------------------------------
La IA no elimina la ingeniería. Nos obliga a hacerla explícita.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 Las cinco capas]  28:20–30:00
ACTO IV - ¿Entonces vale la pena aprender a programar?
----------------------------------------
Entonces, ¿qué debería aprender hoy un estudiante? Yo lo agruparía en cinco capas.
Capa 1 — Fundamentos.
No abandonen programación, estructuras de datos, algoritmos, bases de datos, redes, sistemas operativos, concurrencia, Git.
No porque vayamos a escribirlo todo a mano. Sino porque necesitamos saber qué está haciendo la máquina por nosotros.
Les dije que volvíamos a las microVMs de Lambda. Es esto.
Nadie necesita saber cómo arranca un microVM para escribir una función. Hasta el día en que la función tarda tres segundos en responder, y hay que entender qué es un arranque en frío, por qué existe y qué se puede hacer al respecto.
Ese día, el que entendió la capa de abajo resuelve el problema. El que solo sabía la de arriba, abre un ticket.
&gt;&gt; Este es el cierre del hilo que abriste en 0.1 y retomaste en 1.2. Con esto el tema abandonado deja de ser una anécdota y se convierte en argumento.
Capa 2 — Ingeniería de software.
Diseño, testing, patrones, APIs, observabilidad, seguridad, mantenibilidad, refactoring, documentación, arquitectura.
Cuando generar código es barato, distinguir buen software de software que simplemente funciona se vuelve mucho más importante.
Capa 3 — Cloud.
Cómputo, redes, almacenamiento, bases de datos, identidad, seguridad, serverless, observabilidad, infraestructura como código.
Porque escribir la aplicación es solo una parte del problema. Después la aplicación tiene que existir en el mundo real.
Capa 4 — Inteligencia artificial.
No todos tienen que convertirse en investigadores de machine learning. Pero sí deberían entender modelos fundacionales, contexto, tokens, embeddings, RAG, agentes, tool use, MCP, evaluación, seguridad de aplicaciones con IA, y los costos y límites de los modelos.
La IA tiene que volverse parte normal del toolbox del ingeniero.
Capa 5 — Habilidades humanas.
Y aquí posiblemente esté la ventaja competitiva más grande: pensamiento crítico, comunicación, entendimiento del negocio, capacidad de hacer buenas preguntas, capacidad de trabajar con ambigüedad, criterio técnico, liderazgo, responsabilidad.
&gt;&gt; Pausa antes del remate.
Porque una IA puede producir veinte alternativas.
Alguien todavía tiene que escoger una.
&gt;&gt; Aquí la charla deja de ser conceptual y se vuelve accionable. Cambia la energía: menos reflexión, más instrucción. Si vas corto de tiempo, este es el acto que se comprime — pero nunca se elimina, porque es lo único que el público se puede llevar y ejecutar el lunes.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 El orden importa]  30:00–32:11
ACTO V - La ruta concreta
----------------------------------------
Las cinco capas responden qué aprender. Ahora quiero responder en qué orden.
Si yo hoy estuviera empezando ingeniería, haría esto:
Uno. Aprendería un lenguaje suficientemente bien.
Python, Java, JavaScript, C#, Go. El lenguaje concreto importa mucho menos que aprender bien los fundamentos con él.
Dos. Aprendería Git.
Porque el software real se construye entre varias personas.
Tres. Construiría dos o tres proyectos que pueda explicar.
No veinte tutoriales. Dos o tres sistemas que pueda defender en una entrevista, línea por línea si hace falta.
Cuatro. Desplegaría esos proyectos.
Infraestructura, base de datos, logs, seguridad, monitoreo. Es aquí donde cloud deja de ser un tema de examen y se vuelve real. Y es aquí donde uno entiende por qué la arquitectura y el diseño de sistemas se volvieron tan valiosos: es ahí donde se están desplazando las decisiones que importan.
Cinco. Usaría IA desde el primer día.
Pero con una sola regla, siempre:
¿Entiendo lo que acaba de generar?
Si la respuesta es no, ese es el trabajo de hoy.
Seis. Aprendería a escribir especificaciones, no solamente prompts.
Siete. Construiría evidencia de que sé hacer cosas.
GitHub. Proyectos desplegados. Arquitecturas documentadas. Experimentos. Contribuciones. Certificaciones. Experiencia.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 Los recursos: la escalera de AWS]  32:11–35:33
ACTO V - La ruta concreta
----------------------------------------
Y todo esto se puede hacer con recursos gratuitos. Déjenme darles la escalera concreta.
Escalón uno: AWS Educate.
Es gratuito, abierto a cualquier persona sin importar su nivel educativo o su experiencia, y no pide tarjeta de crédito. Se puede registrar desde los trece años con solo un correo.
Tiene laboratorios prácticos sobre almacenamiento con S3, cómputo con EC2, redes con VPC, bases de datos con RDS y operaciones en la nube. Y da insignias digitales que se pueden compartir.
Si tienen dieciocho años o más, además tienen acceso a la bolsa de empleo de AWS Educate.
El mensaje aquí es sencillo:
No necesitan esperar a conseguir su primer empleo para empezar a trabajar con tecnologías cloud.
Escalón dos: AWS Skill Builder.
Aquí el aprendizaje se vuelve estructurado: cloud, arquitectura, seguridad, datos, inteligencia artificial.
Es importante que sepan qué es gratis y qué no, porque la diferencia importa cuando uno es estudiante:
- Gratis: los sets oficiales de preguntas de práctica de veinte preguntas, los cursos Exam Prep de dos horas, y AWS Cloud Quest, que es aprender cloud jugando.
- Con suscripción (desde 29 dólares al mes): los exámenes de práctica oficiales completos, laboratorios, y los cursos Exam Prep extendidos de seis a ocho horas.
Se puede llegar muy lejos con solo lo gratuito.
Escalón tres: Kiro.
Aquí es donde practican lo que hablamos en el Acto IV: pasar de prompts a especificaciones.
Tiene una capa gratuita, funciona como IDE, como CLI y en el navegador, y no necesitan una cuenta de AWS — pueden entrar con GitHub, Google o un AWS Builder ID.
&gt;&gt; Kiro tiene un plan de estudiantes con 1.000 créditos mensuales gratis por un año, pero hoy solo aplica a un listado de universidades de Estados Unidos y Canadá. Ninguna universidad colombiana está en la lista todavía. No prometas lo que no hay.
Pero sí hay algo concreto que pueden hacer: en kiro.dev/students hay un formulario para registrar su correo institucional y pedir que incluyan su universidad. Si suficientes estudiantes de acá lo hacen, es una señal real. Y mientras tanto, la capa gratuita ya les alcanza para aprender.
Escalón cuatro: las certificaciones.
Y aquí quiero ser cuidadoso, porque no las voy a vender como "saca este certificado y consigues trabajo".
Una certificación es dos cosas: una estructura para aprender, y una forma de validar lo que ya sabes.
AWS las organiza en cuatro niveles: Foundational, Associate, Professional y Specialty. Y ya tiene certificaciones específicas de IA — la de Generative AI Developer a nivel Professional está abierta para registro ahora mismo.
Pero les propongo pensarlas no por el nivel del examen sino como una ruta de conocimiento, y esa ruta depende de la carrera que cada uno quiera:
fundamentos → arquitectura y cloud → especialización → IA
Alguien que quiera ser arquitecto y alguien que quiera trabajar en datos van a recorrer esa misma secuencia con contenidos distintos.
También existen las microcredenciales, que a mí me parecen especialmente interesantes para quien está empezando: se evalúan en un entorno real de AWS, no con preguntas de selección múltiple. Hay temas como serverless, agentic AI, redes de aplicaciones y respuesta a incidentes. Y no requieren suscripción a Skill Builder.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 Los recursos: la escalera de AWS]  32:11–35:33
ACTO V - La ruta concreta
----------------------------------------
Pero el mensaje importante es este:
La certificación no reemplaza la experiencia.
El proyecto no reemplaza los fundamentos.
La IA no reemplaza ninguna de las dos.
Las tres cosas se complementan.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 Volver a la pregunta inicial]  35:33–36:25
CIERRE
----------------------------------------
Al principio les pregunté algo.
Si una IA puede escribir en treinta segundos el código que a ustedes les tomó tres horas aprender a construir, ¿perdieron esas tres horas?
&gt;&gt; Pausa. Que el público reconozca la pantalla.
La respuesta es no.
Porque el objetivo nunca fue aprender a escribir código.
El objetivo era aprender a construir sistemas.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 No compitas con la IA]  36:25–37:29
CIERRE
----------------------------------------
Y de ahí sale el consejo más práctico que les puedo dar.
No intenten convertirse en la persona que escribe código más rápido que una IA. Esa carrera está perdida.
Conviértanse en la persona que sabe qué código debe existir. Qué arquitectura usar. Qué riesgos hay. Cómo verificar la solución. Cuándo la IA está equivocada. Y cómo llevar algo desde una idea hasta producción.
Porque la habilidad no es usar IA.
La habilidad es hacer ingeniería con IA.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 Tres ideas para llevarse a casa]  37:29–38:48
CIERRE
----------------------------------------
Tres cosas, y con eso cierro.
Primera. Sí, vale la pena aprender a programar. Pero aprender a programar ya no puede significar únicamente aprender sintaxis.
Segunda. Usar inteligencia artificial va a ser parte normal del trabajo del ingeniero. La ventaja no está en ignorarla, y tampoco está simplemente en saber escribir prompts. Está en saber usarla con criterio de ingeniería.
Tercera. El código ya no será la parte más difícil de construir software. El problema, los requisitos, la arquitectura, la seguridad, la operación, el costo y las decisiones siguen siendo difíciles.
Y ahí sigue haciendo falta un ingeniero.</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 Última frase]  38:48–39:58
CIERRE
----------------------------------------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 Última frase]  38:48–39:58
CIERRE
----------------------------------------
Quizás dentro de algunos años escribamos mucho menos código a mano.
Pero eso no significa que necesitemos menos ingeniería.
Probablemente necesitemos más.
Porque cuando cualquiera puede producir software, la diferencia entre producir código y construir un buen sistema se vuelve todavía más importante.
&gt;&gt; Pausa. Última línea, más lento, mirando al público.
Así que no tengan miedo de que la inteligencia artificial aprenda a programar.
Preocúpense por aprender ustedes a hacer ingeniería.</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hyperlink" Target="https://gld.consulting"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www.linkedin.com/in/gldiazcardenas/" TargetMode="External"/><Relationship Id="rId5" Type="http://schemas.openxmlformats.org/officeDocument/2006/relationships/hyperlink" Target="https://github.com/gldiazcardenas"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1/38</a:t>
            </a:r>
            <a:endParaRPr lang="en-US" sz="1000" dirty="0"/>
          </a:p>
        </p:txBody>
      </p:sp>
      <p:sp>
        <p:nvSpPr>
          <p:cNvPr id="4" name="Text 1"/>
          <p:cNvSpPr/>
          <p:nvPr/>
        </p:nvSpPr>
        <p:spPr>
          <a:xfrm>
            <a:off x="914400" y="1417320"/>
            <a:ext cx="10362895" cy="91440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El futuro del desarrollo de software</a:t>
            </a:r>
            <a:endParaRPr lang="en-US" sz="4400" dirty="0"/>
          </a:p>
        </p:txBody>
      </p:sp>
      <p:sp>
        <p:nvSpPr>
          <p:cNvPr id="5" name="Text 2"/>
          <p:cNvSpPr/>
          <p:nvPr/>
        </p:nvSpPr>
        <p:spPr>
          <a:xfrm>
            <a:off x="914400" y="2286000"/>
            <a:ext cx="10362895" cy="914400"/>
          </a:xfrm>
          <a:prstGeom prst="rect">
            <a:avLst/>
          </a:prstGeom>
          <a:noFill/>
          <a:ln/>
        </p:spPr>
        <p:txBody>
          <a:bodyPr wrap="square" lIns="0" tIns="0" rIns="0" bIns="0" rtlCol="0" anchor="ctr"/>
          <a:lstStyle/>
          <a:p>
            <a:pPr marL="0" indent="0">
              <a:buNone/>
            </a:pPr>
            <a:r>
              <a:rPr lang="en-US" sz="4400" b="1" dirty="0">
                <a:solidFill>
                  <a:srgbClr val="9257F1"/>
                </a:solidFill>
                <a:latin typeface="Arial" pitchFamily="34" charset="0"/>
                <a:ea typeface="Arial" pitchFamily="34" charset="-122"/>
                <a:cs typeface="Arial" pitchFamily="34" charset="-120"/>
              </a:rPr>
              <a:t>luego de la Inteligencia Artificial</a:t>
            </a:r>
            <a:endParaRPr lang="en-US" sz="4400" dirty="0"/>
          </a:p>
        </p:txBody>
      </p:sp>
      <p:sp>
        <p:nvSpPr>
          <p:cNvPr id="6" name="Text 3"/>
          <p:cNvSpPr/>
          <p:nvPr/>
        </p:nvSpPr>
        <p:spPr>
          <a:xfrm>
            <a:off x="914400" y="3429000"/>
            <a:ext cx="10362895" cy="365760"/>
          </a:xfrm>
          <a:prstGeom prst="rect">
            <a:avLst/>
          </a:prstGeom>
          <a:noFill/>
          <a:ln/>
        </p:spPr>
        <p:txBody>
          <a:bodyPr wrap="square" lIns="0" tIns="0" rIns="0" bIns="0" rtlCol="0" anchor="ctr"/>
          <a:lstStyle/>
          <a:p>
            <a:pPr marL="0" indent="0">
              <a:buNone/>
            </a:pPr>
            <a:r>
              <a:rPr lang="en-US" sz="1700" kern="0" spc="100" dirty="0">
                <a:solidFill>
                  <a:srgbClr val="8A93A8"/>
                </a:solidFill>
                <a:latin typeface="Arial" pitchFamily="34" charset="0"/>
                <a:ea typeface="Arial" pitchFamily="34" charset="-122"/>
                <a:cs typeface="Arial" pitchFamily="34" charset="-120"/>
              </a:rPr>
              <a:t>Gabriel Díaz</a:t>
            </a:r>
            <a:endParaRPr lang="en-US" sz="1700" dirty="0"/>
          </a:p>
        </p:txBody>
      </p:sp>
      <p:pic>
        <p:nvPicPr>
          <p:cNvPr id="7" name="Image 0" descr="/sessions/awesome-wizardly-sagan/mnt/charla-ia-aws-ug-cucuta/multimedia/aws_ug_cucuta_cover.jpeg"/>
          <p:cNvPicPr>
            <a:picLocks noChangeAspect="1"/>
          </p:cNvPicPr>
          <p:nvPr/>
        </p:nvPicPr>
        <p:blipFill>
          <a:blip r:embed="rId3"/>
          <a:stretch>
            <a:fillRect/>
          </a:stretch>
        </p:blipFill>
        <p:spPr>
          <a:xfrm>
            <a:off x="0" y="4791456"/>
            <a:ext cx="12191695" cy="20665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0.1  ·  00:00–01:15</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2/38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pic>
        <p:nvPicPr>
          <p:cNvPr id="6" name="Image 1" descr="/sessions/awesome-wizardly-sagan/mnt/charla-ia-aws-ug-cucuta/multimedia/gldiazcardenas_recorte.png"/>
          <p:cNvPicPr>
            <a:picLocks noChangeAspect="1"/>
          </p:cNvPicPr>
          <p:nvPr/>
        </p:nvPicPr>
        <p:blipFill>
          <a:blip r:embed="rId4"/>
          <a:stretch>
            <a:fillRect/>
          </a:stretch>
        </p:blipFill>
        <p:spPr>
          <a:xfrm>
            <a:off x="1143000" y="1051560"/>
            <a:ext cx="3047506" cy="4069080"/>
          </a:xfrm>
          <a:prstGeom prst="rect">
            <a:avLst/>
          </a:prstGeom>
        </p:spPr>
      </p:pic>
      <p:sp>
        <p:nvSpPr>
          <p:cNvPr id="7" name="Text 2"/>
          <p:cNvSpPr/>
          <p:nvPr/>
        </p:nvSpPr>
        <p:spPr>
          <a:xfrm>
            <a:off x="4343400" y="1005840"/>
            <a:ext cx="7025335" cy="594360"/>
          </a:xfrm>
          <a:prstGeom prst="rect">
            <a:avLst/>
          </a:prstGeom>
          <a:noFill/>
          <a:ln/>
        </p:spPr>
        <p:txBody>
          <a:bodyPr wrap="square" lIns="0" tIns="0" rIns="0" bIns="0" rtlCol="0" anchor="t"/>
          <a:lstStyle/>
          <a:p>
            <a:pPr marL="0" indent="0">
              <a:buNone/>
            </a:pPr>
            <a:r>
              <a:rPr lang="en-US" sz="3400" b="1" dirty="0">
                <a:solidFill>
                  <a:srgbClr val="FFFFFF"/>
                </a:solidFill>
                <a:latin typeface="Arial" pitchFamily="34" charset="0"/>
                <a:ea typeface="Arial" pitchFamily="34" charset="-122"/>
                <a:cs typeface="Arial" pitchFamily="34" charset="-120"/>
              </a:rPr>
              <a:t>Gabriel Díaz</a:t>
            </a:r>
            <a:endParaRPr lang="en-US" sz="3400" dirty="0"/>
          </a:p>
        </p:txBody>
      </p:sp>
      <p:sp>
        <p:nvSpPr>
          <p:cNvPr id="8" name="Text 3"/>
          <p:cNvSpPr/>
          <p:nvPr/>
        </p:nvSpPr>
        <p:spPr>
          <a:xfrm>
            <a:off x="4343400" y="1874520"/>
            <a:ext cx="7025335" cy="3200400"/>
          </a:xfrm>
          <a:prstGeom prst="rect">
            <a:avLst/>
          </a:prstGeom>
          <a:noFill/>
          <a:ln/>
        </p:spPr>
        <p:txBody>
          <a:bodyPr wrap="square" lIns="0" tIns="0" rIns="0" bIns="0" rtlCol="0" anchor="t"/>
          <a:lstStyle/>
          <a:p>
            <a:pPr marL="342900" indent="-342900">
              <a:spcAft>
                <a:spcPts val="900"/>
              </a:spcAft>
              <a:buSzPct val="100000"/>
              <a:buChar char="•"/>
            </a:pPr>
            <a:r>
              <a:rPr lang="en-US" sz="1600" dirty="0" err="1">
                <a:solidFill>
                  <a:srgbClr val="FFFFFF"/>
                </a:solidFill>
                <a:latin typeface="Arial" pitchFamily="34" charset="0"/>
                <a:ea typeface="Arial" pitchFamily="34" charset="-122"/>
                <a:cs typeface="Arial" pitchFamily="34" charset="-120"/>
              </a:rPr>
              <a:t>Ingeniero</a:t>
            </a:r>
            <a:r>
              <a:rPr lang="en-US" sz="1600" dirty="0">
                <a:solidFill>
                  <a:srgbClr val="FFFFFF"/>
                </a:solidFill>
                <a:latin typeface="Arial" pitchFamily="34" charset="0"/>
                <a:ea typeface="Arial" pitchFamily="34" charset="-122"/>
                <a:cs typeface="Arial" pitchFamily="34" charset="-120"/>
              </a:rPr>
              <a:t> de sistemas de la UFPS</a:t>
            </a:r>
            <a:endParaRPr lang="en-US" sz="1600" dirty="0"/>
          </a:p>
          <a:p>
            <a:pPr marL="342900" indent="-342900">
              <a:spcAft>
                <a:spcPts val="900"/>
              </a:spcAft>
              <a:buSzPct val="100000"/>
              <a:buChar char="•"/>
            </a:pPr>
            <a:r>
              <a:rPr lang="en-US" sz="1600" dirty="0" err="1">
                <a:solidFill>
                  <a:srgbClr val="FFFFFF"/>
                </a:solidFill>
                <a:latin typeface="Arial" pitchFamily="34" charset="0"/>
                <a:ea typeface="Arial" pitchFamily="34" charset="-122"/>
                <a:cs typeface="Arial" pitchFamily="34" charset="-120"/>
              </a:rPr>
              <a:t>Máster</a:t>
            </a:r>
            <a:r>
              <a:rPr lang="en-US" sz="1600" dirty="0">
                <a:solidFill>
                  <a:srgbClr val="FFFFFF"/>
                </a:solidFill>
                <a:latin typeface="Arial" pitchFamily="34" charset="0"/>
                <a:ea typeface="Arial" pitchFamily="34" charset="-122"/>
                <a:cs typeface="Arial" pitchFamily="34" charset="-120"/>
              </a:rPr>
              <a:t> en Inteligencia Artificial en el Instituto Europeo de </a:t>
            </a:r>
            <a:r>
              <a:rPr lang="en-US" sz="1600" dirty="0" err="1">
                <a:solidFill>
                  <a:srgbClr val="FFFFFF"/>
                </a:solidFill>
                <a:latin typeface="Arial" pitchFamily="34" charset="0"/>
                <a:ea typeface="Arial" pitchFamily="34" charset="-122"/>
                <a:cs typeface="Arial" pitchFamily="34" charset="-120"/>
              </a:rPr>
              <a:t>Postgrado</a:t>
            </a:r>
            <a:r>
              <a:rPr lang="en-US" sz="1600" dirty="0">
                <a:solidFill>
                  <a:srgbClr val="FFFFFF"/>
                </a:solidFill>
                <a:latin typeface="Arial" pitchFamily="34" charset="0"/>
                <a:ea typeface="Arial" pitchFamily="34" charset="-122"/>
                <a:cs typeface="Arial" pitchFamily="34" charset="-120"/>
              </a:rPr>
              <a:t> (</a:t>
            </a:r>
            <a:r>
              <a:rPr lang="en-US" sz="1600" dirty="0" err="1">
                <a:solidFill>
                  <a:srgbClr val="FFFFFF"/>
                </a:solidFill>
                <a:latin typeface="Arial" pitchFamily="34" charset="0"/>
                <a:ea typeface="Arial" pitchFamily="34" charset="-122"/>
                <a:cs typeface="Arial" pitchFamily="34" charset="-120"/>
              </a:rPr>
              <a:t>en</a:t>
            </a:r>
            <a:r>
              <a:rPr lang="en-US" sz="1600" dirty="0">
                <a:solidFill>
                  <a:srgbClr val="FFFFFF"/>
                </a:solidFill>
                <a:latin typeface="Arial" pitchFamily="34" charset="0"/>
                <a:ea typeface="Arial" pitchFamily="34" charset="-122"/>
                <a:cs typeface="Arial" pitchFamily="34" charset="-120"/>
              </a:rPr>
              <a:t> </a:t>
            </a:r>
            <a:r>
              <a:rPr lang="en-US" sz="1600" dirty="0" err="1">
                <a:solidFill>
                  <a:srgbClr val="FFFFFF"/>
                </a:solidFill>
                <a:latin typeface="Arial" pitchFamily="34" charset="0"/>
                <a:ea typeface="Arial" pitchFamily="34" charset="-122"/>
                <a:cs typeface="Arial" pitchFamily="34" charset="-120"/>
              </a:rPr>
              <a:t>curso</a:t>
            </a:r>
            <a:r>
              <a:rPr lang="en-US" sz="1600" dirty="0">
                <a:solidFill>
                  <a:srgbClr val="FFFFFF"/>
                </a:solidFill>
                <a:latin typeface="Arial" pitchFamily="34" charset="0"/>
                <a:ea typeface="Arial" pitchFamily="34" charset="-122"/>
                <a:cs typeface="Arial" pitchFamily="34" charset="-120"/>
              </a:rPr>
              <a:t>)</a:t>
            </a:r>
            <a:endParaRPr lang="en-US" sz="1600" dirty="0"/>
          </a:p>
          <a:p>
            <a:pPr marL="342900" indent="-342900">
              <a:spcAft>
                <a:spcPts val="900"/>
              </a:spcAft>
              <a:buSzPct val="100000"/>
              <a:buChar char="•"/>
            </a:pPr>
            <a:r>
              <a:rPr lang="en-US" sz="1600" dirty="0">
                <a:solidFill>
                  <a:srgbClr val="FFFFFF"/>
                </a:solidFill>
                <a:latin typeface="Arial" pitchFamily="34" charset="0"/>
                <a:ea typeface="Arial" pitchFamily="34" charset="-122"/>
                <a:cs typeface="Arial" pitchFamily="34" charset="-120"/>
              </a:rPr>
              <a:t>17 años de experiencia en IT y Desarrollo de Software</a:t>
            </a:r>
          </a:p>
          <a:p>
            <a:pPr marL="342900" indent="-342900">
              <a:spcAft>
                <a:spcPts val="900"/>
              </a:spcAft>
              <a:buSzPct val="100000"/>
              <a:buFontTx/>
              <a:buChar char="•"/>
            </a:pPr>
            <a:r>
              <a:rPr lang="en-US" sz="1600" dirty="0">
                <a:solidFill>
                  <a:srgbClr val="FFFFFF"/>
                </a:solidFill>
                <a:latin typeface="Arial" pitchFamily="34" charset="0"/>
                <a:ea typeface="Arial" pitchFamily="34" charset="-122"/>
                <a:cs typeface="Arial" pitchFamily="34" charset="-120"/>
              </a:rPr>
              <a:t>CEO y </a:t>
            </a:r>
            <a:r>
              <a:rPr lang="en-US" sz="1600" dirty="0" err="1">
                <a:solidFill>
                  <a:srgbClr val="FFFFFF"/>
                </a:solidFill>
                <a:latin typeface="Arial" pitchFamily="34" charset="0"/>
                <a:ea typeface="Arial" pitchFamily="34" charset="-122"/>
                <a:cs typeface="Arial" pitchFamily="34" charset="-120"/>
              </a:rPr>
              <a:t>Fundador</a:t>
            </a:r>
            <a:r>
              <a:rPr lang="en-US" sz="1600" dirty="0">
                <a:solidFill>
                  <a:srgbClr val="FFFFFF"/>
                </a:solidFill>
                <a:latin typeface="Arial" pitchFamily="34" charset="0"/>
                <a:ea typeface="Arial" pitchFamily="34" charset="-122"/>
                <a:cs typeface="Arial" pitchFamily="34" charset="-120"/>
              </a:rPr>
              <a:t> de GLD Consulting</a:t>
            </a:r>
            <a:endParaRPr lang="en-US" sz="1600" dirty="0"/>
          </a:p>
          <a:p>
            <a:pPr marL="342900" indent="-342900">
              <a:spcAft>
                <a:spcPts val="900"/>
              </a:spcAft>
              <a:buSzPct val="100000"/>
              <a:buChar char="•"/>
            </a:pPr>
            <a:r>
              <a:rPr lang="en-US" sz="1600" dirty="0">
                <a:solidFill>
                  <a:srgbClr val="FFFFFF"/>
                </a:solidFill>
                <a:latin typeface="Arial" pitchFamily="34" charset="0"/>
                <a:ea typeface="Arial" pitchFamily="34" charset="-122"/>
                <a:cs typeface="Arial" pitchFamily="34" charset="-120"/>
              </a:rPr>
              <a:t>Consultor de TI para empresas en USA: Twilio, Livevox, Inpowered AI, Attain Outcomes</a:t>
            </a:r>
            <a:endParaRPr lang="en-US" sz="1600" dirty="0"/>
          </a:p>
          <a:p>
            <a:pPr marL="342900" indent="-342900">
              <a:spcAft>
                <a:spcPts val="900"/>
              </a:spcAft>
              <a:buSzPct val="100000"/>
              <a:buChar char="•"/>
            </a:pPr>
            <a:r>
              <a:rPr lang="en-US" sz="1600" dirty="0">
                <a:solidFill>
                  <a:srgbClr val="FFFFFF"/>
                </a:solidFill>
                <a:latin typeface="Arial" pitchFamily="34" charset="0"/>
                <a:ea typeface="Arial" pitchFamily="34" charset="-122"/>
                <a:cs typeface="Arial" pitchFamily="34" charset="-120"/>
              </a:rPr>
              <a:t>Arquitecto de Soluciones AWS</a:t>
            </a:r>
            <a:endParaRPr lang="en-US" sz="1600" dirty="0"/>
          </a:p>
          <a:p>
            <a:pPr marL="342900" indent="-342900">
              <a:spcAft>
                <a:spcPts val="900"/>
              </a:spcAft>
              <a:buSzPct val="100000"/>
              <a:buChar char="•"/>
            </a:pPr>
            <a:r>
              <a:rPr lang="en-US" sz="1600" dirty="0">
                <a:solidFill>
                  <a:srgbClr val="FFFFFF"/>
                </a:solidFill>
                <a:latin typeface="Arial" pitchFamily="34" charset="0"/>
                <a:ea typeface="Arial" pitchFamily="34" charset="-122"/>
                <a:cs typeface="Arial" pitchFamily="34" charset="-120"/>
              </a:rPr>
              <a:t>Programador Java Certificado</a:t>
            </a:r>
            <a:endParaRPr lang="en-US" sz="1600" dirty="0"/>
          </a:p>
          <a:p>
            <a:pPr marL="342900" indent="-342900">
              <a:spcAft>
                <a:spcPts val="900"/>
              </a:spcAft>
              <a:buSzPct val="100000"/>
              <a:buChar char="•"/>
            </a:pPr>
            <a:r>
              <a:rPr lang="en-US" sz="1600" dirty="0">
                <a:solidFill>
                  <a:srgbClr val="FFFFFF"/>
                </a:solidFill>
                <a:latin typeface="Arial" pitchFamily="34" charset="0"/>
                <a:ea typeface="Arial" pitchFamily="34" charset="-122"/>
                <a:cs typeface="Arial" pitchFamily="34" charset="-120"/>
              </a:rPr>
              <a:t>Emprendedor</a:t>
            </a:r>
            <a:endParaRPr lang="en-US" sz="1600" dirty="0"/>
          </a:p>
        </p:txBody>
      </p:sp>
      <p:sp>
        <p:nvSpPr>
          <p:cNvPr id="9" name="Text 4"/>
          <p:cNvSpPr/>
          <p:nvPr/>
        </p:nvSpPr>
        <p:spPr>
          <a:xfrm>
            <a:off x="4343400" y="5212080"/>
            <a:ext cx="7025335" cy="411480"/>
          </a:xfrm>
          <a:prstGeom prst="rect">
            <a:avLst/>
          </a:prstGeom>
          <a:noFill/>
          <a:ln/>
        </p:spPr>
        <p:txBody>
          <a:bodyPr wrap="square" lIns="0" tIns="0" rIns="0" bIns="0" rtlCol="0" anchor="ctr"/>
          <a:lstStyle/>
          <a:p>
            <a:pPr marL="0" indent="0">
              <a:buNone/>
            </a:pPr>
            <a:r>
              <a:rPr lang="en-US" sz="1400" u="sng" dirty="0">
                <a:solidFill>
                  <a:srgbClr val="9257F1"/>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github.com/gldiazcardenas</a:t>
            </a:r>
            <a:r>
              <a:rPr lang="en-US" sz="1400" dirty="0">
                <a:solidFill>
                  <a:srgbClr val="48536B"/>
                </a:solidFill>
                <a:latin typeface="Arial" pitchFamily="34" charset="0"/>
                <a:ea typeface="Arial" pitchFamily="34" charset="-122"/>
                <a:cs typeface="Arial" pitchFamily="34" charset="-120"/>
              </a:rPr>
              <a:t>   ·   </a:t>
            </a:r>
            <a:r>
              <a:rPr lang="en-US" sz="1400" u="sng" dirty="0">
                <a:solidFill>
                  <a:srgbClr val="9257F1"/>
                </a:solidFill>
                <a:latin typeface="Arial" pitchFamily="34" charset="0"/>
                <a:ea typeface="Arial" pitchFamily="34" charset="-122"/>
                <a:cs typeface="Arial" pitchFamily="34" charset="-120"/>
                <a:hlinkClick r:id="rId6">
                  <a:extLst>
                    <a:ext uri="{A12FA001-AC4F-418D-AE19-62706E023703}">
                      <ahyp:hlinkClr xmlns:ahyp="http://schemas.microsoft.com/office/drawing/2018/hyperlinkcolor" val="tx"/>
                    </a:ext>
                  </a:extLst>
                </a:hlinkClick>
              </a:rPr>
              <a:t>linkedin.com/in/gldiazcardenas</a:t>
            </a:r>
            <a:r>
              <a:rPr lang="en-US" sz="1400" dirty="0">
                <a:solidFill>
                  <a:srgbClr val="48536B"/>
                </a:solidFill>
                <a:latin typeface="Arial" pitchFamily="34" charset="0"/>
                <a:ea typeface="Arial" pitchFamily="34" charset="-122"/>
                <a:cs typeface="Arial" pitchFamily="34" charset="-120"/>
              </a:rPr>
              <a:t>   ·   </a:t>
            </a:r>
            <a:r>
              <a:rPr lang="en-US" sz="1400" u="sng" dirty="0">
                <a:solidFill>
                  <a:srgbClr val="9257F1"/>
                </a:solidFill>
                <a:latin typeface="Arial" pitchFamily="34" charset="0"/>
                <a:ea typeface="Arial" pitchFamily="34" charset="-122"/>
                <a:cs typeface="Arial" pitchFamily="34" charset="-120"/>
                <a:hlinkClick r:id="rId7">
                  <a:extLst>
                    <a:ext uri="{A12FA001-AC4F-418D-AE19-62706E023703}">
                      <ahyp:hlinkClr xmlns:ahyp="http://schemas.microsoft.com/office/drawing/2018/hyperlinkcolor" val="tx"/>
                    </a:ext>
                  </a:extLst>
                </a:hlinkClick>
              </a:rPr>
              <a:t>gld.consulting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0.2  ·  01:15–02:55</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3/38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LA CHARLA QUE IBA A DAR</a:t>
            </a:r>
            <a:endParaRPr lang="en-US" sz="1200" dirty="0"/>
          </a:p>
        </p:txBody>
      </p:sp>
      <p:sp>
        <p:nvSpPr>
          <p:cNvPr id="7" name="Text 3"/>
          <p:cNvSpPr/>
          <p:nvPr/>
        </p:nvSpPr>
        <p:spPr>
          <a:xfrm>
            <a:off x="914400" y="1920240"/>
            <a:ext cx="10362895" cy="1828800"/>
          </a:xfrm>
          <a:prstGeom prst="rect">
            <a:avLst/>
          </a:prstGeom>
          <a:noFill/>
          <a:ln/>
        </p:spPr>
        <p:txBody>
          <a:bodyPr wrap="square" lIns="0" tIns="0" rIns="0" bIns="0" rtlCol="0" anchor="ctr"/>
          <a:lstStyle/>
          <a:p>
            <a:pPr marL="0" indent="0" algn="ctr">
              <a:lnSpc>
                <a:spcPts val="6000"/>
              </a:lnSpc>
              <a:buNone/>
            </a:pPr>
            <a:r>
              <a:rPr lang="en-US" sz="3000" b="1" dirty="0">
                <a:solidFill>
                  <a:srgbClr val="8A93A8"/>
                </a:solidFill>
                <a:latin typeface="Arial" pitchFamily="34" charset="0"/>
                <a:ea typeface="Arial" pitchFamily="34" charset="-122"/>
                <a:cs typeface="Arial" pitchFamily="34" charset="-120"/>
              </a:rPr>
              <a:t>AWS Lambda</a:t>
            </a:r>
            <a:endParaRPr lang="en-US" sz="3000" dirty="0"/>
          </a:p>
          <a:p>
            <a:pPr marL="0" indent="0" algn="ctr">
              <a:lnSpc>
                <a:spcPts val="6000"/>
              </a:lnSpc>
              <a:buNone/>
            </a:pPr>
            <a:r>
              <a:rPr lang="en-US" sz="5400" b="1" dirty="0">
                <a:solidFill>
                  <a:srgbClr val="9257F1"/>
                </a:solidFill>
                <a:latin typeface="Arial" pitchFamily="34" charset="0"/>
                <a:ea typeface="Arial" pitchFamily="34" charset="-122"/>
                <a:cs typeface="Arial" pitchFamily="34" charset="-120"/>
              </a:rPr>
              <a:t>microVMs</a:t>
            </a:r>
            <a:endParaRPr lang="en-US" sz="3000" dirty="0"/>
          </a:p>
        </p:txBody>
      </p:sp>
      <p:sp>
        <p:nvSpPr>
          <p:cNvPr id="8" name="Text 4"/>
          <p:cNvSpPr/>
          <p:nvPr/>
        </p:nvSpPr>
        <p:spPr>
          <a:xfrm>
            <a:off x="914400" y="3977640"/>
            <a:ext cx="10362895" cy="457200"/>
          </a:xfrm>
          <a:prstGeom prst="rect">
            <a:avLst/>
          </a:prstGeom>
          <a:noFill/>
          <a:ln/>
        </p:spPr>
        <p:txBody>
          <a:bodyPr wrap="square" lIns="0" tIns="0" rIns="0" bIns="0" rtlCol="0" anchor="ctr"/>
          <a:lstStyle/>
          <a:p>
            <a:pPr marL="0" indent="0" algn="ctr">
              <a:buNone/>
            </a:pPr>
            <a:r>
              <a:rPr lang="en-US" sz="1700" dirty="0">
                <a:solidFill>
                  <a:srgbClr val="8A93A8"/>
                </a:solidFill>
                <a:latin typeface="Arial" pitchFamily="34" charset="0"/>
                <a:ea typeface="Arial" pitchFamily="34" charset="-122"/>
                <a:cs typeface="Arial" pitchFamily="34" charset="-120"/>
              </a:rPr>
              <a:t>Arranque en milisegundos · Aislamiento multi-tenant · Arranque en frío</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0.2  ·  01:15–02:55</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4/38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914400" y="1097280"/>
            <a:ext cx="10362895" cy="4480560"/>
          </a:xfrm>
          <a:prstGeom prst="rect">
            <a:avLst/>
          </a:prstGeom>
          <a:noFill/>
          <a:ln/>
        </p:spPr>
        <p:txBody>
          <a:bodyPr wrap="square" lIns="0" tIns="0" rIns="0" bIns="0" rtlCol="0" anchor="ctr"/>
          <a:lstStyle/>
          <a:p>
            <a:pPr marL="0" indent="0" algn="ctr">
              <a:lnSpc>
                <a:spcPts val="5000"/>
              </a:lnSpc>
              <a:buNone/>
            </a:pPr>
            <a:r>
              <a:rPr lang="en-US" sz="3400" b="1" dirty="0">
                <a:solidFill>
                  <a:srgbClr val="FFFFFF"/>
                </a:solidFill>
                <a:latin typeface="Arial" pitchFamily="34" charset="0"/>
                <a:ea typeface="Arial" pitchFamily="34" charset="-122"/>
                <a:cs typeface="Arial" pitchFamily="34" charset="-120"/>
              </a:rPr>
              <a:t>¿Tiene sentido hablar solamente de</a:t>
            </a:r>
            <a:endParaRPr lang="en-US" sz="3400" dirty="0"/>
          </a:p>
          <a:p>
            <a:pPr marL="0" indent="0" algn="ctr">
              <a:lnSpc>
                <a:spcPts val="5000"/>
              </a:lnSpc>
              <a:buNone/>
            </a:pPr>
            <a:r>
              <a:rPr lang="en-US" sz="3400" b="1" dirty="0">
                <a:solidFill>
                  <a:srgbClr val="9257F1"/>
                </a:solidFill>
                <a:latin typeface="Arial" pitchFamily="34" charset="0"/>
                <a:ea typeface="Arial" pitchFamily="34" charset="-122"/>
                <a:cs typeface="Arial" pitchFamily="34" charset="-120"/>
              </a:rPr>
              <a:t>nuevas tecnologías</a:t>
            </a:r>
            <a:endParaRPr lang="en-US" sz="3400" dirty="0"/>
          </a:p>
          <a:p>
            <a:pPr marL="0" indent="0" algn="ctr">
              <a:lnSpc>
                <a:spcPts val="5000"/>
              </a:lnSpc>
              <a:buNone/>
            </a:pPr>
            <a:r>
              <a:rPr lang="en-US" sz="3400" b="1" dirty="0">
                <a:solidFill>
                  <a:srgbClr val="FFFFFF"/>
                </a:solidFill>
                <a:latin typeface="Arial" pitchFamily="34" charset="0"/>
                <a:ea typeface="Arial" pitchFamily="34" charset="-122"/>
                <a:cs typeface="Arial" pitchFamily="34" charset="-120"/>
              </a:rPr>
              <a:t>cuando está cambiando la manera misma</a:t>
            </a:r>
            <a:endParaRPr lang="en-US" sz="3400" dirty="0"/>
          </a:p>
          <a:p>
            <a:pPr marL="0" indent="0" algn="ctr">
              <a:lnSpc>
                <a:spcPts val="5000"/>
              </a:lnSpc>
              <a:buNone/>
            </a:pPr>
            <a:r>
              <a:rPr lang="en-US" sz="3400" b="1" dirty="0">
                <a:solidFill>
                  <a:srgbClr val="FFFFFF"/>
                </a:solidFill>
                <a:latin typeface="Arial" pitchFamily="34" charset="0"/>
                <a:ea typeface="Arial" pitchFamily="34" charset="-122"/>
                <a:cs typeface="Arial" pitchFamily="34" charset="-120"/>
              </a:rPr>
              <a:t>en la que construimos tecnología?</a:t>
            </a:r>
            <a:endParaRPr lang="en-US" sz="3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0.3  ·  02:55–04:54</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5/38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ESTAMOS ACOSTUMBRADOS AL CAMBIO</a:t>
            </a:r>
            <a:endParaRPr lang="en-US" sz="1200" dirty="0"/>
          </a:p>
        </p:txBody>
      </p:sp>
      <p:sp>
        <p:nvSpPr>
          <p:cNvPr id="7" name="Text 3"/>
          <p:cNvSpPr/>
          <p:nvPr/>
        </p:nvSpPr>
        <p:spPr>
          <a:xfrm>
            <a:off x="822960" y="1325880"/>
            <a:ext cx="6035040" cy="548640"/>
          </a:xfrm>
          <a:prstGeom prst="rect">
            <a:avLst/>
          </a:prstGeom>
          <a:noFill/>
          <a:ln/>
        </p:spPr>
        <p:txBody>
          <a:bodyPr wrap="square" lIns="0" tIns="0" rIns="0" bIns="0" rtlCol="0" anchor="ctr"/>
          <a:lstStyle/>
          <a:p>
            <a:pPr marL="0" indent="0">
              <a:buNone/>
            </a:pPr>
            <a:r>
              <a:rPr lang="en-US" sz="2400" dirty="0">
                <a:solidFill>
                  <a:srgbClr val="FFFFFF"/>
                </a:solidFill>
                <a:latin typeface="Arial" pitchFamily="34" charset="0"/>
                <a:ea typeface="Arial" pitchFamily="34" charset="-122"/>
                <a:cs typeface="Arial" pitchFamily="34" charset="-120"/>
              </a:rPr>
              <a:t>un nuevo lenguaje</a:t>
            </a:r>
            <a:endParaRPr lang="en-US" sz="2400" dirty="0"/>
          </a:p>
        </p:txBody>
      </p:sp>
      <p:sp>
        <p:nvSpPr>
          <p:cNvPr id="8" name="Text 4"/>
          <p:cNvSpPr/>
          <p:nvPr/>
        </p:nvSpPr>
        <p:spPr>
          <a:xfrm>
            <a:off x="822960" y="1984248"/>
            <a:ext cx="6035040" cy="548640"/>
          </a:xfrm>
          <a:prstGeom prst="rect">
            <a:avLst/>
          </a:prstGeom>
          <a:noFill/>
          <a:ln/>
        </p:spPr>
        <p:txBody>
          <a:bodyPr wrap="square" lIns="0" tIns="0" rIns="0" bIns="0" rtlCol="0" anchor="ctr"/>
          <a:lstStyle/>
          <a:p>
            <a:pPr marL="0" indent="0">
              <a:buNone/>
            </a:pPr>
            <a:r>
              <a:rPr lang="en-US" sz="2400" dirty="0">
                <a:solidFill>
                  <a:srgbClr val="FFFFFF"/>
                </a:solidFill>
                <a:latin typeface="Arial" pitchFamily="34" charset="0"/>
                <a:ea typeface="Arial" pitchFamily="34" charset="-122"/>
                <a:cs typeface="Arial" pitchFamily="34" charset="-120"/>
              </a:rPr>
              <a:t>un nuevo framework</a:t>
            </a:r>
            <a:endParaRPr lang="en-US" sz="2400" dirty="0"/>
          </a:p>
        </p:txBody>
      </p:sp>
      <p:sp>
        <p:nvSpPr>
          <p:cNvPr id="9" name="Text 5"/>
          <p:cNvSpPr/>
          <p:nvPr/>
        </p:nvSpPr>
        <p:spPr>
          <a:xfrm>
            <a:off x="822960" y="2642616"/>
            <a:ext cx="6035040" cy="548640"/>
          </a:xfrm>
          <a:prstGeom prst="rect">
            <a:avLst/>
          </a:prstGeom>
          <a:noFill/>
          <a:ln/>
        </p:spPr>
        <p:txBody>
          <a:bodyPr wrap="square" lIns="0" tIns="0" rIns="0" bIns="0" rtlCol="0" anchor="ctr"/>
          <a:lstStyle/>
          <a:p>
            <a:pPr marL="0" indent="0">
              <a:buNone/>
            </a:pPr>
            <a:r>
              <a:rPr lang="en-US" sz="2400" dirty="0">
                <a:solidFill>
                  <a:srgbClr val="FFFFFF"/>
                </a:solidFill>
                <a:latin typeface="Arial" pitchFamily="34" charset="0"/>
                <a:ea typeface="Arial" pitchFamily="34" charset="-122"/>
                <a:cs typeface="Arial" pitchFamily="34" charset="-120"/>
              </a:rPr>
              <a:t>una nueva arquitectura</a:t>
            </a:r>
            <a:endParaRPr lang="en-US" sz="2400" dirty="0"/>
          </a:p>
        </p:txBody>
      </p:sp>
      <p:sp>
        <p:nvSpPr>
          <p:cNvPr id="10" name="Text 6"/>
          <p:cNvSpPr/>
          <p:nvPr/>
        </p:nvSpPr>
        <p:spPr>
          <a:xfrm>
            <a:off x="822960" y="3300984"/>
            <a:ext cx="6035040" cy="548640"/>
          </a:xfrm>
          <a:prstGeom prst="rect">
            <a:avLst/>
          </a:prstGeom>
          <a:noFill/>
          <a:ln/>
        </p:spPr>
        <p:txBody>
          <a:bodyPr wrap="square" lIns="0" tIns="0" rIns="0" bIns="0" rtlCol="0" anchor="ctr"/>
          <a:lstStyle/>
          <a:p>
            <a:pPr marL="0" indent="0">
              <a:buNone/>
            </a:pPr>
            <a:r>
              <a:rPr lang="en-US" sz="2400" dirty="0">
                <a:solidFill>
                  <a:srgbClr val="FFFFFF"/>
                </a:solidFill>
                <a:latin typeface="Arial" pitchFamily="34" charset="0"/>
                <a:ea typeface="Arial" pitchFamily="34" charset="-122"/>
                <a:cs typeface="Arial" pitchFamily="34" charset="-120"/>
              </a:rPr>
              <a:t>una nueva plataforma cloud</a:t>
            </a:r>
            <a:endParaRPr lang="en-US" sz="2400" dirty="0"/>
          </a:p>
        </p:txBody>
      </p:sp>
      <p:sp>
        <p:nvSpPr>
          <p:cNvPr id="11" name="Text 7"/>
          <p:cNvSpPr/>
          <p:nvPr/>
        </p:nvSpPr>
        <p:spPr>
          <a:xfrm>
            <a:off x="822960" y="3959352"/>
            <a:ext cx="6035040" cy="548640"/>
          </a:xfrm>
          <a:prstGeom prst="rect">
            <a:avLst/>
          </a:prstGeom>
          <a:noFill/>
          <a:ln/>
        </p:spPr>
        <p:txBody>
          <a:bodyPr wrap="square" lIns="0" tIns="0" rIns="0" bIns="0" rtlCol="0" anchor="ctr"/>
          <a:lstStyle/>
          <a:p>
            <a:pPr marL="0" indent="0">
              <a:buNone/>
            </a:pPr>
            <a:r>
              <a:rPr lang="en-US" sz="2400" dirty="0">
                <a:solidFill>
                  <a:srgbClr val="FFFFFF"/>
                </a:solidFill>
                <a:latin typeface="Arial" pitchFamily="34" charset="0"/>
                <a:ea typeface="Arial" pitchFamily="34" charset="-122"/>
                <a:cs typeface="Arial" pitchFamily="34" charset="-120"/>
              </a:rPr>
              <a:t>una nueva forma de desplegar</a:t>
            </a:r>
            <a:endParaRPr lang="en-US" sz="2400" dirty="0"/>
          </a:p>
        </p:txBody>
      </p:sp>
      <p:sp>
        <p:nvSpPr>
          <p:cNvPr id="12" name="Text 8"/>
          <p:cNvSpPr/>
          <p:nvPr/>
        </p:nvSpPr>
        <p:spPr>
          <a:xfrm>
            <a:off x="822960" y="4892040"/>
            <a:ext cx="6035040" cy="548640"/>
          </a:xfrm>
          <a:prstGeom prst="rect">
            <a:avLst/>
          </a:prstGeom>
          <a:noFill/>
          <a:ln/>
        </p:spPr>
        <p:txBody>
          <a:bodyPr wrap="square" lIns="0" tIns="0" rIns="0" bIns="0" rtlCol="0" anchor="ctr"/>
          <a:lstStyle/>
          <a:p>
            <a:pPr marL="0" indent="0">
              <a:buNone/>
            </a:pPr>
            <a:r>
              <a:rPr lang="en-US" sz="2400" i="1" dirty="0">
                <a:solidFill>
                  <a:srgbClr val="8A93A8"/>
                </a:solidFill>
                <a:latin typeface="Arial" pitchFamily="34" charset="0"/>
                <a:ea typeface="Arial" pitchFamily="34" charset="-122"/>
                <a:cs typeface="Arial" pitchFamily="34" charset="-120"/>
              </a:rPr>
              <a:t>“Bueno... toca aprenderlo.”</a:t>
            </a:r>
            <a:endParaRPr lang="en-US" sz="2400" dirty="0"/>
          </a:p>
        </p:txBody>
      </p:sp>
      <p:sp>
        <p:nvSpPr>
          <p:cNvPr id="13" name="Shape 9"/>
          <p:cNvSpPr/>
          <p:nvPr/>
        </p:nvSpPr>
        <p:spPr>
          <a:xfrm>
            <a:off x="7993111" y="804672"/>
            <a:ext cx="3485352" cy="5111496"/>
          </a:xfrm>
          <a:prstGeom prst="rect">
            <a:avLst/>
          </a:prstGeom>
          <a:solidFill>
            <a:srgbClr val="FFFFFF"/>
          </a:solidFill>
          <a:ln w="12700">
            <a:solidFill>
              <a:srgbClr val="2C3852"/>
            </a:solidFill>
            <a:prstDash val="solid"/>
          </a:ln>
        </p:spPr>
        <p:txBody>
          <a:bodyPr/>
          <a:lstStyle/>
          <a:p>
            <a:endParaRPr lang="en-CO"/>
          </a:p>
        </p:txBody>
      </p:sp>
      <p:pic>
        <p:nvPicPr>
          <p:cNvPr id="14" name="Image 1" descr="/sessions/awesome-wizardly-sagan/mnt/charla-ia-aws-ug-cucuta/multimedia/1786485118307.jpeg"/>
          <p:cNvPicPr>
            <a:picLocks noChangeAspect="1"/>
          </p:cNvPicPr>
          <p:nvPr/>
        </p:nvPicPr>
        <p:blipFill>
          <a:blip r:embed="rId4"/>
          <a:stretch>
            <a:fillRect/>
          </a:stretch>
        </p:blipFill>
        <p:spPr>
          <a:xfrm>
            <a:off x="8102839" y="914400"/>
            <a:ext cx="3265896" cy="4892040"/>
          </a:xfrm>
          <a:prstGeom prst="rect">
            <a:avLst/>
          </a:prstGeom>
        </p:spPr>
      </p:pic>
      <p:sp>
        <p:nvSpPr>
          <p:cNvPr id="15" name="Text 10"/>
          <p:cNvSpPr/>
          <p:nvPr/>
        </p:nvSpPr>
        <p:spPr>
          <a:xfrm>
            <a:off x="7993111" y="5989320"/>
            <a:ext cx="3485352" cy="320040"/>
          </a:xfrm>
          <a:prstGeom prst="rect">
            <a:avLst/>
          </a:prstGeom>
          <a:noFill/>
          <a:ln/>
        </p:spPr>
        <p:txBody>
          <a:bodyPr wrap="square" lIns="0" tIns="0" rIns="0" bIns="0" rtlCol="0" anchor="ctr"/>
          <a:lstStyle/>
          <a:p>
            <a:pPr marL="0" indent="0" algn="ctr">
              <a:buNone/>
            </a:pPr>
            <a:r>
              <a:rPr lang="en-US" sz="1200" dirty="0">
                <a:solidFill>
                  <a:srgbClr val="48536B"/>
                </a:solidFill>
                <a:latin typeface="Arial" pitchFamily="34" charset="0"/>
                <a:ea typeface="Arial" pitchFamily="34" charset="-122"/>
                <a:cs typeface="Arial" pitchFamily="34" charset="-120"/>
              </a:rPr>
              <a:t>El stack de un desarrollador Java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0.3  ·  02:55–04:54</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6/38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914400" y="1097280"/>
            <a:ext cx="10362895" cy="4480560"/>
          </a:xfrm>
          <a:prstGeom prst="rect">
            <a:avLst/>
          </a:prstGeom>
          <a:noFill/>
          <a:ln/>
        </p:spPr>
        <p:txBody>
          <a:bodyPr wrap="square" lIns="0" tIns="0" rIns="0" bIns="0" rtlCol="0" anchor="ctr"/>
          <a:lstStyle/>
          <a:p>
            <a:pPr marL="0" indent="0" algn="ctr">
              <a:lnSpc>
                <a:spcPts val="4800"/>
              </a:lnSpc>
              <a:buNone/>
            </a:pPr>
            <a:r>
              <a:rPr lang="en-US" sz="3300" b="1" dirty="0">
                <a:solidFill>
                  <a:srgbClr val="FFFFFF"/>
                </a:solidFill>
                <a:latin typeface="Arial" pitchFamily="34" charset="0"/>
                <a:ea typeface="Arial" pitchFamily="34" charset="-122"/>
                <a:cs typeface="Arial" pitchFamily="34" charset="-120"/>
              </a:rPr>
              <a:t>La nueva herramienta puede hacer una parte</a:t>
            </a:r>
            <a:endParaRPr lang="en-US" sz="3300" dirty="0"/>
          </a:p>
          <a:p>
            <a:pPr marL="0" indent="0" algn="ctr">
              <a:lnSpc>
                <a:spcPts val="4800"/>
              </a:lnSpc>
              <a:buNone/>
            </a:pPr>
            <a:r>
              <a:rPr lang="en-US" sz="3300" b="1" dirty="0">
                <a:solidFill>
                  <a:srgbClr val="FFFFFF"/>
                </a:solidFill>
                <a:latin typeface="Arial" pitchFamily="34" charset="0"/>
                <a:ea typeface="Arial" pitchFamily="34" charset="-122"/>
                <a:cs typeface="Arial" pitchFamily="34" charset="-120"/>
              </a:rPr>
              <a:t>del trabajo que durante años usamos</a:t>
            </a:r>
            <a:endParaRPr lang="en-US" sz="3300" dirty="0"/>
          </a:p>
          <a:p>
            <a:pPr marL="0" indent="0" algn="ctr">
              <a:lnSpc>
                <a:spcPts val="4800"/>
              </a:lnSpc>
              <a:buNone/>
            </a:pPr>
            <a:r>
              <a:rPr lang="en-US" sz="3300" b="1" dirty="0">
                <a:solidFill>
                  <a:srgbClr val="9257F1"/>
                </a:solidFill>
                <a:latin typeface="Arial" pitchFamily="34" charset="0"/>
                <a:ea typeface="Arial" pitchFamily="34" charset="-122"/>
                <a:cs typeface="Arial" pitchFamily="34" charset="-120"/>
              </a:rPr>
              <a:t>para definir nuestra profesión.</a:t>
            </a:r>
            <a:endParaRPr lang="en-US" sz="3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0.3  ·  02:55–04:54</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7/38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68680" y="1435608"/>
            <a:ext cx="10362895" cy="640080"/>
          </a:xfrm>
          <a:prstGeom prst="rect">
            <a:avLst/>
          </a:prstGeom>
          <a:noFill/>
          <a:ln/>
        </p:spPr>
        <p:txBody>
          <a:bodyPr wrap="square" lIns="0" tIns="0" rIns="0" bIns="0" rtlCol="0" anchor="ctr"/>
          <a:lstStyle/>
          <a:p>
            <a:pPr marL="0" indent="0" algn="ctr">
              <a:buNone/>
            </a:pPr>
            <a:r>
              <a:rPr lang="en-US" sz="2400" strike="sngStrike" dirty="0">
                <a:solidFill>
                  <a:srgbClr val="48536B"/>
                </a:solidFill>
                <a:latin typeface="Arial" pitchFamily="34" charset="0"/>
                <a:ea typeface="Arial" pitchFamily="34" charset="-122"/>
                <a:cs typeface="Arial" pitchFamily="34" charset="-120"/>
              </a:rPr>
              <a:t>¿Qué nueva tecnología debería aprender un ingeniero?</a:t>
            </a:r>
            <a:endParaRPr lang="en-US" sz="2400" dirty="0"/>
          </a:p>
        </p:txBody>
      </p:sp>
      <p:sp>
        <p:nvSpPr>
          <p:cNvPr id="7" name="Text 3"/>
          <p:cNvSpPr/>
          <p:nvPr/>
        </p:nvSpPr>
        <p:spPr>
          <a:xfrm>
            <a:off x="914399" y="2318004"/>
            <a:ext cx="10362895" cy="1645920"/>
          </a:xfrm>
          <a:prstGeom prst="rect">
            <a:avLst/>
          </a:prstGeom>
          <a:noFill/>
          <a:ln/>
        </p:spPr>
        <p:txBody>
          <a:bodyPr wrap="square" lIns="0" tIns="0" rIns="0" bIns="0" rtlCol="0" anchor="ctr"/>
          <a:lstStyle/>
          <a:p>
            <a:pPr marL="0" indent="0" algn="ctr">
              <a:lnSpc>
                <a:spcPts val="4600"/>
              </a:lnSpc>
              <a:buNone/>
            </a:pPr>
            <a:r>
              <a:rPr lang="en-US" sz="3600" b="1" dirty="0">
                <a:solidFill>
                  <a:srgbClr val="FFFFFF"/>
                </a:solidFill>
                <a:latin typeface="Arial" pitchFamily="34" charset="0"/>
                <a:ea typeface="Arial" pitchFamily="34" charset="-122"/>
                <a:cs typeface="Arial" pitchFamily="34" charset="-120"/>
              </a:rPr>
              <a:t>¿Qué significa ser ingeniero cuando</a:t>
            </a:r>
            <a:endParaRPr lang="en-US" sz="3600" dirty="0"/>
          </a:p>
          <a:p>
            <a:pPr marL="0" indent="0" algn="ctr">
              <a:lnSpc>
                <a:spcPts val="4600"/>
              </a:lnSpc>
              <a:buNone/>
            </a:pPr>
            <a:r>
              <a:rPr lang="en-US" sz="3600" b="1" dirty="0" err="1">
                <a:solidFill>
                  <a:srgbClr val="FFFFFF"/>
                </a:solidFill>
                <a:latin typeface="Arial" pitchFamily="34" charset="0"/>
                <a:ea typeface="Arial" pitchFamily="34" charset="-122"/>
                <a:cs typeface="Arial" pitchFamily="34" charset="-120"/>
              </a:rPr>
              <a:t>una</a:t>
            </a:r>
            <a:r>
              <a:rPr lang="en-US" sz="3600" b="1" dirty="0">
                <a:solidFill>
                  <a:srgbClr val="FFFFFF"/>
                </a:solidFill>
                <a:latin typeface="Arial" pitchFamily="34" charset="0"/>
                <a:ea typeface="Arial" pitchFamily="34" charset="-122"/>
                <a:cs typeface="Arial" pitchFamily="34" charset="-120"/>
              </a:rPr>
              <a:t> </a:t>
            </a:r>
            <a:r>
              <a:rPr lang="en-US" sz="3600" b="1" dirty="0" err="1">
                <a:solidFill>
                  <a:srgbClr val="FFFFFF"/>
                </a:solidFill>
                <a:latin typeface="Arial" pitchFamily="34" charset="0"/>
                <a:ea typeface="Arial" pitchFamily="34" charset="-122"/>
                <a:cs typeface="Arial" pitchFamily="34" charset="-120"/>
              </a:rPr>
              <a:t>máquina</a:t>
            </a:r>
            <a:r>
              <a:rPr lang="en-US" sz="3600" b="1" dirty="0">
                <a:solidFill>
                  <a:srgbClr val="FFFFFF"/>
                </a:solidFill>
                <a:latin typeface="Arial" pitchFamily="34" charset="0"/>
                <a:ea typeface="Arial" pitchFamily="34" charset="-122"/>
                <a:cs typeface="Arial" pitchFamily="34" charset="-120"/>
              </a:rPr>
              <a:t> también puede programar?</a:t>
            </a:r>
            <a:endParaRPr lang="en-US" sz="3600" dirty="0"/>
          </a:p>
        </p:txBody>
      </p:sp>
      <p:sp>
        <p:nvSpPr>
          <p:cNvPr id="2" name="Text 3">
            <a:extLst>
              <a:ext uri="{FF2B5EF4-FFF2-40B4-BE49-F238E27FC236}">
                <a16:creationId xmlns:a16="http://schemas.microsoft.com/office/drawing/2014/main" id="{CA1DACB3-DDBC-1317-938A-05BA71295B6B}"/>
              </a:ext>
            </a:extLst>
          </p:cNvPr>
          <p:cNvSpPr/>
          <p:nvPr/>
        </p:nvSpPr>
        <p:spPr>
          <a:xfrm>
            <a:off x="914398" y="4206240"/>
            <a:ext cx="10362895" cy="1645920"/>
          </a:xfrm>
          <a:prstGeom prst="rect">
            <a:avLst/>
          </a:prstGeom>
          <a:noFill/>
          <a:ln/>
        </p:spPr>
        <p:txBody>
          <a:bodyPr wrap="square" lIns="0" tIns="0" rIns="0" bIns="0" rtlCol="0" anchor="ctr"/>
          <a:lstStyle/>
          <a:p>
            <a:pPr algn="ctr">
              <a:lnSpc>
                <a:spcPts val="4600"/>
              </a:lnSpc>
            </a:pPr>
            <a:r>
              <a:rPr lang="en-US" sz="2800" b="1" dirty="0">
                <a:solidFill>
                  <a:srgbClr val="9257F1"/>
                </a:solidFill>
                <a:latin typeface="Arial" pitchFamily="34" charset="0"/>
                <a:ea typeface="Arial" pitchFamily="34" charset="-122"/>
                <a:cs typeface="Arial" pitchFamily="34" charset="-120"/>
              </a:rPr>
              <a:t>Si </a:t>
            </a:r>
            <a:r>
              <a:rPr lang="en-US" sz="2800" b="1" dirty="0" err="1">
                <a:solidFill>
                  <a:srgbClr val="9257F1"/>
                </a:solidFill>
                <a:latin typeface="Arial" pitchFamily="34" charset="0"/>
                <a:ea typeface="Arial" pitchFamily="34" charset="-122"/>
                <a:cs typeface="Arial" pitchFamily="34" charset="-120"/>
              </a:rPr>
              <a:t>escribir</a:t>
            </a:r>
            <a:r>
              <a:rPr lang="en-US" sz="2800" b="1" dirty="0">
                <a:solidFill>
                  <a:srgbClr val="9257F1"/>
                </a:solidFill>
                <a:latin typeface="Arial" pitchFamily="34" charset="0"/>
                <a:ea typeface="Arial" pitchFamily="34" charset="-122"/>
                <a:cs typeface="Arial" pitchFamily="34" charset="-120"/>
              </a:rPr>
              <a:t> </a:t>
            </a:r>
            <a:r>
              <a:rPr lang="en-US" sz="2800" b="1" dirty="0" err="1">
                <a:solidFill>
                  <a:srgbClr val="9257F1"/>
                </a:solidFill>
                <a:latin typeface="Arial" pitchFamily="34" charset="0"/>
                <a:ea typeface="Arial" pitchFamily="34" charset="-122"/>
                <a:cs typeface="Arial" pitchFamily="34" charset="-120"/>
              </a:rPr>
              <a:t>código</a:t>
            </a:r>
            <a:r>
              <a:rPr lang="en-US" sz="2800" b="1" dirty="0">
                <a:solidFill>
                  <a:srgbClr val="9257F1"/>
                </a:solidFill>
                <a:latin typeface="Arial" pitchFamily="34" charset="0"/>
                <a:ea typeface="Arial" pitchFamily="34" charset="-122"/>
                <a:cs typeface="Arial" pitchFamily="34" charset="-120"/>
              </a:rPr>
              <a:t> </a:t>
            </a:r>
            <a:r>
              <a:rPr lang="en-US" sz="2800" b="1" dirty="0" err="1">
                <a:solidFill>
                  <a:srgbClr val="9257F1"/>
                </a:solidFill>
                <a:latin typeface="Arial" pitchFamily="34" charset="0"/>
                <a:ea typeface="Arial" pitchFamily="34" charset="-122"/>
                <a:cs typeface="Arial" pitchFamily="34" charset="-120"/>
              </a:rPr>
              <a:t>deja</a:t>
            </a:r>
            <a:r>
              <a:rPr lang="en-US" sz="2800" b="1" dirty="0">
                <a:solidFill>
                  <a:srgbClr val="9257F1"/>
                </a:solidFill>
                <a:latin typeface="Arial" pitchFamily="34" charset="0"/>
                <a:ea typeface="Arial" pitchFamily="34" charset="-122"/>
                <a:cs typeface="Arial" pitchFamily="34" charset="-120"/>
              </a:rPr>
              <a:t> de ser </a:t>
            </a:r>
            <a:r>
              <a:rPr lang="en-US" sz="2800" b="1" dirty="0" err="1">
                <a:solidFill>
                  <a:srgbClr val="9257F1"/>
                </a:solidFill>
                <a:latin typeface="Arial" pitchFamily="34" charset="0"/>
                <a:ea typeface="Arial" pitchFamily="34" charset="-122"/>
                <a:cs typeface="Arial" pitchFamily="34" charset="-120"/>
              </a:rPr>
              <a:t>nuestra</a:t>
            </a:r>
            <a:r>
              <a:rPr lang="en-US" sz="2800" b="1" dirty="0">
                <a:solidFill>
                  <a:srgbClr val="9257F1"/>
                </a:solidFill>
                <a:latin typeface="Arial" pitchFamily="34" charset="0"/>
                <a:ea typeface="Arial" pitchFamily="34" charset="-122"/>
                <a:cs typeface="Arial" pitchFamily="34" charset="-120"/>
              </a:rPr>
              <a:t> principal </a:t>
            </a:r>
            <a:r>
              <a:rPr lang="en-US" sz="2800" b="1" dirty="0" err="1">
                <a:solidFill>
                  <a:srgbClr val="9257F1"/>
                </a:solidFill>
                <a:latin typeface="Arial" pitchFamily="34" charset="0"/>
                <a:ea typeface="Arial" pitchFamily="34" charset="-122"/>
                <a:cs typeface="Arial" pitchFamily="34" charset="-120"/>
              </a:rPr>
              <a:t>ventaja</a:t>
            </a:r>
            <a:r>
              <a:rPr lang="en-US" sz="2800" b="1" dirty="0">
                <a:solidFill>
                  <a:srgbClr val="9257F1"/>
                </a:solidFill>
                <a:latin typeface="Arial" pitchFamily="34" charset="0"/>
                <a:ea typeface="Arial" pitchFamily="34" charset="-122"/>
                <a:cs typeface="Arial" pitchFamily="34" charset="-120"/>
              </a:rPr>
              <a:t> </a:t>
            </a:r>
            <a:r>
              <a:rPr lang="en-US" sz="2800" b="1" dirty="0" err="1">
                <a:solidFill>
                  <a:srgbClr val="9257F1"/>
                </a:solidFill>
                <a:latin typeface="Arial" pitchFamily="34" charset="0"/>
                <a:ea typeface="Arial" pitchFamily="34" charset="-122"/>
                <a:cs typeface="Arial" pitchFamily="34" charset="-120"/>
              </a:rPr>
              <a:t>competitiva</a:t>
            </a:r>
            <a:r>
              <a:rPr lang="en-US" sz="2800" b="1" dirty="0">
                <a:solidFill>
                  <a:srgbClr val="9257F1"/>
                </a:solidFill>
                <a:latin typeface="Arial" pitchFamily="34" charset="0"/>
                <a:ea typeface="Arial" pitchFamily="34" charset="-122"/>
                <a:cs typeface="Arial" pitchFamily="34" charset="-120"/>
              </a:rPr>
              <a:t> </a:t>
            </a:r>
            <a:r>
              <a:rPr lang="en-US" sz="3600" b="1" dirty="0">
                <a:solidFill>
                  <a:srgbClr val="9257F1"/>
                </a:solidFill>
                <a:latin typeface="Arial" pitchFamily="34" charset="0"/>
                <a:ea typeface="Arial" pitchFamily="34" charset="-122"/>
                <a:cs typeface="Arial" pitchFamily="34" charset="-120"/>
              </a:rPr>
              <a:t>¿</a:t>
            </a:r>
            <a:r>
              <a:rPr lang="en-US" sz="3600" b="1" dirty="0" err="1">
                <a:solidFill>
                  <a:srgbClr val="9257F1"/>
                </a:solidFill>
                <a:latin typeface="Arial" pitchFamily="34" charset="0"/>
                <a:ea typeface="Arial" pitchFamily="34" charset="-122"/>
                <a:cs typeface="Arial" pitchFamily="34" charset="-120"/>
              </a:rPr>
              <a:t>Cual</a:t>
            </a:r>
            <a:r>
              <a:rPr lang="en-US" sz="3600" b="1" dirty="0">
                <a:solidFill>
                  <a:srgbClr val="9257F1"/>
                </a:solidFill>
                <a:latin typeface="Arial" pitchFamily="34" charset="0"/>
                <a:ea typeface="Arial" pitchFamily="34" charset="-122"/>
                <a:cs typeface="Arial" pitchFamily="34" charset="-120"/>
              </a:rPr>
              <a:t> </a:t>
            </a:r>
            <a:r>
              <a:rPr lang="en-US" sz="3600" b="1" dirty="0" err="1">
                <a:solidFill>
                  <a:srgbClr val="9257F1"/>
                </a:solidFill>
                <a:latin typeface="Arial" pitchFamily="34" charset="0"/>
                <a:ea typeface="Arial" pitchFamily="34" charset="-122"/>
                <a:cs typeface="Arial" pitchFamily="34" charset="-120"/>
              </a:rPr>
              <a:t>será</a:t>
            </a:r>
            <a:r>
              <a:rPr lang="en-US" sz="3600" b="1" dirty="0">
                <a:solidFill>
                  <a:srgbClr val="9257F1"/>
                </a:solidFill>
                <a:latin typeface="Arial" pitchFamily="34" charset="0"/>
                <a:ea typeface="Arial" pitchFamily="34" charset="-122"/>
                <a:cs typeface="Arial" pitchFamily="34" charset="-120"/>
              </a:rPr>
              <a:t> </a:t>
            </a:r>
            <a:r>
              <a:rPr lang="en-US" sz="3600" b="1" dirty="0" err="1">
                <a:solidFill>
                  <a:srgbClr val="9257F1"/>
                </a:solidFill>
                <a:latin typeface="Arial" pitchFamily="34" charset="0"/>
                <a:ea typeface="Arial" pitchFamily="34" charset="-122"/>
                <a:cs typeface="Arial" pitchFamily="34" charset="-120"/>
              </a:rPr>
              <a:t>nuestro</a:t>
            </a:r>
            <a:r>
              <a:rPr lang="en-US" sz="3600" b="1" dirty="0">
                <a:solidFill>
                  <a:srgbClr val="9257F1"/>
                </a:solidFill>
                <a:latin typeface="Arial" pitchFamily="34" charset="0"/>
                <a:ea typeface="Arial" pitchFamily="34" charset="-122"/>
                <a:cs typeface="Arial" pitchFamily="34" charset="-120"/>
              </a:rPr>
              <a:t> valor?</a:t>
            </a:r>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0.4  ·  04:54–07:08</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8/38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LA MISMA PREGUNTA, TRES VERSIONES</a:t>
            </a:r>
            <a:endParaRPr lang="en-US" sz="1200" dirty="0"/>
          </a:p>
        </p:txBody>
      </p:sp>
      <p:sp>
        <p:nvSpPr>
          <p:cNvPr id="7" name="Text 3"/>
          <p:cNvSpPr/>
          <p:nvPr/>
        </p:nvSpPr>
        <p:spPr>
          <a:xfrm>
            <a:off x="822960" y="914400"/>
            <a:ext cx="10545775" cy="777240"/>
          </a:xfrm>
          <a:prstGeom prst="rect">
            <a:avLst/>
          </a:prstGeom>
          <a:noFill/>
          <a:ln/>
        </p:spPr>
        <p:txBody>
          <a:bodyPr wrap="square" lIns="0" tIns="0" rIns="0" bIns="0" rtlCol="0" anchor="t"/>
          <a:lstStyle/>
          <a:p>
            <a:pPr marL="0" indent="0">
              <a:buNone/>
            </a:pPr>
            <a:r>
              <a:rPr lang="en-US" sz="3000" b="1" dirty="0">
                <a:solidFill>
                  <a:srgbClr val="FFFFFF"/>
                </a:solidFill>
                <a:latin typeface="Arial" pitchFamily="34" charset="0"/>
                <a:ea typeface="Arial" pitchFamily="34" charset="-122"/>
                <a:cs typeface="Arial" pitchFamily="34" charset="-120"/>
              </a:rPr>
              <a:t>Todos nos la estamos haciendo</a:t>
            </a:r>
            <a:endParaRPr lang="en-US" sz="3000" dirty="0"/>
          </a:p>
        </p:txBody>
      </p:sp>
      <p:grpSp>
        <p:nvGrpSpPr>
          <p:cNvPr id="2" name="Group 1">
            <a:extLst>
              <a:ext uri="{FF2B5EF4-FFF2-40B4-BE49-F238E27FC236}">
                <a16:creationId xmlns:a16="http://schemas.microsoft.com/office/drawing/2014/main" id="{732E9A59-E852-9D83-7D00-A05748C5E1D5}"/>
              </a:ext>
            </a:extLst>
          </p:cNvPr>
          <p:cNvGrpSpPr/>
          <p:nvPr/>
        </p:nvGrpSpPr>
        <p:grpSpPr>
          <a:xfrm>
            <a:off x="822960" y="2148840"/>
            <a:ext cx="3301898" cy="3200400"/>
            <a:chOff x="822960" y="2148840"/>
            <a:chExt cx="3301898" cy="3200400"/>
          </a:xfrm>
        </p:grpSpPr>
        <p:sp>
          <p:nvSpPr>
            <p:cNvPr id="8" name="Shape 4"/>
            <p:cNvSpPr/>
            <p:nvPr/>
          </p:nvSpPr>
          <p:spPr>
            <a:xfrm>
              <a:off x="822960" y="2148840"/>
              <a:ext cx="3301898" cy="3200400"/>
            </a:xfrm>
            <a:prstGeom prst="rect">
              <a:avLst/>
            </a:prstGeom>
            <a:solidFill>
              <a:srgbClr val="1E2739"/>
            </a:solidFill>
            <a:ln w="12700">
              <a:solidFill>
                <a:srgbClr val="2C3852"/>
              </a:solidFill>
              <a:prstDash val="solid"/>
            </a:ln>
          </p:spPr>
          <p:txBody>
            <a:bodyPr/>
            <a:lstStyle/>
            <a:p>
              <a:endParaRPr lang="en-CO"/>
            </a:p>
          </p:txBody>
        </p:sp>
        <p:sp>
          <p:nvSpPr>
            <p:cNvPr id="9" name="Text 5"/>
            <p:cNvSpPr/>
            <p:nvPr/>
          </p:nvSpPr>
          <p:spPr>
            <a:xfrm>
              <a:off x="1143000" y="2468880"/>
              <a:ext cx="2661818"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ESTUDIANTES</a:t>
              </a:r>
              <a:endParaRPr lang="en-US" sz="1200" dirty="0"/>
            </a:p>
          </p:txBody>
        </p:sp>
        <p:sp>
          <p:nvSpPr>
            <p:cNvPr id="10" name="Text 6"/>
            <p:cNvSpPr/>
            <p:nvPr/>
          </p:nvSpPr>
          <p:spPr>
            <a:xfrm>
              <a:off x="1143000" y="2926080"/>
              <a:ext cx="2661818" cy="2057400"/>
            </a:xfrm>
            <a:prstGeom prst="rect">
              <a:avLst/>
            </a:prstGeom>
            <a:noFill/>
            <a:ln/>
          </p:spPr>
          <p:txBody>
            <a:bodyPr wrap="square" lIns="0" tIns="0" rIns="0" bIns="0" rtlCol="0" anchor="t"/>
            <a:lstStyle/>
            <a:p>
              <a:pPr marL="0" indent="0">
                <a:lnSpc>
                  <a:spcPts val="2600"/>
                </a:lnSpc>
                <a:buNone/>
              </a:pPr>
              <a:r>
                <a:rPr lang="en-US" sz="2000" b="1" dirty="0">
                  <a:solidFill>
                    <a:srgbClr val="FFFFFF"/>
                  </a:solidFill>
                  <a:latin typeface="Arial" pitchFamily="34" charset="0"/>
                  <a:ea typeface="Arial" pitchFamily="34" charset="-122"/>
                  <a:cs typeface="Arial" pitchFamily="34" charset="-120"/>
                </a:rPr>
                <a:t>¿Para qué estoy aprendiendo a programar?</a:t>
              </a:r>
              <a:endParaRPr lang="en-US" sz="2000" dirty="0"/>
            </a:p>
          </p:txBody>
        </p:sp>
      </p:grpSp>
      <p:grpSp>
        <p:nvGrpSpPr>
          <p:cNvPr id="17" name="Group 16">
            <a:extLst>
              <a:ext uri="{FF2B5EF4-FFF2-40B4-BE49-F238E27FC236}">
                <a16:creationId xmlns:a16="http://schemas.microsoft.com/office/drawing/2014/main" id="{C91EF9BC-BEFE-CC83-F411-C192C3B4DB94}"/>
              </a:ext>
            </a:extLst>
          </p:cNvPr>
          <p:cNvGrpSpPr/>
          <p:nvPr/>
        </p:nvGrpSpPr>
        <p:grpSpPr>
          <a:xfrm>
            <a:off x="4444898" y="2148840"/>
            <a:ext cx="3301898" cy="3200400"/>
            <a:chOff x="4444898" y="2148840"/>
            <a:chExt cx="3301898" cy="3200400"/>
          </a:xfrm>
        </p:grpSpPr>
        <p:sp>
          <p:nvSpPr>
            <p:cNvPr id="11" name="Shape 7"/>
            <p:cNvSpPr/>
            <p:nvPr/>
          </p:nvSpPr>
          <p:spPr>
            <a:xfrm>
              <a:off x="4444898" y="2148840"/>
              <a:ext cx="3301898" cy="3200400"/>
            </a:xfrm>
            <a:prstGeom prst="rect">
              <a:avLst/>
            </a:prstGeom>
            <a:solidFill>
              <a:srgbClr val="1E2739"/>
            </a:solidFill>
            <a:ln w="12700">
              <a:solidFill>
                <a:srgbClr val="2C3852"/>
              </a:solidFill>
              <a:prstDash val="solid"/>
            </a:ln>
          </p:spPr>
          <p:txBody>
            <a:bodyPr/>
            <a:lstStyle/>
            <a:p>
              <a:endParaRPr lang="en-CO"/>
            </a:p>
          </p:txBody>
        </p:sp>
        <p:sp>
          <p:nvSpPr>
            <p:cNvPr id="12" name="Text 8"/>
            <p:cNvSpPr/>
            <p:nvPr/>
          </p:nvSpPr>
          <p:spPr>
            <a:xfrm>
              <a:off x="4764938" y="2468880"/>
              <a:ext cx="2661818"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QUIEN YA TRABAJA</a:t>
              </a:r>
              <a:endParaRPr lang="en-US" sz="1200" dirty="0"/>
            </a:p>
          </p:txBody>
        </p:sp>
        <p:sp>
          <p:nvSpPr>
            <p:cNvPr id="13" name="Text 9"/>
            <p:cNvSpPr/>
            <p:nvPr/>
          </p:nvSpPr>
          <p:spPr>
            <a:xfrm>
              <a:off x="4764938" y="2926080"/>
              <a:ext cx="2661818" cy="2057400"/>
            </a:xfrm>
            <a:prstGeom prst="rect">
              <a:avLst/>
            </a:prstGeom>
            <a:noFill/>
            <a:ln/>
          </p:spPr>
          <p:txBody>
            <a:bodyPr wrap="square" lIns="0" tIns="0" rIns="0" bIns="0" rtlCol="0" anchor="t"/>
            <a:lstStyle/>
            <a:p>
              <a:pPr marL="0" indent="0">
                <a:lnSpc>
                  <a:spcPts val="2600"/>
                </a:lnSpc>
                <a:buNone/>
              </a:pPr>
              <a:r>
                <a:rPr lang="en-US" sz="2000" b="1" dirty="0">
                  <a:solidFill>
                    <a:srgbClr val="FFFFFF"/>
                  </a:solidFill>
                  <a:latin typeface="Arial" pitchFamily="34" charset="0"/>
                  <a:ea typeface="Arial" pitchFamily="34" charset="-122"/>
                  <a:cs typeface="Arial" pitchFamily="34" charset="-120"/>
                </a:rPr>
                <a:t>¿Lo que sé hacer hoy seguirá siendo valioso dentro de cinco años?</a:t>
              </a:r>
              <a:endParaRPr lang="en-US" sz="2000" dirty="0"/>
            </a:p>
          </p:txBody>
        </p:sp>
      </p:grpSp>
      <p:grpSp>
        <p:nvGrpSpPr>
          <p:cNvPr id="18" name="Group 17">
            <a:extLst>
              <a:ext uri="{FF2B5EF4-FFF2-40B4-BE49-F238E27FC236}">
                <a16:creationId xmlns:a16="http://schemas.microsoft.com/office/drawing/2014/main" id="{93FFFAA0-3564-1ADB-57AA-090E99769698}"/>
              </a:ext>
            </a:extLst>
          </p:cNvPr>
          <p:cNvGrpSpPr/>
          <p:nvPr/>
        </p:nvGrpSpPr>
        <p:grpSpPr>
          <a:xfrm>
            <a:off x="8066837" y="2148840"/>
            <a:ext cx="3301898" cy="3200400"/>
            <a:chOff x="8066837" y="2148840"/>
            <a:chExt cx="3301898" cy="3200400"/>
          </a:xfrm>
        </p:grpSpPr>
        <p:sp>
          <p:nvSpPr>
            <p:cNvPr id="14" name="Shape 10"/>
            <p:cNvSpPr/>
            <p:nvPr/>
          </p:nvSpPr>
          <p:spPr>
            <a:xfrm>
              <a:off x="8066837" y="2148840"/>
              <a:ext cx="3301898" cy="3200400"/>
            </a:xfrm>
            <a:prstGeom prst="rect">
              <a:avLst/>
            </a:prstGeom>
            <a:solidFill>
              <a:srgbClr val="1E2739"/>
            </a:solidFill>
            <a:ln w="12700">
              <a:solidFill>
                <a:srgbClr val="2C3852"/>
              </a:solidFill>
              <a:prstDash val="solid"/>
            </a:ln>
          </p:spPr>
          <p:txBody>
            <a:bodyPr/>
            <a:lstStyle/>
            <a:p>
              <a:endParaRPr lang="en-CO"/>
            </a:p>
          </p:txBody>
        </p:sp>
        <p:sp>
          <p:nvSpPr>
            <p:cNvPr id="15" name="Text 11"/>
            <p:cNvSpPr/>
            <p:nvPr/>
          </p:nvSpPr>
          <p:spPr>
            <a:xfrm>
              <a:off x="8386877" y="2468880"/>
              <a:ext cx="2661818"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EMPRESAS</a:t>
              </a:r>
              <a:endParaRPr lang="en-US" sz="1200" dirty="0"/>
            </a:p>
          </p:txBody>
        </p:sp>
        <p:sp>
          <p:nvSpPr>
            <p:cNvPr id="16" name="Text 12"/>
            <p:cNvSpPr/>
            <p:nvPr/>
          </p:nvSpPr>
          <p:spPr>
            <a:xfrm>
              <a:off x="8386877" y="2926080"/>
              <a:ext cx="2661818" cy="2057400"/>
            </a:xfrm>
            <a:prstGeom prst="rect">
              <a:avLst/>
            </a:prstGeom>
            <a:noFill/>
            <a:ln/>
          </p:spPr>
          <p:txBody>
            <a:bodyPr wrap="square" lIns="0" tIns="0" rIns="0" bIns="0" rtlCol="0" anchor="t"/>
            <a:lstStyle/>
            <a:p>
              <a:pPr marL="0" indent="0">
                <a:lnSpc>
                  <a:spcPts val="2600"/>
                </a:lnSpc>
                <a:buNone/>
              </a:pPr>
              <a:r>
                <a:rPr lang="en-US" sz="2000" b="1" dirty="0">
                  <a:solidFill>
                    <a:srgbClr val="FFFFFF"/>
                  </a:solidFill>
                  <a:latin typeface="Arial" pitchFamily="34" charset="0"/>
                  <a:ea typeface="Arial" pitchFamily="34" charset="-122"/>
                  <a:cs typeface="Arial" pitchFamily="34" charset="-120"/>
                </a:rPr>
                <a:t>¿Qué debería esperar de un ingeniero que tiene IA disponible todo el tiempo?</a:t>
              </a:r>
              <a:endParaRPr lang="en-US" sz="2000"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0.5  ·  07:08–08:08</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9/38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LO QUE VAMOS A CONVERSAR HOY</a:t>
            </a:r>
            <a:endParaRPr lang="en-US" sz="1200" dirty="0"/>
          </a:p>
        </p:txBody>
      </p:sp>
      <p:grpSp>
        <p:nvGrpSpPr>
          <p:cNvPr id="2" name="Group 1">
            <a:extLst>
              <a:ext uri="{FF2B5EF4-FFF2-40B4-BE49-F238E27FC236}">
                <a16:creationId xmlns:a16="http://schemas.microsoft.com/office/drawing/2014/main" id="{8BACF8E8-A2D5-6371-B6C5-82A748520B46}"/>
              </a:ext>
            </a:extLst>
          </p:cNvPr>
          <p:cNvGrpSpPr/>
          <p:nvPr/>
        </p:nvGrpSpPr>
        <p:grpSpPr>
          <a:xfrm>
            <a:off x="822960" y="1371600"/>
            <a:ext cx="10408615" cy="640080"/>
            <a:chOff x="822960" y="1371600"/>
            <a:chExt cx="10408615" cy="640080"/>
          </a:xfrm>
        </p:grpSpPr>
        <p:sp>
          <p:nvSpPr>
            <p:cNvPr id="7" name="Text 3"/>
            <p:cNvSpPr/>
            <p:nvPr/>
          </p:nvSpPr>
          <p:spPr>
            <a:xfrm>
              <a:off x="822960" y="1371600"/>
              <a:ext cx="640080" cy="640080"/>
            </a:xfrm>
            <a:prstGeom prst="rect">
              <a:avLst/>
            </a:prstGeom>
            <a:noFill/>
            <a:ln/>
          </p:spPr>
          <p:txBody>
            <a:bodyPr wrap="square" lIns="0" tIns="0" rIns="0" bIns="0" rtlCol="0" anchor="ctr"/>
            <a:lstStyle/>
            <a:p>
              <a:pPr marL="0" indent="0">
                <a:buNone/>
              </a:pPr>
              <a:r>
                <a:rPr lang="en-US" sz="3000" b="1" dirty="0">
                  <a:solidFill>
                    <a:srgbClr val="9257F1"/>
                  </a:solidFill>
                  <a:latin typeface="Arial" pitchFamily="34" charset="0"/>
                  <a:ea typeface="Arial" pitchFamily="34" charset="-122"/>
                  <a:cs typeface="Arial" pitchFamily="34" charset="-120"/>
                </a:rPr>
                <a:t>1</a:t>
              </a:r>
              <a:endParaRPr lang="en-US" sz="3000" dirty="0"/>
            </a:p>
          </p:txBody>
        </p:sp>
        <p:sp>
          <p:nvSpPr>
            <p:cNvPr id="8" name="Text 4"/>
            <p:cNvSpPr/>
            <p:nvPr/>
          </p:nvSpPr>
          <p:spPr>
            <a:xfrm>
              <a:off x="1600200" y="1371600"/>
              <a:ext cx="9631375" cy="640080"/>
            </a:xfrm>
            <a:prstGeom prst="rect">
              <a:avLst/>
            </a:prstGeom>
            <a:noFill/>
            <a:ln/>
          </p:spPr>
          <p:txBody>
            <a:bodyPr wrap="square" lIns="0" tIns="0" rIns="0" bIns="0" rtlCol="0" anchor="ctr"/>
            <a:lstStyle/>
            <a:p>
              <a:pPr marL="0" indent="0">
                <a:buNone/>
              </a:pPr>
              <a:r>
                <a:rPr lang="en-US" sz="2200" dirty="0">
                  <a:solidFill>
                    <a:srgbClr val="FFFFFF"/>
                  </a:solidFill>
                  <a:latin typeface="Arial" pitchFamily="34" charset="0"/>
                  <a:ea typeface="Arial" pitchFamily="34" charset="-122"/>
                  <a:cs typeface="Arial" pitchFamily="34" charset="-120"/>
                </a:rPr>
                <a:t>¿Qué cambió realmente con la inteligencia artificial?</a:t>
              </a:r>
              <a:endParaRPr lang="en-US" sz="2200" dirty="0"/>
            </a:p>
          </p:txBody>
        </p:sp>
      </p:grpSp>
      <p:grpSp>
        <p:nvGrpSpPr>
          <p:cNvPr id="17" name="Group 16">
            <a:extLst>
              <a:ext uri="{FF2B5EF4-FFF2-40B4-BE49-F238E27FC236}">
                <a16:creationId xmlns:a16="http://schemas.microsoft.com/office/drawing/2014/main" id="{9B39826F-573B-1CFC-2459-25A321F03D90}"/>
              </a:ext>
            </a:extLst>
          </p:cNvPr>
          <p:cNvGrpSpPr/>
          <p:nvPr/>
        </p:nvGrpSpPr>
        <p:grpSpPr>
          <a:xfrm>
            <a:off x="822960" y="2286000"/>
            <a:ext cx="10408615" cy="640080"/>
            <a:chOff x="822960" y="2286000"/>
            <a:chExt cx="10408615" cy="640080"/>
          </a:xfrm>
        </p:grpSpPr>
        <p:sp>
          <p:nvSpPr>
            <p:cNvPr id="9" name="Text 5"/>
            <p:cNvSpPr/>
            <p:nvPr/>
          </p:nvSpPr>
          <p:spPr>
            <a:xfrm>
              <a:off x="822960" y="2286000"/>
              <a:ext cx="640080" cy="640080"/>
            </a:xfrm>
            <a:prstGeom prst="rect">
              <a:avLst/>
            </a:prstGeom>
            <a:noFill/>
            <a:ln/>
          </p:spPr>
          <p:txBody>
            <a:bodyPr wrap="square" lIns="0" tIns="0" rIns="0" bIns="0" rtlCol="0" anchor="ctr"/>
            <a:lstStyle/>
            <a:p>
              <a:pPr marL="0" indent="0">
                <a:buNone/>
              </a:pPr>
              <a:r>
                <a:rPr lang="en-US" sz="3000" b="1" dirty="0">
                  <a:solidFill>
                    <a:srgbClr val="9257F1"/>
                  </a:solidFill>
                  <a:latin typeface="Arial" pitchFamily="34" charset="0"/>
                  <a:ea typeface="Arial" pitchFamily="34" charset="-122"/>
                  <a:cs typeface="Arial" pitchFamily="34" charset="-120"/>
                </a:rPr>
                <a:t>2</a:t>
              </a:r>
              <a:endParaRPr lang="en-US" sz="3000" dirty="0"/>
            </a:p>
          </p:txBody>
        </p:sp>
        <p:sp>
          <p:nvSpPr>
            <p:cNvPr id="10" name="Text 6"/>
            <p:cNvSpPr/>
            <p:nvPr/>
          </p:nvSpPr>
          <p:spPr>
            <a:xfrm>
              <a:off x="1600200" y="2286000"/>
              <a:ext cx="9631375" cy="640080"/>
            </a:xfrm>
            <a:prstGeom prst="rect">
              <a:avLst/>
            </a:prstGeom>
            <a:noFill/>
            <a:ln/>
          </p:spPr>
          <p:txBody>
            <a:bodyPr wrap="square" lIns="0" tIns="0" rIns="0" bIns="0" rtlCol="0" anchor="ctr"/>
            <a:lstStyle/>
            <a:p>
              <a:pPr marL="0" indent="0">
                <a:buNone/>
              </a:pPr>
              <a:r>
                <a:rPr lang="en-US" sz="2200" dirty="0">
                  <a:solidFill>
                    <a:srgbClr val="FFFFFF"/>
                  </a:solidFill>
                  <a:latin typeface="Arial" pitchFamily="34" charset="0"/>
                  <a:ea typeface="Arial" pitchFamily="34" charset="-122"/>
                  <a:cs typeface="Arial" pitchFamily="34" charset="-120"/>
                </a:rPr>
                <a:t>¿Se va a acabar el trabajo para los programadores?</a:t>
              </a:r>
              <a:endParaRPr lang="en-US" sz="2200" dirty="0"/>
            </a:p>
          </p:txBody>
        </p:sp>
      </p:grpSp>
      <p:grpSp>
        <p:nvGrpSpPr>
          <p:cNvPr id="18" name="Group 17">
            <a:extLst>
              <a:ext uri="{FF2B5EF4-FFF2-40B4-BE49-F238E27FC236}">
                <a16:creationId xmlns:a16="http://schemas.microsoft.com/office/drawing/2014/main" id="{B0618DC1-24BD-D7E5-8C28-6C62D4CCACF5}"/>
              </a:ext>
            </a:extLst>
          </p:cNvPr>
          <p:cNvGrpSpPr/>
          <p:nvPr/>
        </p:nvGrpSpPr>
        <p:grpSpPr>
          <a:xfrm>
            <a:off x="822960" y="3200400"/>
            <a:ext cx="10408615" cy="640080"/>
            <a:chOff x="822960" y="3200400"/>
            <a:chExt cx="10408615" cy="640080"/>
          </a:xfrm>
        </p:grpSpPr>
        <p:sp>
          <p:nvSpPr>
            <p:cNvPr id="11" name="Text 7"/>
            <p:cNvSpPr/>
            <p:nvPr/>
          </p:nvSpPr>
          <p:spPr>
            <a:xfrm>
              <a:off x="822960" y="3200400"/>
              <a:ext cx="640080" cy="640080"/>
            </a:xfrm>
            <a:prstGeom prst="rect">
              <a:avLst/>
            </a:prstGeom>
            <a:noFill/>
            <a:ln/>
          </p:spPr>
          <p:txBody>
            <a:bodyPr wrap="square" lIns="0" tIns="0" rIns="0" bIns="0" rtlCol="0" anchor="ctr"/>
            <a:lstStyle/>
            <a:p>
              <a:pPr marL="0" indent="0">
                <a:buNone/>
              </a:pPr>
              <a:r>
                <a:rPr lang="en-US" sz="3000" b="1" dirty="0">
                  <a:solidFill>
                    <a:srgbClr val="9257F1"/>
                  </a:solidFill>
                  <a:latin typeface="Arial" pitchFamily="34" charset="0"/>
                  <a:ea typeface="Arial" pitchFamily="34" charset="-122"/>
                  <a:cs typeface="Arial" pitchFamily="34" charset="-120"/>
                </a:rPr>
                <a:t>3</a:t>
              </a:r>
              <a:endParaRPr lang="en-US" sz="3000" dirty="0"/>
            </a:p>
          </p:txBody>
        </p:sp>
        <p:sp>
          <p:nvSpPr>
            <p:cNvPr id="12" name="Text 8"/>
            <p:cNvSpPr/>
            <p:nvPr/>
          </p:nvSpPr>
          <p:spPr>
            <a:xfrm>
              <a:off x="1600200" y="3200400"/>
              <a:ext cx="9631375" cy="640080"/>
            </a:xfrm>
            <a:prstGeom prst="rect">
              <a:avLst/>
            </a:prstGeom>
            <a:noFill/>
            <a:ln/>
          </p:spPr>
          <p:txBody>
            <a:bodyPr wrap="square" lIns="0" tIns="0" rIns="0" bIns="0" rtlCol="0" anchor="ctr"/>
            <a:lstStyle/>
            <a:p>
              <a:pPr marL="0" indent="0">
                <a:buNone/>
              </a:pPr>
              <a:r>
                <a:rPr lang="en-US" sz="2200" dirty="0">
                  <a:solidFill>
                    <a:srgbClr val="FFFFFF"/>
                  </a:solidFill>
                  <a:latin typeface="Arial" pitchFamily="34" charset="0"/>
                  <a:ea typeface="Arial" pitchFamily="34" charset="-122"/>
                  <a:cs typeface="Arial" pitchFamily="34" charset="-120"/>
                </a:rPr>
                <a:t>¿Qué pasa cuando la IA escribe software que no entendemos?</a:t>
              </a:r>
              <a:endParaRPr lang="en-US" sz="2200" dirty="0"/>
            </a:p>
          </p:txBody>
        </p:sp>
      </p:grpSp>
      <p:grpSp>
        <p:nvGrpSpPr>
          <p:cNvPr id="19" name="Group 18">
            <a:extLst>
              <a:ext uri="{FF2B5EF4-FFF2-40B4-BE49-F238E27FC236}">
                <a16:creationId xmlns:a16="http://schemas.microsoft.com/office/drawing/2014/main" id="{DD29F4C2-026A-A62B-49F7-348755B6EA2A}"/>
              </a:ext>
            </a:extLst>
          </p:cNvPr>
          <p:cNvGrpSpPr/>
          <p:nvPr/>
        </p:nvGrpSpPr>
        <p:grpSpPr>
          <a:xfrm>
            <a:off x="822960" y="4114800"/>
            <a:ext cx="10408615" cy="640080"/>
            <a:chOff x="822960" y="4114800"/>
            <a:chExt cx="10408615" cy="640080"/>
          </a:xfrm>
        </p:grpSpPr>
        <p:sp>
          <p:nvSpPr>
            <p:cNvPr id="13" name="Text 9"/>
            <p:cNvSpPr/>
            <p:nvPr/>
          </p:nvSpPr>
          <p:spPr>
            <a:xfrm>
              <a:off x="822960" y="4114800"/>
              <a:ext cx="640080" cy="640080"/>
            </a:xfrm>
            <a:prstGeom prst="rect">
              <a:avLst/>
            </a:prstGeom>
            <a:noFill/>
            <a:ln/>
          </p:spPr>
          <p:txBody>
            <a:bodyPr wrap="square" lIns="0" tIns="0" rIns="0" bIns="0" rtlCol="0" anchor="ctr"/>
            <a:lstStyle/>
            <a:p>
              <a:pPr marL="0" indent="0">
                <a:buNone/>
              </a:pPr>
              <a:r>
                <a:rPr lang="en-US" sz="3000" b="1" dirty="0">
                  <a:solidFill>
                    <a:srgbClr val="9257F1"/>
                  </a:solidFill>
                  <a:latin typeface="Arial" pitchFamily="34" charset="0"/>
                  <a:ea typeface="Arial" pitchFamily="34" charset="-122"/>
                  <a:cs typeface="Arial" pitchFamily="34" charset="-120"/>
                </a:rPr>
                <a:t>4</a:t>
              </a:r>
              <a:endParaRPr lang="en-US" sz="3000" dirty="0"/>
            </a:p>
          </p:txBody>
        </p:sp>
        <p:sp>
          <p:nvSpPr>
            <p:cNvPr id="14" name="Text 10"/>
            <p:cNvSpPr/>
            <p:nvPr/>
          </p:nvSpPr>
          <p:spPr>
            <a:xfrm>
              <a:off x="1600200" y="4114800"/>
              <a:ext cx="9631375" cy="640080"/>
            </a:xfrm>
            <a:prstGeom prst="rect">
              <a:avLst/>
            </a:prstGeom>
            <a:noFill/>
            <a:ln/>
          </p:spPr>
          <p:txBody>
            <a:bodyPr wrap="square" lIns="0" tIns="0" rIns="0" bIns="0" rtlCol="0" anchor="ctr"/>
            <a:lstStyle/>
            <a:p>
              <a:pPr marL="0" indent="0">
                <a:buNone/>
              </a:pPr>
              <a:r>
                <a:rPr lang="en-US" sz="2200" dirty="0">
                  <a:solidFill>
                    <a:srgbClr val="FFFFFF"/>
                  </a:solidFill>
                  <a:latin typeface="Arial" pitchFamily="34" charset="0"/>
                  <a:ea typeface="Arial" pitchFamily="34" charset="-122"/>
                  <a:cs typeface="Arial" pitchFamily="34" charset="-120"/>
                </a:rPr>
                <a:t>¿Vale la pena aprender a programar?</a:t>
              </a:r>
              <a:endParaRPr lang="en-US" sz="2200" dirty="0"/>
            </a:p>
          </p:txBody>
        </p:sp>
      </p:grpSp>
      <p:grpSp>
        <p:nvGrpSpPr>
          <p:cNvPr id="20" name="Group 19">
            <a:extLst>
              <a:ext uri="{FF2B5EF4-FFF2-40B4-BE49-F238E27FC236}">
                <a16:creationId xmlns:a16="http://schemas.microsoft.com/office/drawing/2014/main" id="{6327B06F-7009-3B4C-AA40-54D04DCDA2B5}"/>
              </a:ext>
            </a:extLst>
          </p:cNvPr>
          <p:cNvGrpSpPr/>
          <p:nvPr/>
        </p:nvGrpSpPr>
        <p:grpSpPr>
          <a:xfrm>
            <a:off x="822960" y="5029200"/>
            <a:ext cx="10408615" cy="640080"/>
            <a:chOff x="822960" y="5029200"/>
            <a:chExt cx="10408615" cy="640080"/>
          </a:xfrm>
        </p:grpSpPr>
        <p:sp>
          <p:nvSpPr>
            <p:cNvPr id="15" name="Text 11"/>
            <p:cNvSpPr/>
            <p:nvPr/>
          </p:nvSpPr>
          <p:spPr>
            <a:xfrm>
              <a:off x="822960" y="5029200"/>
              <a:ext cx="640080" cy="640080"/>
            </a:xfrm>
            <a:prstGeom prst="rect">
              <a:avLst/>
            </a:prstGeom>
            <a:noFill/>
            <a:ln/>
          </p:spPr>
          <p:txBody>
            <a:bodyPr wrap="square" lIns="0" tIns="0" rIns="0" bIns="0" rtlCol="0" anchor="ctr"/>
            <a:lstStyle/>
            <a:p>
              <a:pPr marL="0" indent="0">
                <a:buNone/>
              </a:pPr>
              <a:r>
                <a:rPr lang="en-US" sz="3000" b="1" dirty="0">
                  <a:solidFill>
                    <a:srgbClr val="9257F1"/>
                  </a:solidFill>
                  <a:latin typeface="Arial" pitchFamily="34" charset="0"/>
                  <a:ea typeface="Arial" pitchFamily="34" charset="-122"/>
                  <a:cs typeface="Arial" pitchFamily="34" charset="-120"/>
                </a:rPr>
                <a:t>5</a:t>
              </a:r>
              <a:endParaRPr lang="en-US" sz="3000" dirty="0"/>
            </a:p>
          </p:txBody>
        </p:sp>
        <p:sp>
          <p:nvSpPr>
            <p:cNvPr id="16" name="Text 12"/>
            <p:cNvSpPr/>
            <p:nvPr/>
          </p:nvSpPr>
          <p:spPr>
            <a:xfrm>
              <a:off x="1600200" y="5029200"/>
              <a:ext cx="9631375" cy="640080"/>
            </a:xfrm>
            <a:prstGeom prst="rect">
              <a:avLst/>
            </a:prstGeom>
            <a:noFill/>
            <a:ln/>
          </p:spPr>
          <p:txBody>
            <a:bodyPr wrap="square" lIns="0" tIns="0" rIns="0" bIns="0" rtlCol="0" anchor="ctr"/>
            <a:lstStyle/>
            <a:p>
              <a:pPr marL="0" indent="0">
                <a:buNone/>
              </a:pPr>
              <a:r>
                <a:rPr lang="en-US" sz="2200" dirty="0">
                  <a:solidFill>
                    <a:srgbClr val="FFFFFF"/>
                  </a:solidFill>
                  <a:latin typeface="Arial" pitchFamily="34" charset="0"/>
                  <a:ea typeface="Arial" pitchFamily="34" charset="-122"/>
                  <a:cs typeface="Arial" pitchFamily="34" charset="-120"/>
                </a:rPr>
                <a:t>¿Qué deberíamos aprender ahora?</a:t>
              </a:r>
              <a:endParaRPr lang="en-US" sz="2200"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1.1  ·  08:08–10:01</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10/38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3246120" y="1691640"/>
            <a:ext cx="2103120" cy="548640"/>
          </a:xfrm>
          <a:prstGeom prst="rect">
            <a:avLst/>
          </a:prstGeom>
          <a:noFill/>
          <a:ln/>
        </p:spPr>
        <p:txBody>
          <a:bodyPr wrap="square" lIns="0" tIns="0" rIns="0" bIns="0" rtlCol="0" anchor="ctr"/>
          <a:lstStyle/>
          <a:p>
            <a:pPr marL="0" indent="0" algn="r">
              <a:buNone/>
            </a:pPr>
            <a:r>
              <a:rPr lang="en-US" sz="2600" b="1" dirty="0">
                <a:solidFill>
                  <a:srgbClr val="8A93A8"/>
                </a:solidFill>
                <a:latin typeface="Arial" pitchFamily="34" charset="0"/>
                <a:ea typeface="Arial" pitchFamily="34" charset="-122"/>
                <a:cs typeface="Arial" pitchFamily="34" charset="-120"/>
              </a:rPr>
              <a:t>3 horas</a:t>
            </a:r>
            <a:endParaRPr lang="en-US" sz="2600" dirty="0"/>
          </a:p>
        </p:txBody>
      </p:sp>
      <p:sp>
        <p:nvSpPr>
          <p:cNvPr id="7" name="Text 3"/>
          <p:cNvSpPr/>
          <p:nvPr/>
        </p:nvSpPr>
        <p:spPr>
          <a:xfrm>
            <a:off x="5577840" y="1691640"/>
            <a:ext cx="3337560" cy="548640"/>
          </a:xfrm>
          <a:prstGeom prst="rect">
            <a:avLst/>
          </a:prstGeom>
          <a:noFill/>
          <a:ln/>
        </p:spPr>
        <p:txBody>
          <a:bodyPr wrap="square" lIns="0" tIns="0" rIns="0" bIns="0" rtlCol="0" anchor="ctr"/>
          <a:lstStyle/>
          <a:p>
            <a:pPr marL="0" indent="0">
              <a:buNone/>
            </a:pPr>
            <a:r>
              <a:rPr lang="en-US" sz="2200" dirty="0">
                <a:solidFill>
                  <a:srgbClr val="8A93A8"/>
                </a:solidFill>
                <a:latin typeface="Arial" pitchFamily="34" charset="0"/>
                <a:ea typeface="Arial" pitchFamily="34" charset="-122"/>
                <a:cs typeface="Arial" pitchFamily="34" charset="-120"/>
              </a:rPr>
              <a:t>aprendiendo a construirlo</a:t>
            </a:r>
            <a:endParaRPr lang="en-US" sz="2200" dirty="0"/>
          </a:p>
        </p:txBody>
      </p:sp>
      <p:sp>
        <p:nvSpPr>
          <p:cNvPr id="8" name="Text 4"/>
          <p:cNvSpPr/>
          <p:nvPr/>
        </p:nvSpPr>
        <p:spPr>
          <a:xfrm>
            <a:off x="3246120" y="2468880"/>
            <a:ext cx="2103120" cy="548640"/>
          </a:xfrm>
          <a:prstGeom prst="rect">
            <a:avLst/>
          </a:prstGeom>
          <a:noFill/>
          <a:ln/>
        </p:spPr>
        <p:txBody>
          <a:bodyPr wrap="square" lIns="0" tIns="0" rIns="0" bIns="0" rtlCol="0" anchor="ctr"/>
          <a:lstStyle/>
          <a:p>
            <a:pPr marL="0" indent="0" algn="r">
              <a:buNone/>
            </a:pPr>
            <a:r>
              <a:rPr lang="en-US" sz="2600" b="1" dirty="0">
                <a:solidFill>
                  <a:srgbClr val="9257F1"/>
                </a:solidFill>
                <a:latin typeface="Arial" pitchFamily="34" charset="0"/>
                <a:ea typeface="Arial" pitchFamily="34" charset="-122"/>
                <a:cs typeface="Arial" pitchFamily="34" charset="-120"/>
              </a:rPr>
              <a:t>30 segundos</a:t>
            </a:r>
            <a:endParaRPr lang="en-US" sz="2600" dirty="0"/>
          </a:p>
        </p:txBody>
      </p:sp>
      <p:sp>
        <p:nvSpPr>
          <p:cNvPr id="9" name="Text 5"/>
          <p:cNvSpPr/>
          <p:nvPr/>
        </p:nvSpPr>
        <p:spPr>
          <a:xfrm>
            <a:off x="5577840" y="2468880"/>
            <a:ext cx="3337560" cy="548640"/>
          </a:xfrm>
          <a:prstGeom prst="rect">
            <a:avLst/>
          </a:prstGeom>
          <a:noFill/>
          <a:ln/>
        </p:spPr>
        <p:txBody>
          <a:bodyPr wrap="square" lIns="0" tIns="0" rIns="0" bIns="0" rtlCol="0" anchor="ctr"/>
          <a:lstStyle/>
          <a:p>
            <a:pPr marL="0" indent="0">
              <a:buNone/>
            </a:pPr>
            <a:r>
              <a:rPr lang="en-US" sz="2200" dirty="0">
                <a:solidFill>
                  <a:srgbClr val="8A93A8"/>
                </a:solidFill>
                <a:latin typeface="Arial" pitchFamily="34" charset="0"/>
                <a:ea typeface="Arial" pitchFamily="34" charset="-122"/>
                <a:cs typeface="Arial" pitchFamily="34" charset="-120"/>
              </a:rPr>
              <a:t>para que una IA lo escriba</a:t>
            </a:r>
            <a:endParaRPr lang="en-US" sz="2200" dirty="0"/>
          </a:p>
        </p:txBody>
      </p:sp>
      <p:sp>
        <p:nvSpPr>
          <p:cNvPr id="10" name="Text 6"/>
          <p:cNvSpPr/>
          <p:nvPr/>
        </p:nvSpPr>
        <p:spPr>
          <a:xfrm>
            <a:off x="914400" y="3794760"/>
            <a:ext cx="10362895" cy="1280160"/>
          </a:xfrm>
          <a:prstGeom prst="rect">
            <a:avLst/>
          </a:prstGeom>
          <a:noFill/>
          <a:ln/>
        </p:spPr>
        <p:txBody>
          <a:bodyPr wrap="square" lIns="0" tIns="0" rIns="0" bIns="0" rtlCol="0" anchor="ctr"/>
          <a:lstStyle/>
          <a:p>
            <a:pPr marL="0" indent="0" algn="ctr">
              <a:buNone/>
            </a:pPr>
            <a:r>
              <a:rPr lang="en-US" sz="5000" b="1" dirty="0">
                <a:solidFill>
                  <a:srgbClr val="FFFFFF"/>
                </a:solidFill>
                <a:latin typeface="Arial" pitchFamily="34" charset="0"/>
                <a:ea typeface="Arial" pitchFamily="34" charset="-122"/>
                <a:cs typeface="Arial" pitchFamily="34" charset="-120"/>
              </a:rPr>
              <a:t>¿Se </a:t>
            </a:r>
            <a:r>
              <a:rPr lang="en-US" sz="5000" b="1" dirty="0" err="1">
                <a:solidFill>
                  <a:srgbClr val="FFFFFF"/>
                </a:solidFill>
                <a:latin typeface="Arial" pitchFamily="34" charset="0"/>
                <a:ea typeface="Arial" pitchFamily="34" charset="-122"/>
                <a:cs typeface="Arial" pitchFamily="34" charset="-120"/>
              </a:rPr>
              <a:t>perdieron</a:t>
            </a:r>
            <a:r>
              <a:rPr lang="en-US" sz="5000" b="1" dirty="0">
                <a:solidFill>
                  <a:srgbClr val="FFFFFF"/>
                </a:solidFill>
                <a:latin typeface="Arial" pitchFamily="34" charset="0"/>
                <a:ea typeface="Arial" pitchFamily="34" charset="-122"/>
                <a:cs typeface="Arial" pitchFamily="34" charset="-120"/>
              </a:rPr>
              <a:t> esas tres horas?</a:t>
            </a:r>
            <a:endParaRPr lang="en-US" sz="5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1.2  ·  10:01–12:34</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11/38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ACTO I · DE DÓNDE VENIMOS</a:t>
            </a:r>
            <a:endParaRPr lang="en-US" sz="1200" dirty="0"/>
          </a:p>
        </p:txBody>
      </p:sp>
      <p:sp>
        <p:nvSpPr>
          <p:cNvPr id="7" name="Text 3"/>
          <p:cNvSpPr/>
          <p:nvPr/>
        </p:nvSpPr>
        <p:spPr>
          <a:xfrm>
            <a:off x="822960" y="914400"/>
            <a:ext cx="10545775" cy="777240"/>
          </a:xfrm>
          <a:prstGeom prst="rect">
            <a:avLst/>
          </a:prstGeom>
          <a:noFill/>
          <a:ln/>
        </p:spPr>
        <p:txBody>
          <a:bodyPr wrap="square" lIns="0" tIns="0" rIns="0" bIns="0" rtlCol="0" anchor="t"/>
          <a:lstStyle/>
          <a:p>
            <a:pPr marL="0" indent="0">
              <a:buNone/>
            </a:pPr>
            <a:r>
              <a:rPr lang="en-US" sz="3000" b="1" dirty="0">
                <a:solidFill>
                  <a:srgbClr val="FFFFFF"/>
                </a:solidFill>
                <a:latin typeface="Arial" pitchFamily="34" charset="0"/>
                <a:ea typeface="Arial" pitchFamily="34" charset="-122"/>
                <a:cs typeface="Arial" pitchFamily="34" charset="-120"/>
              </a:rPr>
              <a:t>Cuatro etapas de la abstracción</a:t>
            </a:r>
            <a:endParaRPr lang="en-US" sz="3000" dirty="0"/>
          </a:p>
        </p:txBody>
      </p:sp>
      <p:grpSp>
        <p:nvGrpSpPr>
          <p:cNvPr id="2" name="Group 1">
            <a:extLst>
              <a:ext uri="{FF2B5EF4-FFF2-40B4-BE49-F238E27FC236}">
                <a16:creationId xmlns:a16="http://schemas.microsoft.com/office/drawing/2014/main" id="{B7642012-B655-6E83-F8D9-39569832E10D}"/>
              </a:ext>
            </a:extLst>
          </p:cNvPr>
          <p:cNvGrpSpPr/>
          <p:nvPr/>
        </p:nvGrpSpPr>
        <p:grpSpPr>
          <a:xfrm>
            <a:off x="822960" y="2103120"/>
            <a:ext cx="2396414" cy="3529584"/>
            <a:chOff x="822960" y="2103120"/>
            <a:chExt cx="2396414" cy="3529584"/>
          </a:xfrm>
        </p:grpSpPr>
        <p:sp>
          <p:nvSpPr>
            <p:cNvPr id="8" name="Shape 4"/>
            <p:cNvSpPr/>
            <p:nvPr/>
          </p:nvSpPr>
          <p:spPr>
            <a:xfrm>
              <a:off x="822960" y="2103120"/>
              <a:ext cx="2396414" cy="3529584"/>
            </a:xfrm>
            <a:prstGeom prst="rect">
              <a:avLst/>
            </a:prstGeom>
            <a:solidFill>
              <a:srgbClr val="1E2739"/>
            </a:solidFill>
            <a:ln w="12700">
              <a:solidFill>
                <a:srgbClr val="2C3852"/>
              </a:solidFill>
              <a:prstDash val="solid"/>
            </a:ln>
          </p:spPr>
          <p:txBody>
            <a:bodyPr/>
            <a:lstStyle/>
            <a:p>
              <a:endParaRPr lang="en-CO"/>
            </a:p>
          </p:txBody>
        </p:sp>
        <p:sp>
          <p:nvSpPr>
            <p:cNvPr id="9" name="Text 5"/>
            <p:cNvSpPr/>
            <p:nvPr/>
          </p:nvSpPr>
          <p:spPr>
            <a:xfrm>
              <a:off x="1143000" y="2423160"/>
              <a:ext cx="1756334"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1</a:t>
              </a:r>
              <a:endParaRPr lang="en-US" sz="1200" dirty="0"/>
            </a:p>
          </p:txBody>
        </p:sp>
        <p:sp>
          <p:nvSpPr>
            <p:cNvPr id="10" name="Text 6"/>
            <p:cNvSpPr/>
            <p:nvPr/>
          </p:nvSpPr>
          <p:spPr>
            <a:xfrm>
              <a:off x="1143000" y="2880360"/>
              <a:ext cx="1756334" cy="837530"/>
            </a:xfrm>
            <a:prstGeom prst="rect">
              <a:avLst/>
            </a:prstGeom>
            <a:noFill/>
            <a:ln/>
          </p:spPr>
          <p:txBody>
            <a:bodyPr wrap="square" lIns="0" tIns="0" rIns="0" bIns="0" rtlCol="0" anchor="t"/>
            <a:lstStyle/>
            <a:p>
              <a:pPr marL="0" indent="0">
                <a:lnSpc>
                  <a:spcPts val="2600"/>
                </a:lnSpc>
                <a:buNone/>
              </a:pPr>
              <a:r>
                <a:rPr lang="en-US" sz="1500" dirty="0">
                  <a:solidFill>
                    <a:srgbClr val="B34FFF"/>
                  </a:solidFill>
                  <a:latin typeface="Arial" pitchFamily="34" charset="0"/>
                  <a:ea typeface="Arial" pitchFamily="34" charset="-122"/>
                  <a:cs typeface="Arial" pitchFamily="34" charset="-120"/>
                </a:rPr>
                <a:t>Hablar con la máquina</a:t>
              </a:r>
              <a:endParaRPr lang="en-US" sz="1500" dirty="0">
                <a:solidFill>
                  <a:srgbClr val="B34FFF"/>
                </a:solidFill>
              </a:endParaRPr>
            </a:p>
            <a:p>
              <a:pPr marL="0" indent="0">
                <a:lnSpc>
                  <a:spcPts val="2600"/>
                </a:lnSpc>
                <a:buNone/>
              </a:pPr>
              <a:endParaRPr lang="en-US" sz="1500" dirty="0"/>
            </a:p>
            <a:p>
              <a:pPr marL="0" indent="0">
                <a:lnSpc>
                  <a:spcPts val="2600"/>
                </a:lnSpc>
                <a:buNone/>
              </a:pPr>
              <a:r>
                <a:rPr lang="en-US" sz="1500" dirty="0">
                  <a:solidFill>
                    <a:srgbClr val="FFFFFF"/>
                  </a:solidFill>
                  <a:latin typeface="Arial" pitchFamily="34" charset="0"/>
                  <a:ea typeface="Arial" pitchFamily="34" charset="-122"/>
                  <a:cs typeface="Arial" pitchFamily="34" charset="-120"/>
                </a:rPr>
                <a:t>Memoria, compiladores, sistemas operativos. El código era escaso y caro.</a:t>
              </a:r>
              <a:endParaRPr lang="en-US" sz="1500" dirty="0"/>
            </a:p>
          </p:txBody>
        </p:sp>
      </p:grpSp>
      <p:grpSp>
        <p:nvGrpSpPr>
          <p:cNvPr id="21" name="Group 20">
            <a:extLst>
              <a:ext uri="{FF2B5EF4-FFF2-40B4-BE49-F238E27FC236}">
                <a16:creationId xmlns:a16="http://schemas.microsoft.com/office/drawing/2014/main" id="{8F5F7A03-D588-E76E-7490-60AD668006F6}"/>
              </a:ext>
            </a:extLst>
          </p:cNvPr>
          <p:cNvGrpSpPr/>
          <p:nvPr/>
        </p:nvGrpSpPr>
        <p:grpSpPr>
          <a:xfrm>
            <a:off x="3539414" y="2103120"/>
            <a:ext cx="2396414" cy="3529584"/>
            <a:chOff x="3539414" y="2103120"/>
            <a:chExt cx="2396414" cy="3529584"/>
          </a:xfrm>
        </p:grpSpPr>
        <p:sp>
          <p:nvSpPr>
            <p:cNvPr id="11" name="Shape 7"/>
            <p:cNvSpPr/>
            <p:nvPr/>
          </p:nvSpPr>
          <p:spPr>
            <a:xfrm>
              <a:off x="3539414" y="2103120"/>
              <a:ext cx="2396414" cy="3529584"/>
            </a:xfrm>
            <a:prstGeom prst="rect">
              <a:avLst/>
            </a:prstGeom>
            <a:solidFill>
              <a:srgbClr val="1E2739"/>
            </a:solidFill>
            <a:ln w="12700">
              <a:solidFill>
                <a:srgbClr val="2C3852"/>
              </a:solidFill>
              <a:prstDash val="solid"/>
            </a:ln>
          </p:spPr>
          <p:txBody>
            <a:bodyPr/>
            <a:lstStyle/>
            <a:p>
              <a:endParaRPr lang="en-CO"/>
            </a:p>
          </p:txBody>
        </p:sp>
        <p:sp>
          <p:nvSpPr>
            <p:cNvPr id="12" name="Text 8"/>
            <p:cNvSpPr/>
            <p:nvPr/>
          </p:nvSpPr>
          <p:spPr>
            <a:xfrm>
              <a:off x="3859454" y="2423160"/>
              <a:ext cx="1756334"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2</a:t>
              </a:r>
              <a:endParaRPr lang="en-US" sz="1200" dirty="0"/>
            </a:p>
          </p:txBody>
        </p:sp>
        <p:sp>
          <p:nvSpPr>
            <p:cNvPr id="13" name="Text 9"/>
            <p:cNvSpPr/>
            <p:nvPr/>
          </p:nvSpPr>
          <p:spPr>
            <a:xfrm>
              <a:off x="3859454" y="2880360"/>
              <a:ext cx="1756334" cy="2148840"/>
            </a:xfrm>
            <a:prstGeom prst="rect">
              <a:avLst/>
            </a:prstGeom>
            <a:noFill/>
            <a:ln/>
          </p:spPr>
          <p:txBody>
            <a:bodyPr wrap="square" lIns="0" tIns="0" rIns="0" bIns="0" rtlCol="0" anchor="t"/>
            <a:lstStyle/>
            <a:p>
              <a:pPr marL="0" indent="0">
                <a:lnSpc>
                  <a:spcPts val="2600"/>
                </a:lnSpc>
                <a:buNone/>
              </a:pPr>
              <a:r>
                <a:rPr lang="en-US" sz="1500" dirty="0">
                  <a:solidFill>
                    <a:srgbClr val="B34FFF"/>
                  </a:solidFill>
                  <a:latin typeface="Arial" pitchFamily="34" charset="0"/>
                  <a:ea typeface="Arial" pitchFamily="34" charset="-122"/>
                  <a:cs typeface="Arial" pitchFamily="34" charset="-120"/>
                </a:rPr>
                <a:t>Las abstracciones</a:t>
              </a:r>
              <a:endParaRPr lang="en-US" sz="1500" dirty="0">
                <a:solidFill>
                  <a:srgbClr val="B34FFF"/>
                </a:solidFill>
              </a:endParaRPr>
            </a:p>
            <a:p>
              <a:pPr marL="0" indent="0">
                <a:lnSpc>
                  <a:spcPts val="2600"/>
                </a:lnSpc>
                <a:buNone/>
              </a:pPr>
              <a:endParaRPr lang="en-US" sz="1500" dirty="0"/>
            </a:p>
            <a:p>
              <a:pPr marL="0" indent="0">
                <a:lnSpc>
                  <a:spcPts val="2600"/>
                </a:lnSpc>
                <a:buNone/>
              </a:pPr>
              <a:r>
                <a:rPr lang="en-US" sz="1500" dirty="0">
                  <a:solidFill>
                    <a:srgbClr val="FFFFFF"/>
                  </a:solidFill>
                  <a:latin typeface="Arial" pitchFamily="34" charset="0"/>
                  <a:ea typeface="Arial" pitchFamily="34" charset="-122"/>
                  <a:cs typeface="Arial" pitchFamily="34" charset="-120"/>
                </a:rPr>
                <a:t>Frameworks, cloud, contenedores, IaC, CI/CD. Más con menos esfuerzo.</a:t>
              </a:r>
              <a:endParaRPr lang="en-US" sz="1500" dirty="0"/>
            </a:p>
          </p:txBody>
        </p:sp>
      </p:grpSp>
      <p:grpSp>
        <p:nvGrpSpPr>
          <p:cNvPr id="22" name="Group 21">
            <a:extLst>
              <a:ext uri="{FF2B5EF4-FFF2-40B4-BE49-F238E27FC236}">
                <a16:creationId xmlns:a16="http://schemas.microsoft.com/office/drawing/2014/main" id="{191875B1-3AC6-A2D1-BC95-ED0E64994F94}"/>
              </a:ext>
            </a:extLst>
          </p:cNvPr>
          <p:cNvGrpSpPr/>
          <p:nvPr/>
        </p:nvGrpSpPr>
        <p:grpSpPr>
          <a:xfrm>
            <a:off x="6255868" y="2103120"/>
            <a:ext cx="2396414" cy="3529584"/>
            <a:chOff x="6255868" y="2103120"/>
            <a:chExt cx="2396414" cy="3529584"/>
          </a:xfrm>
        </p:grpSpPr>
        <p:sp>
          <p:nvSpPr>
            <p:cNvPr id="14" name="Shape 10"/>
            <p:cNvSpPr/>
            <p:nvPr/>
          </p:nvSpPr>
          <p:spPr>
            <a:xfrm>
              <a:off x="6255868" y="2103120"/>
              <a:ext cx="2396414" cy="3529584"/>
            </a:xfrm>
            <a:prstGeom prst="rect">
              <a:avLst/>
            </a:prstGeom>
            <a:solidFill>
              <a:srgbClr val="1E2739"/>
            </a:solidFill>
            <a:ln w="12700">
              <a:solidFill>
                <a:srgbClr val="2C3852"/>
              </a:solidFill>
              <a:prstDash val="solid"/>
            </a:ln>
          </p:spPr>
          <p:txBody>
            <a:bodyPr/>
            <a:lstStyle/>
            <a:p>
              <a:endParaRPr lang="en-CO"/>
            </a:p>
          </p:txBody>
        </p:sp>
        <p:sp>
          <p:nvSpPr>
            <p:cNvPr id="15" name="Text 11"/>
            <p:cNvSpPr/>
            <p:nvPr/>
          </p:nvSpPr>
          <p:spPr>
            <a:xfrm>
              <a:off x="6575908" y="2423160"/>
              <a:ext cx="1756334"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3</a:t>
              </a:r>
              <a:endParaRPr lang="en-US" sz="1200" dirty="0"/>
            </a:p>
          </p:txBody>
        </p:sp>
        <p:sp>
          <p:nvSpPr>
            <p:cNvPr id="16" name="Text 12"/>
            <p:cNvSpPr/>
            <p:nvPr/>
          </p:nvSpPr>
          <p:spPr>
            <a:xfrm>
              <a:off x="6575908" y="2880360"/>
              <a:ext cx="1756334" cy="2148840"/>
            </a:xfrm>
            <a:prstGeom prst="rect">
              <a:avLst/>
            </a:prstGeom>
            <a:noFill/>
            <a:ln/>
          </p:spPr>
          <p:txBody>
            <a:bodyPr wrap="square" lIns="0" tIns="0" rIns="0" bIns="0" rtlCol="0" anchor="t"/>
            <a:lstStyle/>
            <a:p>
              <a:pPr marL="0" indent="0">
                <a:lnSpc>
                  <a:spcPts val="2600"/>
                </a:lnSpc>
                <a:buNone/>
              </a:pPr>
              <a:r>
                <a:rPr lang="en-US" sz="1500" dirty="0">
                  <a:solidFill>
                    <a:srgbClr val="B34FFF"/>
                  </a:solidFill>
                  <a:latin typeface="Arial" pitchFamily="34" charset="0"/>
                  <a:ea typeface="Arial" pitchFamily="34" charset="-122"/>
                  <a:cs typeface="Arial" pitchFamily="34" charset="-120"/>
                </a:rPr>
                <a:t>Google y Stack Overflow</a:t>
              </a:r>
              <a:endParaRPr lang="en-US" sz="1500" dirty="0">
                <a:solidFill>
                  <a:srgbClr val="B34FFF"/>
                </a:solidFill>
              </a:endParaRPr>
            </a:p>
            <a:p>
              <a:pPr marL="0" indent="0">
                <a:lnSpc>
                  <a:spcPts val="2600"/>
                </a:lnSpc>
                <a:buNone/>
              </a:pPr>
              <a:endParaRPr lang="en-US" sz="1500" dirty="0"/>
            </a:p>
            <a:p>
              <a:pPr marL="0" indent="0">
                <a:lnSpc>
                  <a:spcPts val="2600"/>
                </a:lnSpc>
                <a:buNone/>
              </a:pPr>
              <a:r>
                <a:rPr lang="en-US" sz="1500" dirty="0">
                  <a:solidFill>
                    <a:srgbClr val="FFFFFF"/>
                  </a:solidFill>
                  <a:latin typeface="Arial" pitchFamily="34" charset="0"/>
                  <a:ea typeface="Arial" pitchFamily="34" charset="-122"/>
                  <a:cs typeface="Arial" pitchFamily="34" charset="-120"/>
                </a:rPr>
                <a:t>Dejamos de memorizar. La habilidad pasó a ser encontrar la respuesta.</a:t>
              </a:r>
              <a:endParaRPr lang="en-US" sz="1500" dirty="0"/>
            </a:p>
          </p:txBody>
        </p:sp>
      </p:grpSp>
      <p:grpSp>
        <p:nvGrpSpPr>
          <p:cNvPr id="23" name="Group 22">
            <a:extLst>
              <a:ext uri="{FF2B5EF4-FFF2-40B4-BE49-F238E27FC236}">
                <a16:creationId xmlns:a16="http://schemas.microsoft.com/office/drawing/2014/main" id="{BE8C0F0D-461E-9493-8491-7AA0BC2448C0}"/>
              </a:ext>
            </a:extLst>
          </p:cNvPr>
          <p:cNvGrpSpPr/>
          <p:nvPr/>
        </p:nvGrpSpPr>
        <p:grpSpPr>
          <a:xfrm>
            <a:off x="8972321" y="2103120"/>
            <a:ext cx="2396414" cy="3529584"/>
            <a:chOff x="8972321" y="2103120"/>
            <a:chExt cx="2396414" cy="3529584"/>
          </a:xfrm>
        </p:grpSpPr>
        <p:sp>
          <p:nvSpPr>
            <p:cNvPr id="17" name="Shape 13"/>
            <p:cNvSpPr/>
            <p:nvPr/>
          </p:nvSpPr>
          <p:spPr>
            <a:xfrm>
              <a:off x="8972321" y="2103120"/>
              <a:ext cx="2396414" cy="3529584"/>
            </a:xfrm>
            <a:prstGeom prst="rect">
              <a:avLst/>
            </a:prstGeom>
            <a:solidFill>
              <a:srgbClr val="1E2739"/>
            </a:solidFill>
            <a:ln w="12700">
              <a:solidFill>
                <a:srgbClr val="2C3852"/>
              </a:solidFill>
              <a:prstDash val="solid"/>
            </a:ln>
          </p:spPr>
          <p:txBody>
            <a:bodyPr/>
            <a:lstStyle/>
            <a:p>
              <a:endParaRPr lang="en-CO"/>
            </a:p>
          </p:txBody>
        </p:sp>
        <p:sp>
          <p:nvSpPr>
            <p:cNvPr id="18" name="Text 14"/>
            <p:cNvSpPr/>
            <p:nvPr/>
          </p:nvSpPr>
          <p:spPr>
            <a:xfrm>
              <a:off x="9292361" y="2423160"/>
              <a:ext cx="1756334"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4</a:t>
              </a:r>
              <a:endParaRPr lang="en-US" sz="1200" dirty="0"/>
            </a:p>
          </p:txBody>
        </p:sp>
        <p:sp>
          <p:nvSpPr>
            <p:cNvPr id="19" name="Text 15"/>
            <p:cNvSpPr/>
            <p:nvPr/>
          </p:nvSpPr>
          <p:spPr>
            <a:xfrm>
              <a:off x="9292361" y="2880360"/>
              <a:ext cx="1756334" cy="2148840"/>
            </a:xfrm>
            <a:prstGeom prst="rect">
              <a:avLst/>
            </a:prstGeom>
            <a:noFill/>
            <a:ln/>
          </p:spPr>
          <p:txBody>
            <a:bodyPr wrap="square" lIns="0" tIns="0" rIns="0" bIns="0" rtlCol="0" anchor="t"/>
            <a:lstStyle/>
            <a:p>
              <a:pPr marL="0" indent="0">
                <a:lnSpc>
                  <a:spcPts val="2600"/>
                </a:lnSpc>
                <a:buNone/>
              </a:pPr>
              <a:r>
                <a:rPr lang="en-US" sz="1500" dirty="0">
                  <a:solidFill>
                    <a:srgbClr val="B34FFF"/>
                  </a:solidFill>
                  <a:latin typeface="Arial" pitchFamily="34" charset="0"/>
                  <a:ea typeface="Arial" pitchFamily="34" charset="-122"/>
                  <a:cs typeface="Arial" pitchFamily="34" charset="-120"/>
                </a:rPr>
                <a:t>IA generativa</a:t>
              </a:r>
              <a:endParaRPr lang="en-US" sz="1500" dirty="0">
                <a:solidFill>
                  <a:srgbClr val="B34FFF"/>
                </a:solidFill>
              </a:endParaRPr>
            </a:p>
            <a:p>
              <a:pPr marL="0" indent="0">
                <a:lnSpc>
                  <a:spcPts val="2600"/>
                </a:lnSpc>
                <a:buNone/>
              </a:pPr>
              <a:endParaRPr lang="en-US" sz="1500" dirty="0"/>
            </a:p>
            <a:p>
              <a:pPr marL="0" indent="0">
                <a:lnSpc>
                  <a:spcPts val="2600"/>
                </a:lnSpc>
                <a:buNone/>
              </a:pPr>
              <a:r>
                <a:rPr lang="en-US" sz="1500" dirty="0">
                  <a:solidFill>
                    <a:srgbClr val="FFFFFF"/>
                  </a:solidFill>
                  <a:latin typeface="Arial" pitchFamily="34" charset="0"/>
                  <a:ea typeface="Arial" pitchFamily="34" charset="-122"/>
                  <a:cs typeface="Arial" pitchFamily="34" charset="-120"/>
                </a:rPr>
                <a:t>Ya no buscamos la respuesta. Automatizamos la producción del código.</a:t>
              </a:r>
              <a:endParaRPr lang="en-US" sz="1500" dirty="0"/>
            </a:p>
          </p:txBody>
        </p:sp>
      </p:grpSp>
      <p:sp>
        <p:nvSpPr>
          <p:cNvPr id="20" name="Text 16"/>
          <p:cNvSpPr/>
          <p:nvPr/>
        </p:nvSpPr>
        <p:spPr>
          <a:xfrm>
            <a:off x="822960" y="5821785"/>
            <a:ext cx="10545775" cy="365760"/>
          </a:xfrm>
          <a:prstGeom prst="rect">
            <a:avLst/>
          </a:prstGeom>
          <a:noFill/>
          <a:ln/>
        </p:spPr>
        <p:txBody>
          <a:bodyPr wrap="square" lIns="0" tIns="0" rIns="0" bIns="0" rtlCol="0" anchor="ctr"/>
          <a:lstStyle/>
          <a:p>
            <a:pPr marL="0" indent="0">
              <a:buNone/>
            </a:pPr>
            <a:r>
              <a:rPr lang="en-US" sz="1600" i="1" dirty="0">
                <a:solidFill>
                  <a:srgbClr val="8A93A8"/>
                </a:solidFill>
                <a:latin typeface="Arial" pitchFamily="34" charset="0"/>
                <a:ea typeface="Arial" pitchFamily="34" charset="-122"/>
                <a:cs typeface="Arial" pitchFamily="34" charset="-120"/>
              </a:rPr>
              <a:t>La industria siempre ha avanzado eliminando trabajo manual.</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1.3  ·  12:34–14:00</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12/38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YA TUVIMOS ESTA CONVERSACIÓN</a:t>
            </a:r>
            <a:endParaRPr lang="en-US" sz="1200" dirty="0"/>
          </a:p>
        </p:txBody>
      </p:sp>
      <p:sp>
        <p:nvSpPr>
          <p:cNvPr id="7" name="Text 3"/>
          <p:cNvSpPr/>
          <p:nvPr/>
        </p:nvSpPr>
        <p:spPr>
          <a:xfrm>
            <a:off x="822960" y="1600200"/>
            <a:ext cx="4206240" cy="640080"/>
          </a:xfrm>
          <a:prstGeom prst="rect">
            <a:avLst/>
          </a:prstGeom>
          <a:noFill/>
          <a:ln/>
        </p:spPr>
        <p:txBody>
          <a:bodyPr wrap="square" lIns="0" tIns="0" rIns="0" bIns="0" rtlCol="0" anchor="ctr"/>
          <a:lstStyle/>
          <a:p>
            <a:pPr marL="0" indent="0" algn="r">
              <a:buNone/>
            </a:pPr>
            <a:r>
              <a:rPr lang="en-US" sz="2400" b="1" dirty="0">
                <a:solidFill>
                  <a:srgbClr val="FFFFFF"/>
                </a:solidFill>
                <a:latin typeface="Arial" pitchFamily="34" charset="0"/>
                <a:ea typeface="Arial" pitchFamily="34" charset="-122"/>
                <a:cs typeface="Arial" pitchFamily="34" charset="-120"/>
              </a:rPr>
              <a:t>Las calculadoras</a:t>
            </a:r>
            <a:endParaRPr lang="en-US" sz="2400" dirty="0"/>
          </a:p>
        </p:txBody>
      </p:sp>
      <p:sp>
        <p:nvSpPr>
          <p:cNvPr id="8" name="Text 4"/>
          <p:cNvSpPr/>
          <p:nvPr/>
        </p:nvSpPr>
        <p:spPr>
          <a:xfrm>
            <a:off x="5394960" y="1600200"/>
            <a:ext cx="5943600" cy="640080"/>
          </a:xfrm>
          <a:prstGeom prst="rect">
            <a:avLst/>
          </a:prstGeom>
          <a:noFill/>
          <a:ln/>
        </p:spPr>
        <p:txBody>
          <a:bodyPr wrap="square" lIns="0" tIns="0" rIns="0" bIns="0" rtlCol="0" anchor="ctr"/>
          <a:lstStyle/>
          <a:p>
            <a:pPr marL="0" indent="0">
              <a:buNone/>
            </a:pPr>
            <a:r>
              <a:rPr lang="en-US" sz="2400" dirty="0">
                <a:solidFill>
                  <a:srgbClr val="8A93A8"/>
                </a:solidFill>
                <a:latin typeface="Arial" pitchFamily="34" charset="0"/>
                <a:ea typeface="Arial" pitchFamily="34" charset="-122"/>
                <a:cs typeface="Arial" pitchFamily="34" charset="-120"/>
              </a:rPr>
              <a:t>no eliminaron las matemáticas</a:t>
            </a:r>
            <a:endParaRPr lang="en-US" sz="2400" dirty="0"/>
          </a:p>
        </p:txBody>
      </p:sp>
      <p:sp>
        <p:nvSpPr>
          <p:cNvPr id="9" name="Text 5"/>
          <p:cNvSpPr/>
          <p:nvPr/>
        </p:nvSpPr>
        <p:spPr>
          <a:xfrm>
            <a:off x="822960" y="2560320"/>
            <a:ext cx="4206240" cy="640080"/>
          </a:xfrm>
          <a:prstGeom prst="rect">
            <a:avLst/>
          </a:prstGeom>
          <a:noFill/>
          <a:ln/>
        </p:spPr>
        <p:txBody>
          <a:bodyPr wrap="square" lIns="0" tIns="0" rIns="0" bIns="0" rtlCol="0" anchor="ctr"/>
          <a:lstStyle/>
          <a:p>
            <a:pPr marL="0" indent="0" algn="r">
              <a:buNone/>
            </a:pPr>
            <a:r>
              <a:rPr lang="en-US" sz="2400" b="1" dirty="0">
                <a:solidFill>
                  <a:srgbClr val="FFFFFF"/>
                </a:solidFill>
                <a:latin typeface="Arial" pitchFamily="34" charset="0"/>
                <a:ea typeface="Arial" pitchFamily="34" charset="-122"/>
                <a:cs typeface="Arial" pitchFamily="34" charset="-120"/>
              </a:rPr>
              <a:t>Las hojas de cálculo</a:t>
            </a:r>
            <a:endParaRPr lang="en-US" sz="2400" dirty="0"/>
          </a:p>
        </p:txBody>
      </p:sp>
      <p:sp>
        <p:nvSpPr>
          <p:cNvPr id="10" name="Text 6"/>
          <p:cNvSpPr/>
          <p:nvPr/>
        </p:nvSpPr>
        <p:spPr>
          <a:xfrm>
            <a:off x="5394960" y="2560320"/>
            <a:ext cx="5943600" cy="640080"/>
          </a:xfrm>
          <a:prstGeom prst="rect">
            <a:avLst/>
          </a:prstGeom>
          <a:noFill/>
          <a:ln/>
        </p:spPr>
        <p:txBody>
          <a:bodyPr wrap="square" lIns="0" tIns="0" rIns="0" bIns="0" rtlCol="0" anchor="ctr"/>
          <a:lstStyle/>
          <a:p>
            <a:pPr marL="0" indent="0">
              <a:buNone/>
            </a:pPr>
            <a:r>
              <a:rPr lang="en-US" sz="2400" dirty="0">
                <a:solidFill>
                  <a:srgbClr val="8A93A8"/>
                </a:solidFill>
                <a:latin typeface="Arial" pitchFamily="34" charset="0"/>
                <a:ea typeface="Arial" pitchFamily="34" charset="-122"/>
                <a:cs typeface="Arial" pitchFamily="34" charset="-120"/>
              </a:rPr>
              <a:t>no eliminaron a los financieros</a:t>
            </a:r>
            <a:endParaRPr lang="en-US" sz="2400" dirty="0"/>
          </a:p>
        </p:txBody>
      </p:sp>
      <p:sp>
        <p:nvSpPr>
          <p:cNvPr id="11" name="Text 7"/>
          <p:cNvSpPr/>
          <p:nvPr/>
        </p:nvSpPr>
        <p:spPr>
          <a:xfrm>
            <a:off x="822960" y="3520440"/>
            <a:ext cx="4206240" cy="640080"/>
          </a:xfrm>
          <a:prstGeom prst="rect">
            <a:avLst/>
          </a:prstGeom>
          <a:noFill/>
          <a:ln/>
        </p:spPr>
        <p:txBody>
          <a:bodyPr wrap="square" lIns="0" tIns="0" rIns="0" bIns="0" rtlCol="0" anchor="ctr"/>
          <a:lstStyle/>
          <a:p>
            <a:pPr marL="0" indent="0" algn="r">
              <a:buNone/>
            </a:pPr>
            <a:r>
              <a:rPr lang="en-US" sz="2400" b="1" dirty="0">
                <a:solidFill>
                  <a:srgbClr val="FFFFFF"/>
                </a:solidFill>
                <a:latin typeface="Arial" pitchFamily="34" charset="0"/>
                <a:ea typeface="Arial" pitchFamily="34" charset="-122"/>
                <a:cs typeface="Arial" pitchFamily="34" charset="-120"/>
              </a:rPr>
              <a:t>Los compiladores</a:t>
            </a:r>
            <a:endParaRPr lang="en-US" sz="2400" dirty="0"/>
          </a:p>
        </p:txBody>
      </p:sp>
      <p:sp>
        <p:nvSpPr>
          <p:cNvPr id="12" name="Text 8"/>
          <p:cNvSpPr/>
          <p:nvPr/>
        </p:nvSpPr>
        <p:spPr>
          <a:xfrm>
            <a:off x="5394960" y="3520440"/>
            <a:ext cx="5943600" cy="640080"/>
          </a:xfrm>
          <a:prstGeom prst="rect">
            <a:avLst/>
          </a:prstGeom>
          <a:noFill/>
          <a:ln/>
        </p:spPr>
        <p:txBody>
          <a:bodyPr wrap="square" lIns="0" tIns="0" rIns="0" bIns="0" rtlCol="0" anchor="ctr"/>
          <a:lstStyle/>
          <a:p>
            <a:pPr marL="0" indent="0">
              <a:buNone/>
            </a:pPr>
            <a:r>
              <a:rPr lang="en-US" sz="2400" dirty="0">
                <a:solidFill>
                  <a:srgbClr val="8A93A8"/>
                </a:solidFill>
                <a:latin typeface="Arial" pitchFamily="34" charset="0"/>
                <a:ea typeface="Arial" pitchFamily="34" charset="-122"/>
                <a:cs typeface="Arial" pitchFamily="34" charset="-120"/>
              </a:rPr>
              <a:t>no eliminaron a los programadores</a:t>
            </a:r>
            <a:endParaRPr lang="en-US" sz="2400" dirty="0"/>
          </a:p>
        </p:txBody>
      </p:sp>
      <p:sp>
        <p:nvSpPr>
          <p:cNvPr id="13" name="Text 9"/>
          <p:cNvSpPr/>
          <p:nvPr/>
        </p:nvSpPr>
        <p:spPr>
          <a:xfrm>
            <a:off x="822960" y="4480560"/>
            <a:ext cx="4206240" cy="640080"/>
          </a:xfrm>
          <a:prstGeom prst="rect">
            <a:avLst/>
          </a:prstGeom>
          <a:noFill/>
          <a:ln/>
        </p:spPr>
        <p:txBody>
          <a:bodyPr wrap="square" lIns="0" tIns="0" rIns="0" bIns="0" rtlCol="0" anchor="ctr"/>
          <a:lstStyle/>
          <a:p>
            <a:pPr marL="0" indent="0" algn="r">
              <a:buNone/>
            </a:pPr>
            <a:r>
              <a:rPr lang="en-US" sz="2400" b="1" dirty="0">
                <a:solidFill>
                  <a:srgbClr val="FFFFFF"/>
                </a:solidFill>
                <a:latin typeface="Arial" pitchFamily="34" charset="0"/>
                <a:ea typeface="Arial" pitchFamily="34" charset="-122"/>
                <a:cs typeface="Arial" pitchFamily="34" charset="-120"/>
              </a:rPr>
              <a:t>Cloud</a:t>
            </a:r>
            <a:endParaRPr lang="en-US" sz="2400" dirty="0"/>
          </a:p>
        </p:txBody>
      </p:sp>
      <p:sp>
        <p:nvSpPr>
          <p:cNvPr id="14" name="Text 10"/>
          <p:cNvSpPr/>
          <p:nvPr/>
        </p:nvSpPr>
        <p:spPr>
          <a:xfrm>
            <a:off x="5394960" y="4480560"/>
            <a:ext cx="5943600" cy="640080"/>
          </a:xfrm>
          <a:prstGeom prst="rect">
            <a:avLst/>
          </a:prstGeom>
          <a:noFill/>
          <a:ln/>
        </p:spPr>
        <p:txBody>
          <a:bodyPr wrap="square" lIns="0" tIns="0" rIns="0" bIns="0" rtlCol="0" anchor="ctr"/>
          <a:lstStyle/>
          <a:p>
            <a:pPr marL="0" indent="0">
              <a:buNone/>
            </a:pPr>
            <a:r>
              <a:rPr lang="en-US" sz="2400" dirty="0">
                <a:solidFill>
                  <a:srgbClr val="8A93A8"/>
                </a:solidFill>
                <a:latin typeface="Arial" pitchFamily="34" charset="0"/>
                <a:ea typeface="Arial" pitchFamily="34" charset="-122"/>
                <a:cs typeface="Arial" pitchFamily="34" charset="-120"/>
              </a:rPr>
              <a:t>no eliminó a </a:t>
            </a:r>
            <a:r>
              <a:rPr lang="en-US" sz="2400" dirty="0" err="1">
                <a:solidFill>
                  <a:srgbClr val="8A93A8"/>
                </a:solidFill>
                <a:latin typeface="Arial" pitchFamily="34" charset="0"/>
                <a:ea typeface="Arial" pitchFamily="34" charset="-122"/>
                <a:cs typeface="Arial" pitchFamily="34" charset="-120"/>
              </a:rPr>
              <a:t>los</a:t>
            </a:r>
            <a:r>
              <a:rPr lang="en-US" sz="2400" dirty="0">
                <a:solidFill>
                  <a:srgbClr val="8A93A8"/>
                </a:solidFill>
                <a:latin typeface="Arial" pitchFamily="34" charset="0"/>
                <a:ea typeface="Arial" pitchFamily="34" charset="-122"/>
                <a:cs typeface="Arial" pitchFamily="34" charset="-120"/>
              </a:rPr>
              <a:t> Ingenieros de infra</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1.3  ·  12:34–14:00</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13/38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914400" y="1097280"/>
            <a:ext cx="10362895" cy="4480560"/>
          </a:xfrm>
          <a:prstGeom prst="rect">
            <a:avLst/>
          </a:prstGeom>
          <a:noFill/>
          <a:ln/>
        </p:spPr>
        <p:txBody>
          <a:bodyPr wrap="square" lIns="0" tIns="0" rIns="0" bIns="0" rtlCol="0" anchor="ctr"/>
          <a:lstStyle/>
          <a:p>
            <a:pPr marL="0" indent="0" algn="ctr">
              <a:lnSpc>
                <a:spcPts val="4600"/>
              </a:lnSpc>
              <a:buNone/>
            </a:pPr>
            <a:r>
              <a:rPr lang="en-US" sz="4200" b="1" dirty="0">
                <a:solidFill>
                  <a:srgbClr val="FFFFFF"/>
                </a:solidFill>
                <a:latin typeface="Arial" pitchFamily="34" charset="0"/>
                <a:ea typeface="Arial" pitchFamily="34" charset="-122"/>
                <a:cs typeface="Arial" pitchFamily="34" charset="-120"/>
              </a:rPr>
              <a:t>La abstracción mueve el nivel</a:t>
            </a:r>
            <a:endParaRPr lang="en-US" sz="4200" dirty="0"/>
          </a:p>
          <a:p>
            <a:pPr marL="0" indent="0" algn="ctr">
              <a:lnSpc>
                <a:spcPts val="4600"/>
              </a:lnSpc>
              <a:buNone/>
            </a:pPr>
            <a:r>
              <a:rPr lang="en-US" sz="4200" b="1" dirty="0">
                <a:solidFill>
                  <a:srgbClr val="9257F1"/>
                </a:solidFill>
                <a:latin typeface="Arial" pitchFamily="34" charset="0"/>
                <a:ea typeface="Arial" pitchFamily="34" charset="-122"/>
                <a:cs typeface="Arial" pitchFamily="34" charset="-120"/>
              </a:rPr>
              <a:t>en el que resolvemos los problemas.</a:t>
            </a:r>
            <a:endParaRPr lang="en-US" sz="4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1.4  ·  14:00–15:09</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14/38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914400" y="1097280"/>
            <a:ext cx="10362895" cy="4480560"/>
          </a:xfrm>
          <a:prstGeom prst="rect">
            <a:avLst/>
          </a:prstGeom>
          <a:noFill/>
          <a:ln/>
        </p:spPr>
        <p:txBody>
          <a:bodyPr wrap="square" lIns="0" tIns="0" rIns="0" bIns="0" rtlCol="0" anchor="ctr"/>
          <a:lstStyle/>
          <a:p>
            <a:pPr marL="0" indent="0" algn="ctr">
              <a:lnSpc>
                <a:spcPts val="4600"/>
              </a:lnSpc>
              <a:buNone/>
            </a:pPr>
            <a:r>
              <a:rPr lang="en-US" sz="4200" b="1" dirty="0">
                <a:solidFill>
                  <a:srgbClr val="FFFFFF"/>
                </a:solidFill>
                <a:latin typeface="Arial" pitchFamily="34" charset="0"/>
                <a:ea typeface="Arial" pitchFamily="34" charset="-122"/>
                <a:cs typeface="Arial" pitchFamily="34" charset="-120"/>
              </a:rPr>
              <a:t>El código se está volviendo barato.</a:t>
            </a:r>
            <a:endParaRPr lang="en-US" sz="4200" dirty="0"/>
          </a:p>
          <a:p>
            <a:pPr marL="0" indent="0" algn="ctr">
              <a:lnSpc>
                <a:spcPts val="4600"/>
              </a:lnSpc>
              <a:buNone/>
            </a:pPr>
            <a:r>
              <a:rPr lang="en-US" sz="4200" b="1" dirty="0">
                <a:solidFill>
                  <a:srgbClr val="9257F1"/>
                </a:solidFill>
                <a:latin typeface="Arial" pitchFamily="34" charset="0"/>
                <a:ea typeface="Arial" pitchFamily="34" charset="-122"/>
                <a:cs typeface="Arial" pitchFamily="34" charset="-120"/>
              </a:rPr>
              <a:t>El criterio sigue siendo caro.</a:t>
            </a:r>
            <a:endParaRPr lang="en-US" sz="4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2.1  ·  15:09–16:06</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15/38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ACTO II · LO QUE LA IA NO RESPONDE POR TI</a:t>
            </a:r>
            <a:endParaRPr lang="en-US" sz="1200" dirty="0"/>
          </a:p>
        </p:txBody>
      </p:sp>
      <p:sp>
        <p:nvSpPr>
          <p:cNvPr id="7" name="Text 3"/>
          <p:cNvSpPr/>
          <p:nvPr/>
        </p:nvSpPr>
        <p:spPr>
          <a:xfrm>
            <a:off x="822960" y="1417320"/>
            <a:ext cx="5212080" cy="64008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¿Resuelve el problema que teníamos?</a:t>
            </a:r>
            <a:endParaRPr lang="en-US" sz="2000" dirty="0"/>
          </a:p>
        </p:txBody>
      </p:sp>
      <p:sp>
        <p:nvSpPr>
          <p:cNvPr id="8" name="Text 4"/>
          <p:cNvSpPr/>
          <p:nvPr/>
        </p:nvSpPr>
        <p:spPr>
          <a:xfrm>
            <a:off x="6309360" y="1417320"/>
            <a:ext cx="5212080" cy="64008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¿Es seguro?</a:t>
            </a:r>
            <a:endParaRPr lang="en-US" sz="2000" dirty="0"/>
          </a:p>
        </p:txBody>
      </p:sp>
      <p:sp>
        <p:nvSpPr>
          <p:cNvPr id="9" name="Text 5"/>
          <p:cNvSpPr/>
          <p:nvPr/>
        </p:nvSpPr>
        <p:spPr>
          <a:xfrm>
            <a:off x="822960" y="2258568"/>
            <a:ext cx="5212080" cy="64008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¿Escala?</a:t>
            </a:r>
            <a:endParaRPr lang="en-US" sz="2000" dirty="0"/>
          </a:p>
        </p:txBody>
      </p:sp>
      <p:sp>
        <p:nvSpPr>
          <p:cNvPr id="10" name="Text 6"/>
          <p:cNvSpPr/>
          <p:nvPr/>
        </p:nvSpPr>
        <p:spPr>
          <a:xfrm>
            <a:off x="6309360" y="2258568"/>
            <a:ext cx="5212080" cy="64008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¿Cuánto va a costar en producción?</a:t>
            </a:r>
            <a:endParaRPr lang="en-US" sz="2000" dirty="0"/>
          </a:p>
        </p:txBody>
      </p:sp>
      <p:sp>
        <p:nvSpPr>
          <p:cNvPr id="11" name="Text 7"/>
          <p:cNvSpPr/>
          <p:nvPr/>
        </p:nvSpPr>
        <p:spPr>
          <a:xfrm>
            <a:off x="822960" y="3099816"/>
            <a:ext cx="5212080" cy="64008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¿Qué pasa cuando falle un servicio?</a:t>
            </a:r>
            <a:endParaRPr lang="en-US" sz="2000" dirty="0"/>
          </a:p>
        </p:txBody>
      </p:sp>
      <p:sp>
        <p:nvSpPr>
          <p:cNvPr id="12" name="Text 8"/>
          <p:cNvSpPr/>
          <p:nvPr/>
        </p:nvSpPr>
        <p:spPr>
          <a:xfrm>
            <a:off x="6309360" y="3099816"/>
            <a:ext cx="5212080" cy="64008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¿Estamos almacenando bien los datos?</a:t>
            </a:r>
            <a:endParaRPr lang="en-US" sz="2000" dirty="0"/>
          </a:p>
        </p:txBody>
      </p:sp>
      <p:sp>
        <p:nvSpPr>
          <p:cNvPr id="13" name="Text 9"/>
          <p:cNvSpPr/>
          <p:nvPr/>
        </p:nvSpPr>
        <p:spPr>
          <a:xfrm>
            <a:off x="822960" y="3941064"/>
            <a:ext cx="5212080" cy="64008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¿Cumplimos con privacidad y regulación?</a:t>
            </a:r>
            <a:endParaRPr lang="en-US" sz="2000" dirty="0"/>
          </a:p>
        </p:txBody>
      </p:sp>
      <p:sp>
        <p:nvSpPr>
          <p:cNvPr id="14" name="Text 10"/>
          <p:cNvSpPr/>
          <p:nvPr/>
        </p:nvSpPr>
        <p:spPr>
          <a:xfrm>
            <a:off x="6309360" y="3941064"/>
            <a:ext cx="5212080" cy="64008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¿Es esta la arquitectura que necesitamos?</a:t>
            </a:r>
            <a:endParaRPr lang="en-US" sz="2000" dirty="0"/>
          </a:p>
        </p:txBody>
      </p:sp>
      <p:sp>
        <p:nvSpPr>
          <p:cNvPr id="15" name="Text 11"/>
          <p:cNvSpPr/>
          <p:nvPr/>
        </p:nvSpPr>
        <p:spPr>
          <a:xfrm>
            <a:off x="822960" y="5349240"/>
            <a:ext cx="10545775" cy="502920"/>
          </a:xfrm>
          <a:prstGeom prst="rect">
            <a:avLst/>
          </a:prstGeom>
          <a:noFill/>
          <a:ln/>
        </p:spPr>
        <p:txBody>
          <a:bodyPr wrap="square" lIns="0" tIns="0" rIns="0" bIns="0" rtlCol="0" anchor="ctr"/>
          <a:lstStyle/>
          <a:p>
            <a:pPr marL="0" indent="0">
              <a:buNone/>
            </a:pPr>
            <a:r>
              <a:rPr lang="en-US" sz="2000" b="1" dirty="0">
                <a:solidFill>
                  <a:srgbClr val="9257F1"/>
                </a:solidFill>
                <a:latin typeface="Arial" pitchFamily="34" charset="0"/>
                <a:ea typeface="Arial" pitchFamily="34" charset="-122"/>
                <a:cs typeface="Arial" pitchFamily="34" charset="-120"/>
              </a:rPr>
              <a:t>La IA produce una respuesta. Tú decides si es buena.</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2.2  ·  16:06–17:21</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16/38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LA NUEVA UNIDAD DE PRODUCTIVIDAD</a:t>
            </a:r>
            <a:endParaRPr lang="en-US" sz="1200" dirty="0"/>
          </a:p>
        </p:txBody>
      </p:sp>
      <p:sp>
        <p:nvSpPr>
          <p:cNvPr id="7" name="Text 3"/>
          <p:cNvSpPr/>
          <p:nvPr/>
        </p:nvSpPr>
        <p:spPr>
          <a:xfrm>
            <a:off x="822960" y="2011680"/>
            <a:ext cx="10545775" cy="822960"/>
          </a:xfrm>
          <a:prstGeom prst="rect">
            <a:avLst/>
          </a:prstGeom>
          <a:noFill/>
          <a:ln/>
        </p:spPr>
        <p:txBody>
          <a:bodyPr wrap="square" lIns="0" tIns="0" rIns="0" bIns="0" rtlCol="0" anchor="ctr"/>
          <a:lstStyle/>
          <a:p>
            <a:pPr marL="0" indent="0" algn="ctr">
              <a:buNone/>
            </a:pPr>
            <a:r>
              <a:rPr lang="en-US" sz="2600" strike="sngStrike" dirty="0">
                <a:solidFill>
                  <a:srgbClr val="48536B"/>
                </a:solidFill>
                <a:latin typeface="Arial" pitchFamily="34" charset="0"/>
                <a:ea typeface="Arial" pitchFamily="34" charset="-122"/>
                <a:cs typeface="Arial" pitchFamily="34" charset="-120"/>
              </a:rPr>
              <a:t>Problema  →  desarrollador  →  código</a:t>
            </a:r>
            <a:endParaRPr lang="en-US" sz="2600" strike="sngStrike" dirty="0"/>
          </a:p>
        </p:txBody>
      </p:sp>
      <p:sp>
        <p:nvSpPr>
          <p:cNvPr id="8" name="Text 4"/>
          <p:cNvSpPr/>
          <p:nvPr/>
        </p:nvSpPr>
        <p:spPr>
          <a:xfrm>
            <a:off x="548640" y="3291840"/>
            <a:ext cx="11094415" cy="91440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Problema  →  ingeniero  →  </a:t>
            </a:r>
            <a:r>
              <a:rPr lang="en-US" sz="2400" b="1" dirty="0">
                <a:solidFill>
                  <a:srgbClr val="9257F1"/>
                </a:solidFill>
                <a:latin typeface="Arial" pitchFamily="34" charset="0"/>
                <a:ea typeface="Arial" pitchFamily="34" charset="-122"/>
                <a:cs typeface="Arial" pitchFamily="34" charset="-120"/>
              </a:rPr>
              <a:t>IA / agentes / herramientas</a:t>
            </a:r>
            <a:r>
              <a:rPr lang="en-US" sz="2400" b="1" dirty="0">
                <a:solidFill>
                  <a:srgbClr val="FFFFFF"/>
                </a:solidFill>
                <a:latin typeface="Arial" pitchFamily="34" charset="0"/>
                <a:ea typeface="Arial" pitchFamily="34" charset="-122"/>
                <a:cs typeface="Arial" pitchFamily="34" charset="-120"/>
              </a:rPr>
              <a:t>  →  software</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2.2  ·  16:06–17:21</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17/38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914400" y="1097280"/>
            <a:ext cx="10362895" cy="4480560"/>
          </a:xfrm>
          <a:prstGeom prst="rect">
            <a:avLst/>
          </a:prstGeom>
          <a:noFill/>
          <a:ln/>
        </p:spPr>
        <p:txBody>
          <a:bodyPr wrap="square" lIns="0" tIns="0" rIns="0" bIns="0" rtlCol="0" anchor="ctr"/>
          <a:lstStyle/>
          <a:p>
            <a:pPr marL="0" indent="0" algn="ctr">
              <a:lnSpc>
                <a:spcPts val="4600"/>
              </a:lnSpc>
              <a:buNone/>
            </a:pPr>
            <a:r>
              <a:rPr lang="en-US" sz="4000" b="1" dirty="0">
                <a:solidFill>
                  <a:srgbClr val="FFFFFF"/>
                </a:solidFill>
                <a:latin typeface="Arial" pitchFamily="34" charset="0"/>
                <a:ea typeface="Arial" pitchFamily="34" charset="-122"/>
                <a:cs typeface="Arial" pitchFamily="34" charset="-120"/>
              </a:rPr>
              <a:t>Una mala decisión también se puede</a:t>
            </a:r>
            <a:endParaRPr lang="en-US" sz="4000" dirty="0"/>
          </a:p>
          <a:p>
            <a:pPr marL="0" indent="0" algn="ctr">
              <a:lnSpc>
                <a:spcPts val="4600"/>
              </a:lnSpc>
              <a:buNone/>
            </a:pPr>
            <a:r>
              <a:rPr lang="en-US" sz="4000" b="1" dirty="0">
                <a:solidFill>
                  <a:srgbClr val="FF5C6C"/>
                </a:solidFill>
                <a:latin typeface="Arial" pitchFamily="34" charset="0"/>
                <a:ea typeface="Arial" pitchFamily="34" charset="-122"/>
                <a:cs typeface="Arial" pitchFamily="34" charset="-120"/>
              </a:rPr>
              <a:t>producir muchísimo más rápido.</a:t>
            </a:r>
            <a:endParaRPr lang="en-US" sz="4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2.3  ·  17:21–19:15</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18/38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DE PROGRAMADOR A INGENIERO AUMENTADO</a:t>
            </a:r>
            <a:endParaRPr lang="en-US" sz="1200" dirty="0"/>
          </a:p>
        </p:txBody>
      </p:sp>
      <p:sp>
        <p:nvSpPr>
          <p:cNvPr id="7" name="Shape 3"/>
          <p:cNvSpPr/>
          <p:nvPr/>
        </p:nvSpPr>
        <p:spPr>
          <a:xfrm>
            <a:off x="822960" y="1920240"/>
            <a:ext cx="3301898" cy="3108960"/>
          </a:xfrm>
          <a:prstGeom prst="rect">
            <a:avLst/>
          </a:prstGeom>
          <a:solidFill>
            <a:srgbClr val="1E2739"/>
          </a:solidFill>
          <a:ln w="12700">
            <a:solidFill>
              <a:srgbClr val="2C3852"/>
            </a:solidFill>
            <a:prstDash val="solid"/>
          </a:ln>
        </p:spPr>
        <p:txBody>
          <a:bodyPr/>
          <a:lstStyle/>
          <a:p>
            <a:endParaRPr lang="en-CO"/>
          </a:p>
        </p:txBody>
      </p:sp>
      <p:sp>
        <p:nvSpPr>
          <p:cNvPr id="8" name="Text 4"/>
          <p:cNvSpPr/>
          <p:nvPr/>
        </p:nvSpPr>
        <p:spPr>
          <a:xfrm>
            <a:off x="1143000" y="2240280"/>
            <a:ext cx="2661818" cy="320040"/>
          </a:xfrm>
          <a:prstGeom prst="rect">
            <a:avLst/>
          </a:prstGeom>
          <a:noFill/>
          <a:ln/>
        </p:spPr>
        <p:txBody>
          <a:bodyPr wrap="square" lIns="0" tIns="0" rIns="0" bIns="0" rtlCol="0" anchor="ctr"/>
          <a:lstStyle/>
          <a:p>
            <a:pPr marL="0" indent="0">
              <a:buNone/>
            </a:pPr>
            <a:r>
              <a:rPr lang="en-US" sz="1200" b="1" kern="0" spc="200" dirty="0">
                <a:solidFill>
                  <a:srgbClr val="8A93A8"/>
                </a:solidFill>
                <a:latin typeface="Arial" pitchFamily="34" charset="0"/>
                <a:ea typeface="Arial" pitchFamily="34" charset="-122"/>
                <a:cs typeface="Arial" pitchFamily="34" charset="-120"/>
              </a:rPr>
              <a:t>AYER</a:t>
            </a:r>
            <a:endParaRPr lang="en-US" sz="1200" dirty="0"/>
          </a:p>
        </p:txBody>
      </p:sp>
      <p:sp>
        <p:nvSpPr>
          <p:cNvPr id="9" name="Text 5"/>
          <p:cNvSpPr/>
          <p:nvPr/>
        </p:nvSpPr>
        <p:spPr>
          <a:xfrm>
            <a:off x="1143000" y="2697480"/>
            <a:ext cx="2661818" cy="1965960"/>
          </a:xfrm>
          <a:prstGeom prst="rect">
            <a:avLst/>
          </a:prstGeom>
          <a:noFill/>
          <a:ln/>
        </p:spPr>
        <p:txBody>
          <a:bodyPr wrap="square" lIns="0" tIns="0" rIns="0" bIns="0" rtlCol="0" anchor="t"/>
          <a:lstStyle/>
          <a:p>
            <a:pPr marL="0" indent="0">
              <a:lnSpc>
                <a:spcPts val="2600"/>
              </a:lnSpc>
              <a:buNone/>
            </a:pPr>
            <a:r>
              <a:rPr lang="en-US" sz="1800" dirty="0">
                <a:solidFill>
                  <a:srgbClr val="FFFFFF"/>
                </a:solidFill>
                <a:latin typeface="Arial" pitchFamily="34" charset="0"/>
                <a:ea typeface="Arial" pitchFamily="34" charset="-122"/>
                <a:cs typeface="Arial" pitchFamily="34" charset="-120"/>
              </a:rPr>
              <a:t>El desarrollador escribía a mano la mayor parte del código.</a:t>
            </a:r>
            <a:endParaRPr lang="en-US" sz="1800" dirty="0"/>
          </a:p>
        </p:txBody>
      </p:sp>
      <p:sp>
        <p:nvSpPr>
          <p:cNvPr id="10" name="Shape 6"/>
          <p:cNvSpPr/>
          <p:nvPr/>
        </p:nvSpPr>
        <p:spPr>
          <a:xfrm>
            <a:off x="4444898" y="1920240"/>
            <a:ext cx="3301898" cy="3108960"/>
          </a:xfrm>
          <a:prstGeom prst="rect">
            <a:avLst/>
          </a:prstGeom>
          <a:solidFill>
            <a:srgbClr val="1E2739"/>
          </a:solidFill>
          <a:ln w="12700">
            <a:solidFill>
              <a:srgbClr val="2C3852"/>
            </a:solidFill>
            <a:prstDash val="solid"/>
          </a:ln>
        </p:spPr>
        <p:txBody>
          <a:bodyPr/>
          <a:lstStyle/>
          <a:p>
            <a:endParaRPr lang="en-CO"/>
          </a:p>
        </p:txBody>
      </p:sp>
      <p:sp>
        <p:nvSpPr>
          <p:cNvPr id="11" name="Text 7"/>
          <p:cNvSpPr/>
          <p:nvPr/>
        </p:nvSpPr>
        <p:spPr>
          <a:xfrm>
            <a:off x="4764938" y="2240280"/>
            <a:ext cx="2661818" cy="320040"/>
          </a:xfrm>
          <a:prstGeom prst="rect">
            <a:avLst/>
          </a:prstGeom>
          <a:noFill/>
          <a:ln/>
        </p:spPr>
        <p:txBody>
          <a:bodyPr wrap="square" lIns="0" tIns="0" rIns="0" bIns="0" rtlCol="0" anchor="ctr"/>
          <a:lstStyle/>
          <a:p>
            <a:pPr marL="0" indent="0">
              <a:buNone/>
            </a:pPr>
            <a:r>
              <a:rPr lang="en-US" sz="1200" b="1" kern="0" spc="200" dirty="0">
                <a:solidFill>
                  <a:srgbClr val="8A93A8"/>
                </a:solidFill>
                <a:latin typeface="Arial" pitchFamily="34" charset="0"/>
                <a:ea typeface="Arial" pitchFamily="34" charset="-122"/>
                <a:cs typeface="Arial" pitchFamily="34" charset="-120"/>
              </a:rPr>
              <a:t>HOY</a:t>
            </a:r>
            <a:endParaRPr lang="en-US" sz="1200" dirty="0"/>
          </a:p>
        </p:txBody>
      </p:sp>
      <p:sp>
        <p:nvSpPr>
          <p:cNvPr id="12" name="Text 8"/>
          <p:cNvSpPr/>
          <p:nvPr/>
        </p:nvSpPr>
        <p:spPr>
          <a:xfrm>
            <a:off x="4764938" y="2697480"/>
            <a:ext cx="2661818" cy="1965960"/>
          </a:xfrm>
          <a:prstGeom prst="rect">
            <a:avLst/>
          </a:prstGeom>
          <a:noFill/>
          <a:ln/>
        </p:spPr>
        <p:txBody>
          <a:bodyPr wrap="square" lIns="0" tIns="0" rIns="0" bIns="0" rtlCol="0" anchor="t"/>
          <a:lstStyle/>
          <a:p>
            <a:pPr marL="0" indent="0">
              <a:lnSpc>
                <a:spcPts val="2600"/>
              </a:lnSpc>
              <a:buNone/>
            </a:pPr>
            <a:r>
              <a:rPr lang="en-US" sz="1800" dirty="0">
                <a:solidFill>
                  <a:srgbClr val="FFFFFF"/>
                </a:solidFill>
                <a:latin typeface="Arial" pitchFamily="34" charset="0"/>
                <a:ea typeface="Arial" pitchFamily="34" charset="-122"/>
                <a:cs typeface="Arial" pitchFamily="34" charset="-120"/>
              </a:rPr>
              <a:t>El desarrollador escribe código junto con asistentes de IA.</a:t>
            </a:r>
            <a:endParaRPr lang="en-US" sz="1800" dirty="0"/>
          </a:p>
        </p:txBody>
      </p:sp>
      <p:sp>
        <p:nvSpPr>
          <p:cNvPr id="13" name="Shape 9"/>
          <p:cNvSpPr/>
          <p:nvPr/>
        </p:nvSpPr>
        <p:spPr>
          <a:xfrm>
            <a:off x="8066837" y="1920240"/>
            <a:ext cx="3301898" cy="3108960"/>
          </a:xfrm>
          <a:prstGeom prst="rect">
            <a:avLst/>
          </a:prstGeom>
          <a:solidFill>
            <a:srgbClr val="1E2739"/>
          </a:solidFill>
          <a:ln w="12700">
            <a:solidFill>
              <a:srgbClr val="2C3852"/>
            </a:solidFill>
            <a:prstDash val="solid"/>
          </a:ln>
        </p:spPr>
        <p:txBody>
          <a:bodyPr/>
          <a:lstStyle/>
          <a:p>
            <a:endParaRPr lang="en-CO"/>
          </a:p>
        </p:txBody>
      </p:sp>
      <p:sp>
        <p:nvSpPr>
          <p:cNvPr id="14" name="Text 10"/>
          <p:cNvSpPr/>
          <p:nvPr/>
        </p:nvSpPr>
        <p:spPr>
          <a:xfrm>
            <a:off x="8386877" y="2240280"/>
            <a:ext cx="2661818"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MAÑANA</a:t>
            </a:r>
            <a:endParaRPr lang="en-US" sz="1200" dirty="0"/>
          </a:p>
        </p:txBody>
      </p:sp>
      <p:sp>
        <p:nvSpPr>
          <p:cNvPr id="15" name="Text 11"/>
          <p:cNvSpPr/>
          <p:nvPr/>
        </p:nvSpPr>
        <p:spPr>
          <a:xfrm>
            <a:off x="8386877" y="2697480"/>
            <a:ext cx="2661818" cy="1965960"/>
          </a:xfrm>
          <a:prstGeom prst="rect">
            <a:avLst/>
          </a:prstGeom>
          <a:noFill/>
          <a:ln/>
        </p:spPr>
        <p:txBody>
          <a:bodyPr wrap="square" lIns="0" tIns="0" rIns="0" bIns="0" rtlCol="0" anchor="t"/>
          <a:lstStyle/>
          <a:p>
            <a:pPr marL="0" indent="0">
              <a:lnSpc>
                <a:spcPts val="2600"/>
              </a:lnSpc>
              <a:buNone/>
            </a:pPr>
            <a:r>
              <a:rPr lang="en-US" sz="1800" dirty="0">
                <a:solidFill>
                  <a:srgbClr val="FFFFFF"/>
                </a:solidFill>
                <a:latin typeface="Arial" pitchFamily="34" charset="0"/>
                <a:ea typeface="Arial" pitchFamily="34" charset="-122"/>
                <a:cs typeface="Arial" pitchFamily="34" charset="-120"/>
              </a:rPr>
              <a:t>El ingeniero coordina múltiples agentes: implementar, probar, revisar código, desplegar, analizar vulnerabilidades, investigar incidentes.</a:t>
            </a:r>
            <a:endParaRPr lang="en-US" sz="1800" dirty="0"/>
          </a:p>
        </p:txBody>
      </p:sp>
      <p:sp>
        <p:nvSpPr>
          <p:cNvPr id="16" name="Text 12"/>
          <p:cNvSpPr/>
          <p:nvPr/>
        </p:nvSpPr>
        <p:spPr>
          <a:xfrm>
            <a:off x="822960" y="5349240"/>
            <a:ext cx="10545775" cy="457200"/>
          </a:xfrm>
          <a:prstGeom prst="rect">
            <a:avLst/>
          </a:prstGeom>
          <a:noFill/>
          <a:ln/>
        </p:spPr>
        <p:txBody>
          <a:bodyPr wrap="square" lIns="0" tIns="0" rIns="0" bIns="0" rtlCol="0" anchor="ctr"/>
          <a:lstStyle/>
          <a:p>
            <a:pPr marL="0" indent="0">
              <a:buNone/>
            </a:pPr>
            <a:r>
              <a:rPr lang="en-US" sz="2000" b="1" dirty="0">
                <a:solidFill>
                  <a:srgbClr val="9257F1"/>
                </a:solidFill>
                <a:latin typeface="Arial" pitchFamily="34" charset="0"/>
                <a:ea typeface="Arial" pitchFamily="34" charset="-122"/>
                <a:cs typeface="Arial" pitchFamily="34" charset="-120"/>
              </a:rPr>
              <a:t>Fíjense en el verbo. No “escribir”. Coordinar.</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2.3  ·  17:21–19:15</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19/38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914400" y="1371600"/>
            <a:ext cx="10362895" cy="640080"/>
          </a:xfrm>
          <a:prstGeom prst="rect">
            <a:avLst/>
          </a:prstGeom>
          <a:noFill/>
          <a:ln/>
        </p:spPr>
        <p:txBody>
          <a:bodyPr wrap="square" lIns="0" tIns="0" rIns="0" bIns="0" rtlCol="0" anchor="ctr"/>
          <a:lstStyle/>
          <a:p>
            <a:pPr marL="0" indent="0" algn="ctr">
              <a:buNone/>
            </a:pPr>
            <a:r>
              <a:rPr lang="en-US" sz="2200" strike="sngStrike" dirty="0">
                <a:solidFill>
                  <a:srgbClr val="48536B"/>
                </a:solidFill>
                <a:latin typeface="Arial" pitchFamily="34" charset="0"/>
                <a:ea typeface="Arial" pitchFamily="34" charset="-122"/>
                <a:cs typeface="Arial" pitchFamily="34" charset="-120"/>
              </a:rPr>
              <a:t>“Escribe esta función.”</a:t>
            </a:r>
            <a:endParaRPr lang="en-US" sz="2200" strike="sngStrike" dirty="0"/>
          </a:p>
        </p:txBody>
      </p:sp>
      <p:sp>
        <p:nvSpPr>
          <p:cNvPr id="7" name="Text 3"/>
          <p:cNvSpPr/>
          <p:nvPr/>
        </p:nvSpPr>
        <p:spPr>
          <a:xfrm>
            <a:off x="1097280" y="2286000"/>
            <a:ext cx="9997135" cy="3108960"/>
          </a:xfrm>
          <a:prstGeom prst="rect">
            <a:avLst/>
          </a:prstGeom>
          <a:noFill/>
          <a:ln/>
        </p:spPr>
        <p:txBody>
          <a:bodyPr wrap="square" lIns="0" tIns="0" rIns="0" bIns="0" rtlCol="0" anchor="ctr"/>
          <a:lstStyle/>
          <a:p>
            <a:pPr marL="0" indent="0" algn="ctr">
              <a:lnSpc>
                <a:spcPts val="4400"/>
              </a:lnSpc>
              <a:buNone/>
            </a:pPr>
            <a:r>
              <a:rPr lang="en-US" sz="3000" b="1" dirty="0">
                <a:solidFill>
                  <a:srgbClr val="FFFFFF"/>
                </a:solidFill>
                <a:latin typeface="Arial" pitchFamily="34" charset="0"/>
                <a:ea typeface="Arial" pitchFamily="34" charset="-122"/>
                <a:cs typeface="Arial" pitchFamily="34" charset="-120"/>
              </a:rPr>
              <a:t>“Este es el sistema que necesitamos.
Estas son sus restricciones.
Estas son las condiciones bajo las que debe funcionar.
</a:t>
            </a:r>
            <a:r>
              <a:rPr lang="en-US" sz="3000" b="1" dirty="0">
                <a:solidFill>
                  <a:srgbClr val="9257F1"/>
                </a:solidFill>
                <a:latin typeface="Arial" pitchFamily="34" charset="0"/>
                <a:ea typeface="Arial" pitchFamily="34" charset="-122"/>
                <a:cs typeface="Arial" pitchFamily="34" charset="-120"/>
              </a:rPr>
              <a:t>Demuestra que cumple con ellas.”</a:t>
            </a:r>
            <a:endParaRPr lang="en-US" sz="3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2.4  ·  19:15–21:06</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20/38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QUÉ BUSCAN AHORA LAS EMPRESAS</a:t>
            </a:r>
            <a:endParaRPr lang="en-US" sz="1200" dirty="0"/>
          </a:p>
        </p:txBody>
      </p:sp>
      <p:sp>
        <p:nvSpPr>
          <p:cNvPr id="7" name="Text 3"/>
          <p:cNvSpPr/>
          <p:nvPr/>
        </p:nvSpPr>
        <p:spPr>
          <a:xfrm>
            <a:off x="914400" y="2103120"/>
            <a:ext cx="10362895" cy="822960"/>
          </a:xfrm>
          <a:prstGeom prst="rect">
            <a:avLst/>
          </a:prstGeom>
          <a:noFill/>
          <a:ln/>
        </p:spPr>
        <p:txBody>
          <a:bodyPr wrap="square" lIns="0" tIns="0" rIns="0" bIns="0" rtlCol="0" anchor="ctr"/>
          <a:lstStyle/>
          <a:p>
            <a:pPr marL="0" indent="0" algn="ctr">
              <a:buNone/>
            </a:pPr>
            <a:r>
              <a:rPr lang="en-US" sz="2800" strike="sngStrike" dirty="0">
                <a:solidFill>
                  <a:srgbClr val="48536B"/>
                </a:solidFill>
                <a:latin typeface="Arial" pitchFamily="34" charset="0"/>
                <a:ea typeface="Arial" pitchFamily="34" charset="-122"/>
                <a:cs typeface="Arial" pitchFamily="34" charset="-120"/>
              </a:rPr>
              <a:t>“Sé programar en X.”</a:t>
            </a:r>
            <a:endParaRPr lang="en-US" sz="2800" strike="sngStrike" dirty="0"/>
          </a:p>
        </p:txBody>
      </p:sp>
      <p:sp>
        <p:nvSpPr>
          <p:cNvPr id="8" name="Text 4"/>
          <p:cNvSpPr/>
          <p:nvPr/>
        </p:nvSpPr>
        <p:spPr>
          <a:xfrm>
            <a:off x="914400" y="3383280"/>
            <a:ext cx="10362895" cy="914400"/>
          </a:xfrm>
          <a:prstGeom prst="rect">
            <a:avLst/>
          </a:prstGeom>
          <a:noFill/>
          <a:ln/>
        </p:spPr>
        <p:txBody>
          <a:bodyPr wrap="square" lIns="0" tIns="0" rIns="0" bIns="0" rtlCol="0" anchor="ctr"/>
          <a:lstStyle/>
          <a:p>
            <a:pPr marL="0" indent="0" algn="ctr">
              <a:buNone/>
            </a:pPr>
            <a:r>
              <a:rPr lang="en-US" sz="3600" b="1" dirty="0">
                <a:solidFill>
                  <a:srgbClr val="9257F1"/>
                </a:solidFill>
                <a:latin typeface="Arial" pitchFamily="34" charset="0"/>
                <a:ea typeface="Arial" pitchFamily="34" charset="-122"/>
                <a:cs typeface="Arial" pitchFamily="34" charset="-120"/>
              </a:rPr>
              <a:t>“Sé resolver problemas usando software.”</a:t>
            </a:r>
            <a:endParaRPr lang="en-US" sz="3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2.4  ·  19:15–21:06</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21/38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Y ESTO NO ES TEORÍA</a:t>
            </a:r>
            <a:endParaRPr lang="en-US" sz="1200" dirty="0"/>
          </a:p>
        </p:txBody>
      </p:sp>
      <p:sp>
        <p:nvSpPr>
          <p:cNvPr id="7" name="Text 3"/>
          <p:cNvSpPr/>
          <p:nvPr/>
        </p:nvSpPr>
        <p:spPr>
          <a:xfrm>
            <a:off x="822960" y="1234440"/>
            <a:ext cx="5029200" cy="320040"/>
          </a:xfrm>
          <a:prstGeom prst="rect">
            <a:avLst/>
          </a:prstGeom>
          <a:noFill/>
          <a:ln/>
        </p:spPr>
        <p:txBody>
          <a:bodyPr wrap="square" lIns="0" tIns="0" rIns="0" bIns="0" rtlCol="0" anchor="ctr"/>
          <a:lstStyle/>
          <a:p>
            <a:pPr marL="0" indent="0" algn="ctr">
              <a:buNone/>
            </a:pPr>
            <a:r>
              <a:rPr lang="en-US" sz="1200" b="1" kern="0" spc="200" dirty="0">
                <a:solidFill>
                  <a:srgbClr val="8A93A8"/>
                </a:solidFill>
                <a:latin typeface="Arial" pitchFamily="34" charset="0"/>
                <a:ea typeface="Arial" pitchFamily="34" charset="-122"/>
                <a:cs typeface="Arial" pitchFamily="34" charset="-120"/>
              </a:rPr>
              <a:t>LO QUE SÉ</a:t>
            </a:r>
            <a:endParaRPr lang="en-US" sz="1200" dirty="0"/>
          </a:p>
        </p:txBody>
      </p:sp>
      <p:sp>
        <p:nvSpPr>
          <p:cNvPr id="8" name="Shape 4"/>
          <p:cNvSpPr/>
          <p:nvPr/>
        </p:nvSpPr>
        <p:spPr>
          <a:xfrm>
            <a:off x="822960" y="1737360"/>
            <a:ext cx="5029200" cy="3200400"/>
          </a:xfrm>
          <a:prstGeom prst="rect">
            <a:avLst/>
          </a:prstGeom>
          <a:solidFill>
            <a:srgbClr val="1E2739"/>
          </a:solidFill>
          <a:ln w="12700">
            <a:solidFill>
              <a:srgbClr val="2C3852"/>
            </a:solidFill>
            <a:prstDash val="solid"/>
          </a:ln>
        </p:spPr>
        <p:txBody>
          <a:bodyPr/>
          <a:lstStyle/>
          <a:p>
            <a:endParaRPr lang="en-CO" dirty="0"/>
          </a:p>
        </p:txBody>
      </p:sp>
      <p:sp>
        <p:nvSpPr>
          <p:cNvPr id="9" name="Text 5"/>
          <p:cNvSpPr/>
          <p:nvPr/>
        </p:nvSpPr>
        <p:spPr>
          <a:xfrm>
            <a:off x="822960" y="1737360"/>
            <a:ext cx="5029200" cy="320040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Java</a:t>
            </a:r>
            <a:br>
              <a:rPr lang="en-US" sz="5400" b="1" dirty="0">
                <a:solidFill>
                  <a:srgbClr val="FFFFFF"/>
                </a:solidFill>
                <a:latin typeface="Arial" pitchFamily="34" charset="0"/>
                <a:ea typeface="Arial" pitchFamily="34" charset="-122"/>
                <a:cs typeface="Arial" pitchFamily="34" charset="-120"/>
              </a:rPr>
            </a:br>
            <a:r>
              <a:rPr lang="en-US" sz="5400" b="1" dirty="0">
                <a:solidFill>
                  <a:srgbClr val="FFFFFF"/>
                </a:solidFill>
                <a:latin typeface="Arial" pitchFamily="34" charset="0"/>
                <a:ea typeface="Arial" pitchFamily="34" charset="-122"/>
                <a:cs typeface="Arial" pitchFamily="34" charset="-120"/>
              </a:rPr>
              <a:t>AWS</a:t>
            </a:r>
            <a:endParaRPr lang="en-US" sz="5400" dirty="0"/>
          </a:p>
        </p:txBody>
      </p:sp>
      <p:sp>
        <p:nvSpPr>
          <p:cNvPr id="10" name="Text 6"/>
          <p:cNvSpPr/>
          <p:nvPr/>
        </p:nvSpPr>
        <p:spPr>
          <a:xfrm>
            <a:off x="6675120" y="1234440"/>
            <a:ext cx="5029200" cy="320040"/>
          </a:xfrm>
          <a:prstGeom prst="rect">
            <a:avLst/>
          </a:prstGeom>
          <a:noFill/>
          <a:ln/>
        </p:spPr>
        <p:txBody>
          <a:bodyPr wrap="square" lIns="0" tIns="0" rIns="0" bIns="0" rtlCol="0" anchor="ctr"/>
          <a:lstStyle/>
          <a:p>
            <a:pPr marL="0" indent="0" algn="ctr">
              <a:buNone/>
            </a:pPr>
            <a:r>
              <a:rPr lang="en-US" sz="1200" b="1" kern="0" spc="200" dirty="0">
                <a:solidFill>
                  <a:srgbClr val="9257F1"/>
                </a:solidFill>
                <a:latin typeface="Arial" pitchFamily="34" charset="0"/>
                <a:ea typeface="Arial" pitchFamily="34" charset="-122"/>
                <a:cs typeface="Arial" pitchFamily="34" charset="-120"/>
              </a:rPr>
              <a:t>LO QUE USO TODOS LOS DÍAS</a:t>
            </a:r>
            <a:endParaRPr lang="en-US" sz="1200" dirty="0"/>
          </a:p>
        </p:txBody>
      </p:sp>
      <p:sp>
        <p:nvSpPr>
          <p:cNvPr id="11" name="Shape 7"/>
          <p:cNvSpPr/>
          <p:nvPr/>
        </p:nvSpPr>
        <p:spPr>
          <a:xfrm>
            <a:off x="6675120" y="1737360"/>
            <a:ext cx="5029200" cy="3200400"/>
          </a:xfrm>
          <a:prstGeom prst="rect">
            <a:avLst/>
          </a:prstGeom>
          <a:solidFill>
            <a:srgbClr val="231C3D"/>
          </a:solidFill>
          <a:ln w="12700">
            <a:solidFill>
              <a:srgbClr val="9257F1"/>
            </a:solidFill>
            <a:prstDash val="solid"/>
          </a:ln>
        </p:spPr>
        <p:txBody>
          <a:bodyPr/>
          <a:lstStyle/>
          <a:p>
            <a:endParaRPr lang="en-CO"/>
          </a:p>
        </p:txBody>
      </p:sp>
      <p:sp>
        <p:nvSpPr>
          <p:cNvPr id="12" name="Text 8"/>
          <p:cNvSpPr/>
          <p:nvPr/>
        </p:nvSpPr>
        <p:spPr>
          <a:xfrm>
            <a:off x="6675120" y="1737360"/>
            <a:ext cx="5029200" cy="3200400"/>
          </a:xfrm>
          <a:prstGeom prst="rect">
            <a:avLst/>
          </a:prstGeom>
          <a:noFill/>
          <a:ln/>
        </p:spPr>
        <p:txBody>
          <a:bodyPr wrap="square" lIns="0" tIns="0" rIns="0" bIns="0" rtlCol="0" anchor="ctr"/>
          <a:lstStyle/>
          <a:p>
            <a:pPr marL="0" indent="0" algn="ctr">
              <a:lnSpc>
                <a:spcPts val="4000"/>
              </a:lnSpc>
              <a:buNone/>
            </a:pPr>
            <a:r>
              <a:rPr lang="en-US" sz="2600" b="1" dirty="0">
                <a:solidFill>
                  <a:srgbClr val="FFFFFF"/>
                </a:solidFill>
                <a:latin typeface="Arial" pitchFamily="34" charset="0"/>
                <a:ea typeface="Arial" pitchFamily="34" charset="-122"/>
                <a:cs typeface="Arial" pitchFamily="34" charset="-120"/>
              </a:rPr>
              <a:t>Rust</a:t>
            </a:r>
            <a:endParaRPr lang="en-US" sz="2600" dirty="0"/>
          </a:p>
          <a:p>
            <a:pPr marL="0" indent="0" algn="ctr">
              <a:lnSpc>
                <a:spcPts val="4000"/>
              </a:lnSpc>
              <a:buNone/>
            </a:pPr>
            <a:r>
              <a:rPr lang="en-US" sz="2600" b="1" dirty="0">
                <a:solidFill>
                  <a:srgbClr val="FFFFFF"/>
                </a:solidFill>
                <a:latin typeface="Arial" pitchFamily="34" charset="0"/>
                <a:ea typeface="Arial" pitchFamily="34" charset="-122"/>
                <a:cs typeface="Arial" pitchFamily="34" charset="-120"/>
              </a:rPr>
              <a:t>Python</a:t>
            </a:r>
            <a:endParaRPr lang="en-US" sz="2600" dirty="0"/>
          </a:p>
          <a:p>
            <a:pPr marL="0" indent="0" algn="ctr">
              <a:lnSpc>
                <a:spcPts val="4000"/>
              </a:lnSpc>
              <a:buNone/>
            </a:pPr>
            <a:r>
              <a:rPr lang="en-US" sz="2600" b="1" dirty="0">
                <a:solidFill>
                  <a:srgbClr val="FFFFFF"/>
                </a:solidFill>
                <a:latin typeface="Arial" pitchFamily="34" charset="0"/>
                <a:ea typeface="Arial" pitchFamily="34" charset="-122"/>
                <a:cs typeface="Arial" pitchFamily="34" charset="-120"/>
              </a:rPr>
              <a:t>TypeScript</a:t>
            </a:r>
            <a:endParaRPr lang="en-US" sz="2600" dirty="0"/>
          </a:p>
          <a:p>
            <a:pPr marL="0" indent="0" algn="ctr">
              <a:lnSpc>
                <a:spcPts val="4000"/>
              </a:lnSpc>
              <a:buNone/>
            </a:pPr>
            <a:r>
              <a:rPr lang="en-US" sz="2600" b="1" dirty="0">
                <a:solidFill>
                  <a:srgbClr val="FFFFFF"/>
                </a:solidFill>
                <a:latin typeface="Arial" pitchFamily="34" charset="0"/>
                <a:ea typeface="Arial" pitchFamily="34" charset="-122"/>
                <a:cs typeface="Arial" pitchFamily="34" charset="-120"/>
              </a:rPr>
              <a:t>GCP  ·  Terraform</a:t>
            </a:r>
            <a:endParaRPr lang="en-US" sz="2600" dirty="0"/>
          </a:p>
        </p:txBody>
      </p:sp>
      <p:sp>
        <p:nvSpPr>
          <p:cNvPr id="13" name="Text 9"/>
          <p:cNvSpPr/>
          <p:nvPr/>
        </p:nvSpPr>
        <p:spPr>
          <a:xfrm>
            <a:off x="822960" y="5257800"/>
            <a:ext cx="10545775" cy="457200"/>
          </a:xfrm>
          <a:prstGeom prst="rect">
            <a:avLst/>
          </a:prstGeom>
          <a:noFill/>
          <a:ln/>
        </p:spPr>
        <p:txBody>
          <a:bodyPr wrap="square" lIns="0" tIns="0" rIns="0" bIns="0" rtlCol="0" anchor="ctr"/>
          <a:lstStyle/>
          <a:p>
            <a:pPr marL="0" indent="0" algn="ctr">
              <a:buNone/>
            </a:pPr>
            <a:r>
              <a:rPr lang="en-US" sz="2000" b="1" dirty="0">
                <a:solidFill>
                  <a:srgbClr val="9257F1"/>
                </a:solidFill>
                <a:latin typeface="Arial" pitchFamily="34" charset="0"/>
                <a:ea typeface="Arial" pitchFamily="34" charset="-122"/>
                <a:cs typeface="Arial" pitchFamily="34" charset="-120"/>
              </a:rPr>
              <a:t>Año y medio entregando. La empresa sabía que yo era Java, y me contrató igual.</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3.1  ·  21:06–22:31</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22/38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ACTO III · VIBE CODING</a:t>
            </a:r>
            <a:endParaRPr lang="en-US" sz="1200" dirty="0"/>
          </a:p>
        </p:txBody>
      </p:sp>
      <p:sp>
        <p:nvSpPr>
          <p:cNvPr id="7" name="Shape 3"/>
          <p:cNvSpPr/>
          <p:nvPr/>
        </p:nvSpPr>
        <p:spPr>
          <a:xfrm>
            <a:off x="822960" y="1463040"/>
            <a:ext cx="5760720" cy="731520"/>
          </a:xfrm>
          <a:prstGeom prst="roundRect">
            <a:avLst>
              <a:gd name="adj" fmla="val 18750"/>
            </a:avLst>
          </a:prstGeom>
          <a:solidFill>
            <a:srgbClr val="1E2739"/>
          </a:solidFill>
          <a:ln w="12700">
            <a:solidFill>
              <a:srgbClr val="2C3852"/>
            </a:solidFill>
            <a:prstDash val="solid"/>
          </a:ln>
        </p:spPr>
        <p:txBody>
          <a:bodyPr/>
          <a:lstStyle/>
          <a:p>
            <a:endParaRPr lang="en-CO"/>
          </a:p>
        </p:txBody>
      </p:sp>
      <p:sp>
        <p:nvSpPr>
          <p:cNvPr id="8" name="Text 4"/>
          <p:cNvSpPr/>
          <p:nvPr/>
        </p:nvSpPr>
        <p:spPr>
          <a:xfrm>
            <a:off x="1097280" y="1463040"/>
            <a:ext cx="5394960" cy="731520"/>
          </a:xfrm>
          <a:prstGeom prst="rect">
            <a:avLst/>
          </a:prstGeom>
          <a:noFill/>
          <a:ln/>
        </p:spPr>
        <p:txBody>
          <a:bodyPr wrap="square" lIns="0" tIns="0" rIns="0" bIns="0" rtlCol="0" anchor="ctr"/>
          <a:lstStyle/>
          <a:p>
            <a:pPr marL="0" indent="0">
              <a:buNone/>
            </a:pPr>
            <a:r>
              <a:rPr lang="en-US" sz="1800" dirty="0">
                <a:solidFill>
                  <a:srgbClr val="FFFFFF"/>
                </a:solidFill>
                <a:latin typeface="Arial" pitchFamily="34" charset="0"/>
                <a:ea typeface="Arial" pitchFamily="34" charset="-122"/>
                <a:cs typeface="Arial" pitchFamily="34" charset="-120"/>
              </a:rPr>
              <a:t>“Haz que este botón funcione.”</a:t>
            </a:r>
            <a:endParaRPr lang="en-US" sz="1800" dirty="0"/>
          </a:p>
        </p:txBody>
      </p:sp>
      <p:sp>
        <p:nvSpPr>
          <p:cNvPr id="9" name="Shape 5"/>
          <p:cNvSpPr/>
          <p:nvPr/>
        </p:nvSpPr>
        <p:spPr>
          <a:xfrm>
            <a:off x="1234440" y="2423160"/>
            <a:ext cx="5760720" cy="731520"/>
          </a:xfrm>
          <a:prstGeom prst="roundRect">
            <a:avLst>
              <a:gd name="adj" fmla="val 18750"/>
            </a:avLst>
          </a:prstGeom>
          <a:solidFill>
            <a:srgbClr val="1E2739"/>
          </a:solidFill>
          <a:ln w="12700">
            <a:solidFill>
              <a:srgbClr val="2C3852"/>
            </a:solidFill>
            <a:prstDash val="solid"/>
          </a:ln>
        </p:spPr>
        <p:txBody>
          <a:bodyPr/>
          <a:lstStyle/>
          <a:p>
            <a:endParaRPr lang="en-CO"/>
          </a:p>
        </p:txBody>
      </p:sp>
      <p:sp>
        <p:nvSpPr>
          <p:cNvPr id="10" name="Text 6"/>
          <p:cNvSpPr/>
          <p:nvPr/>
        </p:nvSpPr>
        <p:spPr>
          <a:xfrm>
            <a:off x="1508760" y="2423160"/>
            <a:ext cx="5394960" cy="731520"/>
          </a:xfrm>
          <a:prstGeom prst="rect">
            <a:avLst/>
          </a:prstGeom>
          <a:noFill/>
          <a:ln/>
        </p:spPr>
        <p:txBody>
          <a:bodyPr wrap="square" lIns="0" tIns="0" rIns="0" bIns="0" rtlCol="0" anchor="ctr"/>
          <a:lstStyle/>
          <a:p>
            <a:pPr marL="0" indent="0">
              <a:buNone/>
            </a:pPr>
            <a:r>
              <a:rPr lang="en-US" sz="1800" dirty="0">
                <a:solidFill>
                  <a:srgbClr val="FFFFFF"/>
                </a:solidFill>
                <a:latin typeface="Arial" pitchFamily="34" charset="0"/>
                <a:ea typeface="Arial" pitchFamily="34" charset="-122"/>
                <a:cs typeface="Arial" pitchFamily="34" charset="-120"/>
              </a:rPr>
              <a:t>“Ahora agrega autenticación.”</a:t>
            </a:r>
            <a:endParaRPr lang="en-US" sz="1800" dirty="0"/>
          </a:p>
        </p:txBody>
      </p:sp>
      <p:sp>
        <p:nvSpPr>
          <p:cNvPr id="11" name="Shape 7"/>
          <p:cNvSpPr/>
          <p:nvPr/>
        </p:nvSpPr>
        <p:spPr>
          <a:xfrm>
            <a:off x="1645920" y="3383280"/>
            <a:ext cx="5760720" cy="731520"/>
          </a:xfrm>
          <a:prstGeom prst="roundRect">
            <a:avLst>
              <a:gd name="adj" fmla="val 18750"/>
            </a:avLst>
          </a:prstGeom>
          <a:solidFill>
            <a:srgbClr val="1E2739"/>
          </a:solidFill>
          <a:ln w="12700">
            <a:solidFill>
              <a:srgbClr val="2C3852"/>
            </a:solidFill>
            <a:prstDash val="solid"/>
          </a:ln>
        </p:spPr>
        <p:txBody>
          <a:bodyPr/>
          <a:lstStyle/>
          <a:p>
            <a:endParaRPr lang="en-CO"/>
          </a:p>
        </p:txBody>
      </p:sp>
      <p:sp>
        <p:nvSpPr>
          <p:cNvPr id="12" name="Text 8"/>
          <p:cNvSpPr/>
          <p:nvPr/>
        </p:nvSpPr>
        <p:spPr>
          <a:xfrm>
            <a:off x="1920240" y="3383280"/>
            <a:ext cx="5394960" cy="731520"/>
          </a:xfrm>
          <a:prstGeom prst="rect">
            <a:avLst/>
          </a:prstGeom>
          <a:noFill/>
          <a:ln/>
        </p:spPr>
        <p:txBody>
          <a:bodyPr wrap="square" lIns="0" tIns="0" rIns="0" bIns="0" rtlCol="0" anchor="ctr"/>
          <a:lstStyle/>
          <a:p>
            <a:pPr marL="0" indent="0">
              <a:buNone/>
            </a:pPr>
            <a:r>
              <a:rPr lang="en-US" sz="1800" dirty="0">
                <a:solidFill>
                  <a:srgbClr val="FFFFFF"/>
                </a:solidFill>
                <a:latin typeface="Arial" pitchFamily="34" charset="0"/>
                <a:ea typeface="Arial" pitchFamily="34" charset="-122"/>
                <a:cs typeface="Arial" pitchFamily="34" charset="-120"/>
              </a:rPr>
              <a:t>“Ahora conecta una base de datos.”</a:t>
            </a:r>
            <a:endParaRPr lang="en-US" sz="1800" dirty="0"/>
          </a:p>
        </p:txBody>
      </p:sp>
      <p:sp>
        <p:nvSpPr>
          <p:cNvPr id="13" name="Shape 9"/>
          <p:cNvSpPr/>
          <p:nvPr/>
        </p:nvSpPr>
        <p:spPr>
          <a:xfrm>
            <a:off x="2057400" y="4343400"/>
            <a:ext cx="5760720" cy="731520"/>
          </a:xfrm>
          <a:prstGeom prst="roundRect">
            <a:avLst>
              <a:gd name="adj" fmla="val 18750"/>
            </a:avLst>
          </a:prstGeom>
          <a:solidFill>
            <a:srgbClr val="1E2739"/>
          </a:solidFill>
          <a:ln w="12700">
            <a:solidFill>
              <a:srgbClr val="2C3852"/>
            </a:solidFill>
            <a:prstDash val="solid"/>
          </a:ln>
        </p:spPr>
        <p:txBody>
          <a:bodyPr/>
          <a:lstStyle/>
          <a:p>
            <a:endParaRPr lang="en-CO"/>
          </a:p>
        </p:txBody>
      </p:sp>
      <p:sp>
        <p:nvSpPr>
          <p:cNvPr id="14" name="Text 10"/>
          <p:cNvSpPr/>
          <p:nvPr/>
        </p:nvSpPr>
        <p:spPr>
          <a:xfrm>
            <a:off x="2331720" y="4343400"/>
            <a:ext cx="5394960" cy="731520"/>
          </a:xfrm>
          <a:prstGeom prst="rect">
            <a:avLst/>
          </a:prstGeom>
          <a:noFill/>
          <a:ln/>
        </p:spPr>
        <p:txBody>
          <a:bodyPr wrap="square" lIns="0" tIns="0" rIns="0" bIns="0" rtlCol="0" anchor="ctr"/>
          <a:lstStyle/>
          <a:p>
            <a:pPr marL="0" indent="0">
              <a:buNone/>
            </a:pPr>
            <a:r>
              <a:rPr lang="en-US" sz="1800" dirty="0">
                <a:solidFill>
                  <a:srgbClr val="FFFFFF"/>
                </a:solidFill>
                <a:latin typeface="Arial" pitchFamily="34" charset="0"/>
                <a:ea typeface="Arial" pitchFamily="34" charset="-122"/>
                <a:cs typeface="Arial" pitchFamily="34" charset="-120"/>
              </a:rPr>
              <a:t>“Corrige este error.”</a:t>
            </a:r>
            <a:endParaRPr lang="en-US" sz="1800" dirty="0"/>
          </a:p>
        </p:txBody>
      </p:sp>
      <p:sp>
        <p:nvSpPr>
          <p:cNvPr id="15" name="Text 11"/>
          <p:cNvSpPr/>
          <p:nvPr/>
        </p:nvSpPr>
        <p:spPr>
          <a:xfrm>
            <a:off x="8229600" y="1463040"/>
            <a:ext cx="3108960" cy="3657600"/>
          </a:xfrm>
          <a:prstGeom prst="rect">
            <a:avLst/>
          </a:prstGeom>
          <a:noFill/>
          <a:ln/>
        </p:spPr>
        <p:txBody>
          <a:bodyPr wrap="square" lIns="0" tIns="0" rIns="0" bIns="0" rtlCol="0" anchor="ctr"/>
          <a:lstStyle/>
          <a:p>
            <a:pPr marL="0" indent="0">
              <a:lnSpc>
                <a:spcPts val="2800"/>
              </a:lnSpc>
              <a:buNone/>
            </a:pPr>
            <a:r>
              <a:rPr lang="en-US" sz="1900" dirty="0">
                <a:solidFill>
                  <a:srgbClr val="8A93A8"/>
                </a:solidFill>
                <a:latin typeface="Arial" pitchFamily="34" charset="0"/>
                <a:ea typeface="Arial" pitchFamily="34" charset="-122"/>
                <a:cs typeface="Arial" pitchFamily="34" charset="-120"/>
              </a:rPr>
              <a:t>Para prototipos, experimentos,</a:t>
            </a:r>
            <a:endParaRPr lang="en-US" sz="1900" dirty="0"/>
          </a:p>
          <a:p>
            <a:pPr marL="0" indent="0">
              <a:lnSpc>
                <a:spcPts val="2800"/>
              </a:lnSpc>
              <a:buNone/>
            </a:pPr>
            <a:r>
              <a:rPr lang="en-US" sz="1900" dirty="0">
                <a:solidFill>
                  <a:srgbClr val="8A93A8"/>
                </a:solidFill>
                <a:latin typeface="Arial" pitchFamily="34" charset="0"/>
                <a:ea typeface="Arial" pitchFamily="34" charset="-122"/>
                <a:cs typeface="Arial" pitchFamily="34" charset="-120"/>
              </a:rPr>
              <a:t>hackathones y aprender:</a:t>
            </a:r>
            <a:endParaRPr lang="en-US" sz="1900" dirty="0"/>
          </a:p>
          <a:p>
            <a:pPr marL="0" indent="0">
              <a:lnSpc>
                <a:spcPts val="2800"/>
              </a:lnSpc>
              <a:buNone/>
            </a:pPr>
            <a:r>
              <a:rPr lang="en-US" sz="1000" dirty="0">
                <a:solidFill>
                  <a:srgbClr val="000000"/>
                </a:solidFill>
                <a:latin typeface="Arial" pitchFamily="34" charset="0"/>
                <a:ea typeface="Arial" pitchFamily="34" charset="-122"/>
                <a:cs typeface="Arial" pitchFamily="34" charset="-120"/>
              </a:rPr>
              <a:t>
</a:t>
            </a:r>
            <a:endParaRPr lang="en-US" sz="1900" dirty="0"/>
          </a:p>
          <a:p>
            <a:pPr marL="0" indent="0">
              <a:lnSpc>
                <a:spcPts val="2800"/>
              </a:lnSpc>
              <a:buNone/>
            </a:pPr>
            <a:r>
              <a:rPr lang="en-US" sz="1900" b="1" dirty="0">
                <a:solidFill>
                  <a:srgbClr val="9257F1"/>
                </a:solidFill>
                <a:latin typeface="Arial" pitchFamily="34" charset="0"/>
                <a:ea typeface="Arial" pitchFamily="34" charset="-122"/>
                <a:cs typeface="Arial" pitchFamily="34" charset="-120"/>
              </a:rPr>
              <a:t>es increíble.</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3.1  ·  21:06–22:31</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23/38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914400" y="2194560"/>
            <a:ext cx="10362895" cy="914400"/>
          </a:xfrm>
          <a:prstGeom prst="rect">
            <a:avLst/>
          </a:prstGeom>
          <a:noFill/>
          <a:ln/>
        </p:spPr>
        <p:txBody>
          <a:bodyPr wrap="square" lIns="0" tIns="0" rIns="0" bIns="0" rtlCol="0" anchor="ctr"/>
          <a:lstStyle/>
          <a:p>
            <a:pPr marL="0" indent="0" algn="ctr">
              <a:buNone/>
            </a:pPr>
            <a:r>
              <a:rPr lang="en-US" sz="3400" dirty="0">
                <a:solidFill>
                  <a:srgbClr val="8A93A8"/>
                </a:solidFill>
                <a:latin typeface="Arial" pitchFamily="34" charset="0"/>
                <a:ea typeface="Arial" pitchFamily="34" charset="-122"/>
                <a:cs typeface="Arial" pitchFamily="34" charset="-120"/>
              </a:rPr>
              <a:t>“Funciona en mi computador.”</a:t>
            </a:r>
            <a:endParaRPr lang="en-US" sz="3400" dirty="0"/>
          </a:p>
        </p:txBody>
      </p:sp>
      <p:sp>
        <p:nvSpPr>
          <p:cNvPr id="7" name="Text 3"/>
          <p:cNvSpPr/>
          <p:nvPr/>
        </p:nvSpPr>
        <p:spPr>
          <a:xfrm>
            <a:off x="914400" y="3566160"/>
            <a:ext cx="10362895" cy="914400"/>
          </a:xfrm>
          <a:prstGeom prst="rect">
            <a:avLst/>
          </a:prstGeom>
          <a:noFill/>
          <a:ln/>
        </p:spPr>
        <p:txBody>
          <a:bodyPr wrap="square" lIns="0" tIns="0" rIns="0" bIns="0" rtlCol="0" anchor="ctr"/>
          <a:lstStyle/>
          <a:p>
            <a:pPr marL="0" indent="0" algn="ctr">
              <a:buNone/>
            </a:pPr>
            <a:r>
              <a:rPr lang="en-US" sz="3400" b="1" dirty="0">
                <a:solidFill>
                  <a:srgbClr val="FF5C6C"/>
                </a:solidFill>
                <a:latin typeface="Arial" pitchFamily="34" charset="0"/>
                <a:ea typeface="Arial" pitchFamily="34" charset="-122"/>
                <a:cs typeface="Arial" pitchFamily="34" charset="-120"/>
              </a:rPr>
              <a:t>“Está listo para producción.”</a:t>
            </a:r>
            <a:endParaRPr lang="en-US" sz="3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3.2  ·  22:31–24:30</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24/38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FF5C6C"/>
                </a:solidFill>
                <a:latin typeface="Arial" pitchFamily="34" charset="0"/>
                <a:ea typeface="Arial" pitchFamily="34" charset="-122"/>
                <a:cs typeface="Arial" pitchFamily="34" charset="-120"/>
              </a:rPr>
              <a:t>EL INTERROGATORIO</a:t>
            </a:r>
            <a:endParaRPr lang="en-US" sz="1200" dirty="0"/>
          </a:p>
        </p:txBody>
      </p:sp>
      <p:sp>
        <p:nvSpPr>
          <p:cNvPr id="7" name="Text 3"/>
          <p:cNvSpPr/>
          <p:nvPr/>
        </p:nvSpPr>
        <p:spPr>
          <a:xfrm>
            <a:off x="822960" y="1463040"/>
            <a:ext cx="6949440" cy="685800"/>
          </a:xfrm>
          <a:prstGeom prst="rect">
            <a:avLst/>
          </a:prstGeom>
          <a:noFill/>
          <a:ln/>
        </p:spPr>
        <p:txBody>
          <a:bodyPr wrap="square" lIns="0" tIns="0" rIns="0" bIns="0" rtlCol="0" anchor="ctr"/>
          <a:lstStyle/>
          <a:p>
            <a:pPr marL="0" indent="0">
              <a:buNone/>
            </a:pPr>
            <a:r>
              <a:rPr lang="en-US" sz="2100" dirty="0">
                <a:solidFill>
                  <a:srgbClr val="FFFFFF"/>
                </a:solidFill>
                <a:latin typeface="Arial" pitchFamily="34" charset="0"/>
                <a:ea typeface="Arial" pitchFamily="34" charset="-122"/>
                <a:cs typeface="Arial" pitchFamily="34" charset="-120"/>
              </a:rPr>
              <a:t>¿Cómo funciona la autenticación?</a:t>
            </a:r>
            <a:endParaRPr lang="en-US" sz="2100" dirty="0"/>
          </a:p>
        </p:txBody>
      </p:sp>
      <p:sp>
        <p:nvSpPr>
          <p:cNvPr id="8" name="Text 4"/>
          <p:cNvSpPr/>
          <p:nvPr/>
        </p:nvSpPr>
        <p:spPr>
          <a:xfrm>
            <a:off x="7955280" y="1463040"/>
            <a:ext cx="3383280" cy="685800"/>
          </a:xfrm>
          <a:prstGeom prst="rect">
            <a:avLst/>
          </a:prstGeom>
          <a:noFill/>
          <a:ln/>
        </p:spPr>
        <p:txBody>
          <a:bodyPr wrap="square" lIns="0" tIns="0" rIns="0" bIns="0" rtlCol="0" anchor="ctr"/>
          <a:lstStyle/>
          <a:p>
            <a:pPr marL="0" indent="0">
              <a:buNone/>
            </a:pPr>
            <a:r>
              <a:rPr lang="en-US" sz="2100" b="1" i="1" dirty="0">
                <a:solidFill>
                  <a:srgbClr val="FF5C6C"/>
                </a:solidFill>
                <a:latin typeface="Arial" pitchFamily="34" charset="0"/>
                <a:ea typeface="Arial" pitchFamily="34" charset="-122"/>
                <a:cs typeface="Arial" pitchFamily="34" charset="-120"/>
              </a:rPr>
              <a:t>No sabemos.</a:t>
            </a:r>
            <a:endParaRPr lang="en-US" sz="2100" dirty="0"/>
          </a:p>
        </p:txBody>
      </p:sp>
      <p:sp>
        <p:nvSpPr>
          <p:cNvPr id="9" name="Text 5"/>
          <p:cNvSpPr/>
          <p:nvPr/>
        </p:nvSpPr>
        <p:spPr>
          <a:xfrm>
            <a:off x="822960" y="2377440"/>
            <a:ext cx="6949440" cy="685800"/>
          </a:xfrm>
          <a:prstGeom prst="rect">
            <a:avLst/>
          </a:prstGeom>
          <a:noFill/>
          <a:ln/>
        </p:spPr>
        <p:txBody>
          <a:bodyPr wrap="square" lIns="0" tIns="0" rIns="0" bIns="0" rtlCol="0" anchor="ctr"/>
          <a:lstStyle/>
          <a:p>
            <a:pPr marL="0" indent="0">
              <a:buNone/>
            </a:pPr>
            <a:r>
              <a:rPr lang="en-US" sz="2100" dirty="0">
                <a:solidFill>
                  <a:srgbClr val="FFFFFF"/>
                </a:solidFill>
                <a:latin typeface="Arial" pitchFamily="34" charset="0"/>
                <a:ea typeface="Arial" pitchFamily="34" charset="-122"/>
                <a:cs typeface="Arial" pitchFamily="34" charset="-120"/>
              </a:rPr>
              <a:t>¿Por qué elegimos esta base de datos?</a:t>
            </a:r>
            <a:endParaRPr lang="en-US" sz="2100" dirty="0"/>
          </a:p>
        </p:txBody>
      </p:sp>
      <p:sp>
        <p:nvSpPr>
          <p:cNvPr id="10" name="Text 6"/>
          <p:cNvSpPr/>
          <p:nvPr/>
        </p:nvSpPr>
        <p:spPr>
          <a:xfrm>
            <a:off x="7955280" y="2377440"/>
            <a:ext cx="3383280" cy="685800"/>
          </a:xfrm>
          <a:prstGeom prst="rect">
            <a:avLst/>
          </a:prstGeom>
          <a:noFill/>
          <a:ln/>
        </p:spPr>
        <p:txBody>
          <a:bodyPr wrap="square" lIns="0" tIns="0" rIns="0" bIns="0" rtlCol="0" anchor="ctr"/>
          <a:lstStyle/>
          <a:p>
            <a:pPr marL="0" indent="0">
              <a:buNone/>
            </a:pPr>
            <a:r>
              <a:rPr lang="en-US" sz="2100" b="1" i="1" dirty="0">
                <a:solidFill>
                  <a:srgbClr val="FF5C6C"/>
                </a:solidFill>
                <a:latin typeface="Arial" pitchFamily="34" charset="0"/>
                <a:ea typeface="Arial" pitchFamily="34" charset="-122"/>
                <a:cs typeface="Arial" pitchFamily="34" charset="-120"/>
              </a:rPr>
              <a:t>No sabemos.</a:t>
            </a:r>
            <a:endParaRPr lang="en-US" sz="2100" dirty="0"/>
          </a:p>
        </p:txBody>
      </p:sp>
      <p:sp>
        <p:nvSpPr>
          <p:cNvPr id="11" name="Text 7"/>
          <p:cNvSpPr/>
          <p:nvPr/>
        </p:nvSpPr>
        <p:spPr>
          <a:xfrm>
            <a:off x="822960" y="3291840"/>
            <a:ext cx="6949440" cy="685800"/>
          </a:xfrm>
          <a:prstGeom prst="rect">
            <a:avLst/>
          </a:prstGeom>
          <a:noFill/>
          <a:ln/>
        </p:spPr>
        <p:txBody>
          <a:bodyPr wrap="square" lIns="0" tIns="0" rIns="0" bIns="0" rtlCol="0" anchor="ctr"/>
          <a:lstStyle/>
          <a:p>
            <a:pPr marL="0" indent="0">
              <a:buNone/>
            </a:pPr>
            <a:r>
              <a:rPr lang="en-US" sz="2100" dirty="0">
                <a:solidFill>
                  <a:srgbClr val="FFFFFF"/>
                </a:solidFill>
                <a:latin typeface="Arial" pitchFamily="34" charset="0"/>
                <a:ea typeface="Arial" pitchFamily="34" charset="-122"/>
                <a:cs typeface="Arial" pitchFamily="34" charset="-120"/>
              </a:rPr>
              <a:t>¿Qué pasa con diez mil usuarios concurrentes?</a:t>
            </a:r>
            <a:endParaRPr lang="en-US" sz="2100" dirty="0"/>
          </a:p>
        </p:txBody>
      </p:sp>
      <p:sp>
        <p:nvSpPr>
          <p:cNvPr id="12" name="Text 8"/>
          <p:cNvSpPr/>
          <p:nvPr/>
        </p:nvSpPr>
        <p:spPr>
          <a:xfrm>
            <a:off x="7955280" y="3291840"/>
            <a:ext cx="3383280" cy="685800"/>
          </a:xfrm>
          <a:prstGeom prst="rect">
            <a:avLst/>
          </a:prstGeom>
          <a:noFill/>
          <a:ln/>
        </p:spPr>
        <p:txBody>
          <a:bodyPr wrap="square" lIns="0" tIns="0" rIns="0" bIns="0" rtlCol="0" anchor="ctr"/>
          <a:lstStyle/>
          <a:p>
            <a:pPr marL="0" indent="0">
              <a:buNone/>
            </a:pPr>
            <a:r>
              <a:rPr lang="en-US" sz="2100" b="1" i="1" dirty="0">
                <a:solidFill>
                  <a:srgbClr val="FF5C6C"/>
                </a:solidFill>
                <a:latin typeface="Arial" pitchFamily="34" charset="0"/>
                <a:ea typeface="Arial" pitchFamily="34" charset="-122"/>
                <a:cs typeface="Arial" pitchFamily="34" charset="-120"/>
              </a:rPr>
              <a:t>No sabemos.</a:t>
            </a:r>
            <a:endParaRPr lang="en-US" sz="2100" dirty="0"/>
          </a:p>
        </p:txBody>
      </p:sp>
      <p:sp>
        <p:nvSpPr>
          <p:cNvPr id="13" name="Text 9"/>
          <p:cNvSpPr/>
          <p:nvPr/>
        </p:nvSpPr>
        <p:spPr>
          <a:xfrm>
            <a:off x="822960" y="4206240"/>
            <a:ext cx="6949440" cy="685800"/>
          </a:xfrm>
          <a:prstGeom prst="rect">
            <a:avLst/>
          </a:prstGeom>
          <a:noFill/>
          <a:ln/>
        </p:spPr>
        <p:txBody>
          <a:bodyPr wrap="square" lIns="0" tIns="0" rIns="0" bIns="0" rtlCol="0" anchor="ctr"/>
          <a:lstStyle/>
          <a:p>
            <a:pPr marL="0" indent="0">
              <a:buNone/>
            </a:pPr>
            <a:r>
              <a:rPr lang="en-US" sz="2100" dirty="0">
                <a:solidFill>
                  <a:srgbClr val="FFFFFF"/>
                </a:solidFill>
                <a:latin typeface="Arial" pitchFamily="34" charset="0"/>
                <a:ea typeface="Arial" pitchFamily="34" charset="-122"/>
                <a:cs typeface="Arial" pitchFamily="34" charset="-120"/>
              </a:rPr>
              <a:t>¿Dónde están almacenados los secretos?</a:t>
            </a:r>
            <a:endParaRPr lang="en-US" sz="2100" dirty="0"/>
          </a:p>
        </p:txBody>
      </p:sp>
      <p:sp>
        <p:nvSpPr>
          <p:cNvPr id="14" name="Text 10"/>
          <p:cNvSpPr/>
          <p:nvPr/>
        </p:nvSpPr>
        <p:spPr>
          <a:xfrm>
            <a:off x="7955280" y="4206240"/>
            <a:ext cx="3383280" cy="685800"/>
          </a:xfrm>
          <a:prstGeom prst="rect">
            <a:avLst/>
          </a:prstGeom>
          <a:noFill/>
          <a:ln/>
        </p:spPr>
        <p:txBody>
          <a:bodyPr wrap="square" lIns="0" tIns="0" rIns="0" bIns="0" rtlCol="0" anchor="ctr"/>
          <a:lstStyle/>
          <a:p>
            <a:pPr marL="0" indent="0">
              <a:buNone/>
            </a:pPr>
            <a:r>
              <a:rPr lang="en-US" sz="2100" b="1" i="1" dirty="0">
                <a:solidFill>
                  <a:srgbClr val="FF5C6C"/>
                </a:solidFill>
                <a:latin typeface="Arial" pitchFamily="34" charset="0"/>
                <a:ea typeface="Arial" pitchFamily="34" charset="-122"/>
                <a:cs typeface="Arial" pitchFamily="34" charset="-120"/>
              </a:rPr>
              <a:t>No sabemos.</a:t>
            </a:r>
            <a:endParaRPr lang="en-US" sz="2100" dirty="0"/>
          </a:p>
        </p:txBody>
      </p:sp>
      <p:sp>
        <p:nvSpPr>
          <p:cNvPr id="15" name="Text 11"/>
          <p:cNvSpPr/>
          <p:nvPr/>
        </p:nvSpPr>
        <p:spPr>
          <a:xfrm>
            <a:off x="822960" y="5120640"/>
            <a:ext cx="6949440" cy="685800"/>
          </a:xfrm>
          <a:prstGeom prst="rect">
            <a:avLst/>
          </a:prstGeom>
          <a:noFill/>
          <a:ln/>
        </p:spPr>
        <p:txBody>
          <a:bodyPr wrap="square" lIns="0" tIns="0" rIns="0" bIns="0" rtlCol="0" anchor="ctr"/>
          <a:lstStyle/>
          <a:p>
            <a:pPr marL="0" indent="0">
              <a:buNone/>
            </a:pPr>
            <a:r>
              <a:rPr lang="en-US" sz="2100" dirty="0">
                <a:solidFill>
                  <a:srgbClr val="FFFFFF"/>
                </a:solidFill>
                <a:latin typeface="Arial" pitchFamily="34" charset="0"/>
                <a:ea typeface="Arial" pitchFamily="34" charset="-122"/>
                <a:cs typeface="Arial" pitchFamily="34" charset="-120"/>
              </a:rPr>
              <a:t>¿Cuánto cuesta operar esto?</a:t>
            </a:r>
            <a:endParaRPr lang="en-US" sz="2100" dirty="0"/>
          </a:p>
        </p:txBody>
      </p:sp>
      <p:sp>
        <p:nvSpPr>
          <p:cNvPr id="16" name="Text 12"/>
          <p:cNvSpPr/>
          <p:nvPr/>
        </p:nvSpPr>
        <p:spPr>
          <a:xfrm>
            <a:off x="7955280" y="5120640"/>
            <a:ext cx="3383280" cy="685800"/>
          </a:xfrm>
          <a:prstGeom prst="rect">
            <a:avLst/>
          </a:prstGeom>
          <a:noFill/>
          <a:ln/>
        </p:spPr>
        <p:txBody>
          <a:bodyPr wrap="square" lIns="0" tIns="0" rIns="0" bIns="0" rtlCol="0" anchor="ctr"/>
          <a:lstStyle/>
          <a:p>
            <a:pPr marL="0" indent="0">
              <a:buNone/>
            </a:pPr>
            <a:r>
              <a:rPr lang="en-US" sz="2100" b="1" i="1" dirty="0">
                <a:solidFill>
                  <a:srgbClr val="FF5C6C"/>
                </a:solidFill>
                <a:latin typeface="Arial" pitchFamily="34" charset="0"/>
                <a:ea typeface="Arial" pitchFamily="34" charset="-122"/>
                <a:cs typeface="Arial" pitchFamily="34" charset="-120"/>
              </a:rPr>
              <a:t>No sabemos.</a:t>
            </a:r>
            <a:endParaRPr lang="en-US" sz="2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animBg="1"/>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3.2  ·  22:31–24:30</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25/38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914400" y="1097280"/>
            <a:ext cx="10362895" cy="4480560"/>
          </a:xfrm>
          <a:prstGeom prst="rect">
            <a:avLst/>
          </a:prstGeom>
          <a:noFill/>
          <a:ln/>
        </p:spPr>
        <p:txBody>
          <a:bodyPr wrap="square" lIns="0" tIns="0" rIns="0" bIns="0" rtlCol="0" anchor="ctr"/>
          <a:lstStyle/>
          <a:p>
            <a:pPr marL="0" indent="0" algn="ctr">
              <a:lnSpc>
                <a:spcPts val="4600"/>
              </a:lnSpc>
              <a:buNone/>
            </a:pPr>
            <a:r>
              <a:rPr lang="en-US" sz="4200" b="1" dirty="0">
                <a:solidFill>
                  <a:srgbClr val="FFFFFF"/>
                </a:solidFill>
                <a:latin typeface="Arial" pitchFamily="34" charset="0"/>
                <a:ea typeface="Arial" pitchFamily="34" charset="-122"/>
                <a:cs typeface="Arial" pitchFamily="34" charset="-120"/>
              </a:rPr>
              <a:t>Somos propietarios de un sistema</a:t>
            </a:r>
            <a:endParaRPr lang="en-US" sz="4200" dirty="0"/>
          </a:p>
          <a:p>
            <a:pPr marL="0" indent="0" algn="ctr">
              <a:lnSpc>
                <a:spcPts val="4600"/>
              </a:lnSpc>
              <a:buNone/>
            </a:pPr>
            <a:r>
              <a:rPr lang="en-US" sz="4200" b="1" dirty="0">
                <a:solidFill>
                  <a:srgbClr val="FF5C6C"/>
                </a:solidFill>
                <a:latin typeface="Arial" pitchFamily="34" charset="0"/>
                <a:ea typeface="Arial" pitchFamily="34" charset="-122"/>
                <a:cs typeface="Arial" pitchFamily="34" charset="-120"/>
              </a:rPr>
              <a:t>que no entendemos.</a:t>
            </a:r>
            <a:endParaRPr lang="en-US" sz="4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3.3  ·  24:30–25:45</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26/38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914400" y="1097280"/>
            <a:ext cx="10362895" cy="4480560"/>
          </a:xfrm>
          <a:prstGeom prst="rect">
            <a:avLst/>
          </a:prstGeom>
          <a:noFill/>
          <a:ln/>
        </p:spPr>
        <p:txBody>
          <a:bodyPr wrap="square" lIns="0" tIns="0" rIns="0" bIns="0" rtlCol="0" anchor="ctr"/>
          <a:lstStyle/>
          <a:p>
            <a:pPr marL="0" indent="0" algn="ctr">
              <a:lnSpc>
                <a:spcPts val="5000"/>
              </a:lnSpc>
              <a:buNone/>
            </a:pPr>
            <a:r>
              <a:rPr lang="en-US" sz="3600" b="1" dirty="0">
                <a:solidFill>
                  <a:srgbClr val="FFFFFF"/>
                </a:solidFill>
                <a:latin typeface="Arial" pitchFamily="34" charset="0"/>
                <a:ea typeface="Arial" pitchFamily="34" charset="-122"/>
                <a:cs typeface="Arial" pitchFamily="34" charset="-120"/>
              </a:rPr>
              <a:t>Mientras más código pueda escribir la IA,</a:t>
            </a:r>
            <a:endParaRPr lang="en-US" sz="3600" dirty="0"/>
          </a:p>
          <a:p>
            <a:pPr marL="0" indent="0" algn="ctr">
              <a:lnSpc>
                <a:spcPts val="5000"/>
              </a:lnSpc>
              <a:buNone/>
            </a:pPr>
            <a:r>
              <a:rPr lang="en-US" sz="3600" b="1" dirty="0">
                <a:solidFill>
                  <a:srgbClr val="FFFFFF"/>
                </a:solidFill>
                <a:latin typeface="Arial" pitchFamily="34" charset="0"/>
                <a:ea typeface="Arial" pitchFamily="34" charset="-122"/>
                <a:cs typeface="Arial" pitchFamily="34" charset="-120"/>
              </a:rPr>
              <a:t>más importantes se vuelven</a:t>
            </a:r>
            <a:endParaRPr lang="en-US" sz="3600" dirty="0"/>
          </a:p>
          <a:p>
            <a:pPr marL="0" indent="0" algn="ctr">
              <a:lnSpc>
                <a:spcPts val="5000"/>
              </a:lnSpc>
              <a:buNone/>
            </a:pPr>
            <a:r>
              <a:rPr lang="en-US" sz="3600" b="1" dirty="0">
                <a:solidFill>
                  <a:srgbClr val="9257F1"/>
                </a:solidFill>
                <a:latin typeface="Arial" pitchFamily="34" charset="0"/>
                <a:ea typeface="Arial" pitchFamily="34" charset="-122"/>
                <a:cs typeface="Arial" pitchFamily="34" charset="-120"/>
              </a:rPr>
              <a:t>los fundamentos de ingeniería.</a:t>
            </a:r>
            <a:endParaRPr lang="en-US" sz="3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4.1  ·  25:45–27:00</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27/38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ACTO IV · ¿VALE LA PENA APRENDER A PROGRAMAR?</a:t>
            </a:r>
            <a:endParaRPr lang="en-US" sz="1200" dirty="0"/>
          </a:p>
        </p:txBody>
      </p:sp>
      <p:sp>
        <p:nvSpPr>
          <p:cNvPr id="7" name="Shape 3"/>
          <p:cNvSpPr/>
          <p:nvPr/>
        </p:nvSpPr>
        <p:spPr>
          <a:xfrm>
            <a:off x="822960" y="1737360"/>
            <a:ext cx="4297680" cy="2560320"/>
          </a:xfrm>
          <a:prstGeom prst="rect">
            <a:avLst/>
          </a:prstGeom>
          <a:solidFill>
            <a:srgbClr val="1E2739"/>
          </a:solidFill>
          <a:ln w="12700">
            <a:solidFill>
              <a:srgbClr val="2C3852"/>
            </a:solidFill>
            <a:prstDash val="solid"/>
          </a:ln>
        </p:spPr>
        <p:txBody>
          <a:bodyPr/>
          <a:lstStyle/>
          <a:p>
            <a:endParaRPr lang="en-CO"/>
          </a:p>
        </p:txBody>
      </p:sp>
      <p:sp>
        <p:nvSpPr>
          <p:cNvPr id="8" name="Text 4"/>
          <p:cNvSpPr/>
          <p:nvPr/>
        </p:nvSpPr>
        <p:spPr>
          <a:xfrm>
            <a:off x="822960" y="1737360"/>
            <a:ext cx="4297680" cy="2560320"/>
          </a:xfrm>
          <a:prstGeom prst="rect">
            <a:avLst/>
          </a:prstGeom>
          <a:noFill/>
          <a:ln/>
        </p:spPr>
        <p:txBody>
          <a:bodyPr wrap="square" lIns="0" tIns="0" rIns="0" bIns="0" rtlCol="0" anchor="ctr"/>
          <a:lstStyle/>
          <a:p>
            <a:pPr marL="0" indent="0" algn="ctr">
              <a:lnSpc>
                <a:spcPts val="3200"/>
              </a:lnSpc>
              <a:buNone/>
            </a:pPr>
            <a:r>
              <a:rPr lang="en-US" sz="2200" strike="sngStrike" dirty="0">
                <a:solidFill>
                  <a:srgbClr val="6B7791"/>
                </a:solidFill>
                <a:latin typeface="Courier New" pitchFamily="34" charset="0"/>
                <a:ea typeface="Courier New" pitchFamily="34" charset="-122"/>
                <a:cs typeface="Courier New" pitchFamily="34" charset="-120"/>
              </a:rPr>
              <a:t>for</a:t>
            </a:r>
            <a:endParaRPr lang="en-US" sz="2200" dirty="0"/>
          </a:p>
          <a:p>
            <a:pPr marL="0" indent="0" algn="ctr">
              <a:lnSpc>
                <a:spcPts val="3200"/>
              </a:lnSpc>
              <a:buNone/>
            </a:pPr>
            <a:r>
              <a:rPr lang="en-US" sz="2200" strike="sngStrike" dirty="0">
                <a:solidFill>
                  <a:srgbClr val="6B7791"/>
                </a:solidFill>
                <a:latin typeface="Courier New" pitchFamily="34" charset="0"/>
                <a:ea typeface="Courier New" pitchFamily="34" charset="-122"/>
                <a:cs typeface="Courier New" pitchFamily="34" charset="-120"/>
              </a:rPr>
              <a:t>if</a:t>
            </a:r>
            <a:endParaRPr lang="en-US" sz="2200" dirty="0"/>
          </a:p>
          <a:p>
            <a:pPr marL="0" indent="0" algn="ctr">
              <a:lnSpc>
                <a:spcPts val="3200"/>
              </a:lnSpc>
              <a:buNone/>
            </a:pPr>
            <a:r>
              <a:rPr lang="en-US" sz="2200" strike="sngStrike" dirty="0">
                <a:solidFill>
                  <a:srgbClr val="6B7791"/>
                </a:solidFill>
                <a:latin typeface="Courier New" pitchFamily="34" charset="0"/>
                <a:ea typeface="Courier New" pitchFamily="34" charset="-122"/>
                <a:cs typeface="Courier New" pitchFamily="34" charset="-120"/>
              </a:rPr>
              <a:t>while</a:t>
            </a:r>
            <a:endParaRPr lang="en-US" sz="2200" dirty="0"/>
          </a:p>
          <a:p>
            <a:pPr marL="0" indent="0" algn="ctr">
              <a:lnSpc>
                <a:spcPts val="3200"/>
              </a:lnSpc>
              <a:buNone/>
            </a:pPr>
            <a:r>
              <a:rPr lang="en-US" sz="2200" strike="sngStrike" dirty="0">
                <a:solidFill>
                  <a:srgbClr val="6B7791"/>
                </a:solidFill>
                <a:latin typeface="Courier New" pitchFamily="34" charset="0"/>
                <a:ea typeface="Courier New" pitchFamily="34" charset="-122"/>
                <a:cs typeface="Courier New" pitchFamily="34" charset="-120"/>
              </a:rPr>
              <a:t>class</a:t>
            </a:r>
            <a:endParaRPr lang="en-US" sz="2200" dirty="0"/>
          </a:p>
          <a:p>
            <a:pPr marL="0" indent="0" algn="ctr">
              <a:lnSpc>
                <a:spcPts val="3200"/>
              </a:lnSpc>
              <a:buNone/>
            </a:pPr>
            <a:r>
              <a:rPr lang="en-US" sz="2200" strike="sngStrike" dirty="0">
                <a:solidFill>
                  <a:srgbClr val="6B7791"/>
                </a:solidFill>
                <a:latin typeface="Courier New" pitchFamily="34" charset="0"/>
                <a:ea typeface="Courier New" pitchFamily="34" charset="-122"/>
                <a:cs typeface="Courier New" pitchFamily="34" charset="-120"/>
              </a:rPr>
              <a:t>function</a:t>
            </a:r>
            <a:endParaRPr lang="en-US" sz="2200" dirty="0"/>
          </a:p>
        </p:txBody>
      </p:sp>
      <p:sp>
        <p:nvSpPr>
          <p:cNvPr id="9" name="Text 5"/>
          <p:cNvSpPr/>
          <p:nvPr/>
        </p:nvSpPr>
        <p:spPr>
          <a:xfrm>
            <a:off x="822960" y="4434840"/>
            <a:ext cx="4297680" cy="365760"/>
          </a:xfrm>
          <a:prstGeom prst="rect">
            <a:avLst/>
          </a:prstGeom>
          <a:noFill/>
          <a:ln/>
        </p:spPr>
        <p:txBody>
          <a:bodyPr wrap="square" lIns="0" tIns="0" rIns="0" bIns="0" rtlCol="0" anchor="ctr"/>
          <a:lstStyle/>
          <a:p>
            <a:pPr marL="0" indent="0" algn="ctr">
              <a:buNone/>
            </a:pPr>
            <a:r>
              <a:rPr lang="en-US" sz="1500" i="1" dirty="0">
                <a:solidFill>
                  <a:srgbClr val="8A93A8"/>
                </a:solidFill>
                <a:latin typeface="Arial" pitchFamily="34" charset="0"/>
                <a:ea typeface="Arial" pitchFamily="34" charset="-122"/>
                <a:cs typeface="Arial" pitchFamily="34" charset="-120"/>
              </a:rPr>
              <a:t>No es esto.</a:t>
            </a:r>
            <a:endParaRPr lang="en-US" sz="1500" dirty="0"/>
          </a:p>
        </p:txBody>
      </p:sp>
      <p:sp>
        <p:nvSpPr>
          <p:cNvPr id="10" name="Text 6"/>
          <p:cNvSpPr/>
          <p:nvPr/>
        </p:nvSpPr>
        <p:spPr>
          <a:xfrm>
            <a:off x="5669280" y="1325880"/>
            <a:ext cx="5760720" cy="4206240"/>
          </a:xfrm>
          <a:prstGeom prst="rect">
            <a:avLst/>
          </a:prstGeom>
          <a:noFill/>
          <a:ln/>
        </p:spPr>
        <p:txBody>
          <a:bodyPr wrap="square" lIns="0" tIns="0" rIns="0" bIns="0" rtlCol="0" anchor="t"/>
          <a:lstStyle/>
          <a:p>
            <a:pPr marL="0" indent="0" algn="l">
              <a:lnSpc>
                <a:spcPts val="3000"/>
              </a:lnSpc>
              <a:buNone/>
            </a:pPr>
            <a:r>
              <a:rPr lang="en-US" sz="1800" dirty="0">
                <a:solidFill>
                  <a:srgbClr val="FFFFFF"/>
                </a:solidFill>
                <a:latin typeface="Arial" pitchFamily="34" charset="0"/>
                <a:ea typeface="Arial" pitchFamily="34" charset="-122"/>
                <a:cs typeface="Arial" pitchFamily="34" charset="-120"/>
              </a:rPr>
              <a:t>Dividir problemas grandes en pequeños</a:t>
            </a:r>
            <a:endParaRPr lang="en-US" sz="1800" dirty="0"/>
          </a:p>
          <a:p>
            <a:pPr marL="0" indent="0" algn="l">
              <a:lnSpc>
                <a:spcPts val="3000"/>
              </a:lnSpc>
              <a:buNone/>
            </a:pPr>
            <a:r>
              <a:rPr lang="en-US" sz="1800" dirty="0">
                <a:solidFill>
                  <a:srgbClr val="FFFFFF"/>
                </a:solidFill>
                <a:latin typeface="Arial" pitchFamily="34" charset="0"/>
                <a:ea typeface="Arial" pitchFamily="34" charset="-122"/>
                <a:cs typeface="Arial" pitchFamily="34" charset="-120"/>
              </a:rPr>
              <a:t>Construir abstracciones</a:t>
            </a:r>
            <a:endParaRPr lang="en-US" sz="1800" dirty="0"/>
          </a:p>
          <a:p>
            <a:pPr marL="0" indent="0" algn="l">
              <a:lnSpc>
                <a:spcPts val="3000"/>
              </a:lnSpc>
              <a:buNone/>
            </a:pPr>
            <a:r>
              <a:rPr lang="en-US" sz="1800" dirty="0">
                <a:solidFill>
                  <a:srgbClr val="FFFFFF"/>
                </a:solidFill>
                <a:latin typeface="Arial" pitchFamily="34" charset="0"/>
                <a:ea typeface="Arial" pitchFamily="34" charset="-122"/>
                <a:cs typeface="Arial" pitchFamily="34" charset="-120"/>
              </a:rPr>
              <a:t>Modelar información</a:t>
            </a:r>
            <a:endParaRPr lang="en-US" sz="1800" dirty="0"/>
          </a:p>
          <a:p>
            <a:pPr marL="0" indent="0" algn="l">
              <a:lnSpc>
                <a:spcPts val="3000"/>
              </a:lnSpc>
              <a:buNone/>
            </a:pPr>
            <a:r>
              <a:rPr lang="en-US" sz="1800" dirty="0">
                <a:solidFill>
                  <a:srgbClr val="FFFFFF"/>
                </a:solidFill>
                <a:latin typeface="Arial" pitchFamily="34" charset="0"/>
                <a:ea typeface="Arial" pitchFamily="34" charset="-122"/>
                <a:cs typeface="Arial" pitchFamily="34" charset="-120"/>
              </a:rPr>
              <a:t>Pensar en estados</a:t>
            </a:r>
            <a:endParaRPr lang="en-US" sz="1800" dirty="0"/>
          </a:p>
          <a:p>
            <a:pPr marL="0" indent="0" algn="l">
              <a:lnSpc>
                <a:spcPts val="3000"/>
              </a:lnSpc>
              <a:buNone/>
            </a:pPr>
            <a:r>
              <a:rPr lang="en-US" sz="1800" dirty="0">
                <a:solidFill>
                  <a:srgbClr val="FFFFFF"/>
                </a:solidFill>
                <a:latin typeface="Arial" pitchFamily="34" charset="0"/>
                <a:ea typeface="Arial" pitchFamily="34" charset="-122"/>
                <a:cs typeface="Arial" pitchFamily="34" charset="-120"/>
              </a:rPr>
              <a:t>Manejar errores</a:t>
            </a:r>
            <a:endParaRPr lang="en-US" sz="1800" dirty="0"/>
          </a:p>
          <a:p>
            <a:pPr marL="0" indent="0" algn="l">
              <a:lnSpc>
                <a:spcPts val="3000"/>
              </a:lnSpc>
              <a:buNone/>
            </a:pPr>
            <a:r>
              <a:rPr lang="en-US" sz="1800" dirty="0">
                <a:solidFill>
                  <a:srgbClr val="FFFFFF"/>
                </a:solidFill>
                <a:latin typeface="Arial" pitchFamily="34" charset="0"/>
                <a:ea typeface="Arial" pitchFamily="34" charset="-122"/>
                <a:cs typeface="Arial" pitchFamily="34" charset="-120"/>
              </a:rPr>
              <a:t>Comprender algoritmos</a:t>
            </a:r>
            <a:endParaRPr lang="en-US" sz="1800" dirty="0"/>
          </a:p>
          <a:p>
            <a:pPr marL="0" indent="0" algn="l">
              <a:lnSpc>
                <a:spcPts val="3000"/>
              </a:lnSpc>
              <a:buNone/>
            </a:pPr>
            <a:r>
              <a:rPr lang="en-US" sz="1800" dirty="0">
                <a:solidFill>
                  <a:srgbClr val="FFFFFF"/>
                </a:solidFill>
                <a:latin typeface="Arial" pitchFamily="34" charset="0"/>
                <a:ea typeface="Arial" pitchFamily="34" charset="-122"/>
                <a:cs typeface="Arial" pitchFamily="34" charset="-120"/>
              </a:rPr>
              <a:t>Razonar sobre eficiencia</a:t>
            </a:r>
            <a:endParaRPr lang="en-US" sz="1800" dirty="0"/>
          </a:p>
          <a:p>
            <a:pPr marL="0" indent="0" algn="l">
              <a:lnSpc>
                <a:spcPts val="3000"/>
              </a:lnSpc>
              <a:buNone/>
            </a:pPr>
            <a:r>
              <a:rPr lang="en-US" sz="1800" dirty="0">
                <a:solidFill>
                  <a:srgbClr val="FFFFFF"/>
                </a:solidFill>
                <a:latin typeface="Arial" pitchFamily="34" charset="0"/>
                <a:ea typeface="Arial" pitchFamily="34" charset="-122"/>
                <a:cs typeface="Arial" pitchFamily="34" charset="-120"/>
              </a:rPr>
              <a:t>Diseñar interfaces</a:t>
            </a:r>
            <a:endParaRPr lang="en-US" sz="1800" dirty="0"/>
          </a:p>
          <a:p>
            <a:pPr marL="0" indent="0" algn="l">
              <a:lnSpc>
                <a:spcPts val="3000"/>
              </a:lnSpc>
              <a:buNone/>
            </a:pPr>
            <a:r>
              <a:rPr lang="en-US" sz="1800" dirty="0">
                <a:solidFill>
                  <a:srgbClr val="FFFFFF"/>
                </a:solidFill>
                <a:latin typeface="Arial" pitchFamily="34" charset="0"/>
                <a:ea typeface="Arial" pitchFamily="34" charset="-122"/>
                <a:cs typeface="Arial" pitchFamily="34" charset="-120"/>
              </a:rPr>
              <a:t>Depurar sistemas</a:t>
            </a:r>
            <a:endParaRPr lang="en-US" sz="1800" dirty="0"/>
          </a:p>
          <a:p>
            <a:pPr marL="0" indent="0" algn="l">
              <a:lnSpc>
                <a:spcPts val="3000"/>
              </a:lnSpc>
              <a:buNone/>
            </a:pPr>
            <a:r>
              <a:rPr lang="en-US" sz="1800" dirty="0">
                <a:solidFill>
                  <a:srgbClr val="FFFFFF"/>
                </a:solidFill>
                <a:latin typeface="Arial" pitchFamily="34" charset="0"/>
                <a:ea typeface="Arial" pitchFamily="34" charset="-122"/>
                <a:cs typeface="Arial" pitchFamily="34" charset="-120"/>
              </a:rPr>
              <a:t>Pensar sistemáticamente</a:t>
            </a:r>
            <a:endParaRPr lang="en-US" sz="1800" dirty="0"/>
          </a:p>
        </p:txBody>
      </p:sp>
      <p:sp>
        <p:nvSpPr>
          <p:cNvPr id="11" name="Text 7"/>
          <p:cNvSpPr/>
          <p:nvPr/>
        </p:nvSpPr>
        <p:spPr>
          <a:xfrm>
            <a:off x="822960" y="5623560"/>
            <a:ext cx="10545775" cy="457200"/>
          </a:xfrm>
          <a:prstGeom prst="rect">
            <a:avLst/>
          </a:prstGeom>
          <a:noFill/>
          <a:ln/>
        </p:spPr>
        <p:txBody>
          <a:bodyPr wrap="square" lIns="0" tIns="0" rIns="0" bIns="0" rtlCol="0" anchor="ctr"/>
          <a:lstStyle/>
          <a:p>
            <a:pPr marL="0" indent="0">
              <a:buNone/>
            </a:pPr>
            <a:r>
              <a:rPr lang="en-US" sz="2000" b="1" dirty="0">
                <a:solidFill>
                  <a:srgbClr val="9257F1"/>
                </a:solidFill>
                <a:latin typeface="Arial" pitchFamily="34" charset="0"/>
                <a:ea typeface="Arial" pitchFamily="34" charset="-122"/>
                <a:cs typeface="Arial" pitchFamily="34" charset="-120"/>
              </a:rPr>
              <a:t>Eso no se depreció. Eso subió de valor.</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4.2  ·  27:00–28:20</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28/38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DEL PROMPT A LA ESPECIFICACIÓN</a:t>
            </a:r>
            <a:endParaRPr lang="en-US" sz="1200" dirty="0"/>
          </a:p>
        </p:txBody>
      </p:sp>
      <p:sp>
        <p:nvSpPr>
          <p:cNvPr id="7" name="Text 3"/>
          <p:cNvSpPr/>
          <p:nvPr/>
        </p:nvSpPr>
        <p:spPr>
          <a:xfrm>
            <a:off x="822960" y="2011680"/>
            <a:ext cx="10545775" cy="822960"/>
          </a:xfrm>
          <a:prstGeom prst="rect">
            <a:avLst/>
          </a:prstGeom>
          <a:noFill/>
          <a:ln/>
        </p:spPr>
        <p:txBody>
          <a:bodyPr wrap="square" lIns="0" tIns="0" rIns="0" bIns="0" rtlCol="0" anchor="ctr"/>
          <a:lstStyle/>
          <a:p>
            <a:pPr marL="0" indent="0" algn="ctr">
              <a:buNone/>
            </a:pPr>
            <a:r>
              <a:rPr lang="en-US" sz="2400" dirty="0">
                <a:solidFill>
                  <a:srgbClr val="48536B"/>
                </a:solidFill>
                <a:latin typeface="Arial" pitchFamily="34" charset="0"/>
                <a:ea typeface="Arial" pitchFamily="34" charset="-122"/>
                <a:cs typeface="Arial" pitchFamily="34" charset="-120"/>
              </a:rPr>
              <a:t>Prompt  →  código  →  prompt  →  más código</a:t>
            </a:r>
            <a:endParaRPr lang="en-US" sz="2400" dirty="0"/>
          </a:p>
        </p:txBody>
      </p:sp>
      <p:sp>
        <p:nvSpPr>
          <p:cNvPr id="8" name="Shape 4"/>
          <p:cNvSpPr/>
          <p:nvPr/>
        </p:nvSpPr>
        <p:spPr>
          <a:xfrm>
            <a:off x="822960" y="3200400"/>
            <a:ext cx="1567129" cy="1005840"/>
          </a:xfrm>
          <a:prstGeom prst="rect">
            <a:avLst/>
          </a:prstGeom>
          <a:solidFill>
            <a:srgbClr val="231C3D"/>
          </a:solidFill>
          <a:ln w="12700">
            <a:solidFill>
              <a:srgbClr val="9257F1"/>
            </a:solidFill>
            <a:prstDash val="solid"/>
          </a:ln>
        </p:spPr>
        <p:txBody>
          <a:bodyPr/>
          <a:lstStyle/>
          <a:p>
            <a:endParaRPr lang="en-CO"/>
          </a:p>
        </p:txBody>
      </p:sp>
      <p:sp>
        <p:nvSpPr>
          <p:cNvPr id="9" name="Text 5"/>
          <p:cNvSpPr/>
          <p:nvPr/>
        </p:nvSpPr>
        <p:spPr>
          <a:xfrm>
            <a:off x="822960" y="3200400"/>
            <a:ext cx="1567129" cy="1005840"/>
          </a:xfrm>
          <a:prstGeom prst="rect">
            <a:avLst/>
          </a:prstGeom>
          <a:noFill/>
          <a:ln/>
        </p:spPr>
        <p:txBody>
          <a:bodyPr wrap="square" lIns="0" tIns="0" rIns="0" bIns="0" rtlCol="0" anchor="ctr"/>
          <a:lstStyle/>
          <a:p>
            <a:pPr marL="0" indent="0" algn="ctr">
              <a:buNone/>
            </a:pPr>
            <a:r>
              <a:rPr lang="en-US" sz="1500" b="1" dirty="0">
                <a:solidFill>
                  <a:srgbClr val="9257F1"/>
                </a:solidFill>
                <a:latin typeface="Arial" pitchFamily="34" charset="0"/>
                <a:ea typeface="Arial" pitchFamily="34" charset="-122"/>
                <a:cs typeface="Arial" pitchFamily="34" charset="-120"/>
              </a:rPr>
              <a:t>Idea</a:t>
            </a:r>
            <a:endParaRPr lang="en-US" sz="1500" dirty="0"/>
          </a:p>
        </p:txBody>
      </p:sp>
      <p:sp>
        <p:nvSpPr>
          <p:cNvPr id="10" name="Shape 6"/>
          <p:cNvSpPr/>
          <p:nvPr/>
        </p:nvSpPr>
        <p:spPr>
          <a:xfrm>
            <a:off x="2618689" y="3200400"/>
            <a:ext cx="1567129" cy="1005840"/>
          </a:xfrm>
          <a:prstGeom prst="rect">
            <a:avLst/>
          </a:prstGeom>
          <a:solidFill>
            <a:srgbClr val="1E2739"/>
          </a:solidFill>
          <a:ln w="12700">
            <a:solidFill>
              <a:srgbClr val="2C3852"/>
            </a:solidFill>
            <a:prstDash val="solid"/>
          </a:ln>
        </p:spPr>
        <p:txBody>
          <a:bodyPr/>
          <a:lstStyle/>
          <a:p>
            <a:endParaRPr lang="en-CO"/>
          </a:p>
        </p:txBody>
      </p:sp>
      <p:sp>
        <p:nvSpPr>
          <p:cNvPr id="11" name="Text 7"/>
          <p:cNvSpPr/>
          <p:nvPr/>
        </p:nvSpPr>
        <p:spPr>
          <a:xfrm>
            <a:off x="2618689" y="3200400"/>
            <a:ext cx="1567129" cy="100584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Requisitos</a:t>
            </a:r>
            <a:endParaRPr lang="en-US" sz="1500" dirty="0"/>
          </a:p>
        </p:txBody>
      </p:sp>
      <p:sp>
        <p:nvSpPr>
          <p:cNvPr id="12" name="Shape 8"/>
          <p:cNvSpPr/>
          <p:nvPr/>
        </p:nvSpPr>
        <p:spPr>
          <a:xfrm>
            <a:off x="4414418" y="3200400"/>
            <a:ext cx="1567129" cy="1005840"/>
          </a:xfrm>
          <a:prstGeom prst="rect">
            <a:avLst/>
          </a:prstGeom>
          <a:solidFill>
            <a:srgbClr val="1E2739"/>
          </a:solidFill>
          <a:ln w="12700">
            <a:solidFill>
              <a:srgbClr val="2C3852"/>
            </a:solidFill>
            <a:prstDash val="solid"/>
          </a:ln>
        </p:spPr>
        <p:txBody>
          <a:bodyPr/>
          <a:lstStyle/>
          <a:p>
            <a:endParaRPr lang="en-CO"/>
          </a:p>
        </p:txBody>
      </p:sp>
      <p:sp>
        <p:nvSpPr>
          <p:cNvPr id="13" name="Text 9"/>
          <p:cNvSpPr/>
          <p:nvPr/>
        </p:nvSpPr>
        <p:spPr>
          <a:xfrm>
            <a:off x="4414418" y="3200400"/>
            <a:ext cx="1567129" cy="100584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Diseño</a:t>
            </a:r>
            <a:endParaRPr lang="en-US" sz="1500" dirty="0"/>
          </a:p>
        </p:txBody>
      </p:sp>
      <p:sp>
        <p:nvSpPr>
          <p:cNvPr id="14" name="Shape 10"/>
          <p:cNvSpPr/>
          <p:nvPr/>
        </p:nvSpPr>
        <p:spPr>
          <a:xfrm>
            <a:off x="6210148" y="3200400"/>
            <a:ext cx="1567129" cy="1005840"/>
          </a:xfrm>
          <a:prstGeom prst="rect">
            <a:avLst/>
          </a:prstGeom>
          <a:solidFill>
            <a:srgbClr val="1E2739"/>
          </a:solidFill>
          <a:ln w="12700">
            <a:solidFill>
              <a:srgbClr val="2C3852"/>
            </a:solidFill>
            <a:prstDash val="solid"/>
          </a:ln>
        </p:spPr>
        <p:txBody>
          <a:bodyPr/>
          <a:lstStyle/>
          <a:p>
            <a:endParaRPr lang="en-CO"/>
          </a:p>
        </p:txBody>
      </p:sp>
      <p:sp>
        <p:nvSpPr>
          <p:cNvPr id="15" name="Text 11"/>
          <p:cNvSpPr/>
          <p:nvPr/>
        </p:nvSpPr>
        <p:spPr>
          <a:xfrm>
            <a:off x="6210148" y="3200400"/>
            <a:ext cx="1567129" cy="100584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Tareas</a:t>
            </a:r>
            <a:endParaRPr lang="en-US" sz="1500" dirty="0"/>
          </a:p>
        </p:txBody>
      </p:sp>
      <p:sp>
        <p:nvSpPr>
          <p:cNvPr id="16" name="Shape 12"/>
          <p:cNvSpPr/>
          <p:nvPr/>
        </p:nvSpPr>
        <p:spPr>
          <a:xfrm>
            <a:off x="8005877" y="3200400"/>
            <a:ext cx="1567129" cy="1005840"/>
          </a:xfrm>
          <a:prstGeom prst="rect">
            <a:avLst/>
          </a:prstGeom>
          <a:solidFill>
            <a:srgbClr val="1E2739"/>
          </a:solidFill>
          <a:ln w="12700">
            <a:solidFill>
              <a:srgbClr val="2C3852"/>
            </a:solidFill>
            <a:prstDash val="solid"/>
          </a:ln>
        </p:spPr>
        <p:txBody>
          <a:bodyPr/>
          <a:lstStyle/>
          <a:p>
            <a:endParaRPr lang="en-CO"/>
          </a:p>
        </p:txBody>
      </p:sp>
      <p:sp>
        <p:nvSpPr>
          <p:cNvPr id="17" name="Text 13"/>
          <p:cNvSpPr/>
          <p:nvPr/>
        </p:nvSpPr>
        <p:spPr>
          <a:xfrm>
            <a:off x="8005877" y="3200400"/>
            <a:ext cx="1567129" cy="100584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Implementación</a:t>
            </a:r>
            <a:endParaRPr lang="en-US" sz="1500" dirty="0"/>
          </a:p>
        </p:txBody>
      </p:sp>
      <p:sp>
        <p:nvSpPr>
          <p:cNvPr id="18" name="Shape 14"/>
          <p:cNvSpPr/>
          <p:nvPr/>
        </p:nvSpPr>
        <p:spPr>
          <a:xfrm>
            <a:off x="9801606" y="3200400"/>
            <a:ext cx="1567129" cy="1005840"/>
          </a:xfrm>
          <a:prstGeom prst="rect">
            <a:avLst/>
          </a:prstGeom>
          <a:solidFill>
            <a:srgbClr val="1E2739"/>
          </a:solidFill>
          <a:ln w="12700">
            <a:solidFill>
              <a:srgbClr val="2C3852"/>
            </a:solidFill>
            <a:prstDash val="solid"/>
          </a:ln>
        </p:spPr>
        <p:txBody>
          <a:bodyPr/>
          <a:lstStyle/>
          <a:p>
            <a:endParaRPr lang="en-CO"/>
          </a:p>
        </p:txBody>
      </p:sp>
      <p:sp>
        <p:nvSpPr>
          <p:cNvPr id="19" name="Text 15"/>
          <p:cNvSpPr/>
          <p:nvPr/>
        </p:nvSpPr>
        <p:spPr>
          <a:xfrm>
            <a:off x="9801606" y="3200400"/>
            <a:ext cx="1567129" cy="100584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Pruebas</a:t>
            </a:r>
            <a:endParaRPr lang="en-US" sz="1500" dirty="0"/>
          </a:p>
        </p:txBody>
      </p:sp>
      <p:sp>
        <p:nvSpPr>
          <p:cNvPr id="20" name="Text 16"/>
          <p:cNvSpPr/>
          <p:nvPr/>
        </p:nvSpPr>
        <p:spPr>
          <a:xfrm>
            <a:off x="822960" y="4846320"/>
            <a:ext cx="10545775" cy="457200"/>
          </a:xfrm>
          <a:prstGeom prst="rect">
            <a:avLst/>
          </a:prstGeom>
          <a:noFill/>
          <a:ln/>
        </p:spPr>
        <p:txBody>
          <a:bodyPr wrap="square" lIns="0" tIns="0" rIns="0" bIns="0" rtlCol="0" anchor="ctr"/>
          <a:lstStyle/>
          <a:p>
            <a:pPr marL="0" indent="0" algn="ctr">
              <a:buNone/>
            </a:pPr>
            <a:r>
              <a:rPr lang="en-US" sz="1800" dirty="0">
                <a:solidFill>
                  <a:srgbClr val="8A93A8"/>
                </a:solidFill>
                <a:latin typeface="Arial" pitchFamily="34" charset="0"/>
                <a:ea typeface="Arial" pitchFamily="34" charset="-122"/>
                <a:cs typeface="Arial" pitchFamily="34" charset="-120"/>
              </a:rPr>
              <a:t>Kiro revisa los requisitos buscando contradicciones y vacíos — antes de escribir código.</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4.2  ·  27:00–28:20</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29/38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914400" y="1097280"/>
            <a:ext cx="10362895" cy="4480560"/>
          </a:xfrm>
          <a:prstGeom prst="rect">
            <a:avLst/>
          </a:prstGeom>
          <a:noFill/>
          <a:ln/>
        </p:spPr>
        <p:txBody>
          <a:bodyPr wrap="square" lIns="0" tIns="0" rIns="0" bIns="0" rtlCol="0" anchor="ctr"/>
          <a:lstStyle/>
          <a:p>
            <a:pPr marL="0" indent="0" algn="ctr">
              <a:lnSpc>
                <a:spcPts val="4600"/>
              </a:lnSpc>
              <a:buNone/>
            </a:pPr>
            <a:r>
              <a:rPr lang="en-US" sz="4000" b="1" dirty="0">
                <a:solidFill>
                  <a:srgbClr val="FFFFFF"/>
                </a:solidFill>
                <a:latin typeface="Arial" pitchFamily="34" charset="0"/>
                <a:ea typeface="Arial" pitchFamily="34" charset="-122"/>
                <a:cs typeface="Arial" pitchFamily="34" charset="-120"/>
              </a:rPr>
              <a:t>La IA no elimina la ingeniería.</a:t>
            </a:r>
            <a:endParaRPr lang="en-US" sz="4000" dirty="0"/>
          </a:p>
          <a:p>
            <a:pPr marL="0" indent="0" algn="ctr">
              <a:lnSpc>
                <a:spcPts val="4600"/>
              </a:lnSpc>
              <a:buNone/>
            </a:pPr>
            <a:r>
              <a:rPr lang="en-US" sz="4000" b="1" dirty="0">
                <a:solidFill>
                  <a:srgbClr val="9257F1"/>
                </a:solidFill>
                <a:latin typeface="Arial" pitchFamily="34" charset="0"/>
                <a:ea typeface="Arial" pitchFamily="34" charset="-122"/>
                <a:cs typeface="Arial" pitchFamily="34" charset="-120"/>
              </a:rPr>
              <a:t>Nos obliga a hacerla explícita.</a:t>
            </a:r>
            <a:endParaRPr lang="en-US" sz="4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4.3  ·  28:20–30:00</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30/38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QUÉ APRENDER: CINCO CAPAS</a:t>
            </a:r>
            <a:endParaRPr lang="en-US" sz="1200" dirty="0"/>
          </a:p>
        </p:txBody>
      </p:sp>
      <p:sp>
        <p:nvSpPr>
          <p:cNvPr id="7" name="Shape 3"/>
          <p:cNvSpPr/>
          <p:nvPr/>
        </p:nvSpPr>
        <p:spPr>
          <a:xfrm>
            <a:off x="822960" y="1325880"/>
            <a:ext cx="10545775" cy="749808"/>
          </a:xfrm>
          <a:prstGeom prst="rect">
            <a:avLst/>
          </a:prstGeom>
          <a:solidFill>
            <a:srgbClr val="231C3D"/>
          </a:solidFill>
          <a:ln w="12700">
            <a:solidFill>
              <a:srgbClr val="9257F1"/>
            </a:solidFill>
            <a:prstDash val="solid"/>
          </a:ln>
        </p:spPr>
        <p:txBody>
          <a:bodyPr/>
          <a:lstStyle/>
          <a:p>
            <a:endParaRPr lang="en-CO"/>
          </a:p>
        </p:txBody>
      </p:sp>
      <p:sp>
        <p:nvSpPr>
          <p:cNvPr id="8" name="Text 4"/>
          <p:cNvSpPr/>
          <p:nvPr/>
        </p:nvSpPr>
        <p:spPr>
          <a:xfrm>
            <a:off x="1051560" y="1325880"/>
            <a:ext cx="457200" cy="749808"/>
          </a:xfrm>
          <a:prstGeom prst="rect">
            <a:avLst/>
          </a:prstGeom>
          <a:noFill/>
          <a:ln/>
        </p:spPr>
        <p:txBody>
          <a:bodyPr wrap="square" lIns="0" tIns="0" rIns="0" bIns="0" rtlCol="0" anchor="ctr"/>
          <a:lstStyle/>
          <a:p>
            <a:pPr marL="0" indent="0">
              <a:buNone/>
            </a:pPr>
            <a:r>
              <a:rPr lang="en-US" sz="2000" b="1" dirty="0">
                <a:solidFill>
                  <a:srgbClr val="9257F1"/>
                </a:solidFill>
                <a:latin typeface="Arial" pitchFamily="34" charset="0"/>
                <a:ea typeface="Arial" pitchFamily="34" charset="-122"/>
                <a:cs typeface="Arial" pitchFamily="34" charset="-120"/>
              </a:rPr>
              <a:t>5</a:t>
            </a:r>
            <a:endParaRPr lang="en-US" sz="2000" dirty="0"/>
          </a:p>
        </p:txBody>
      </p:sp>
      <p:sp>
        <p:nvSpPr>
          <p:cNvPr id="9" name="Text 5"/>
          <p:cNvSpPr/>
          <p:nvPr/>
        </p:nvSpPr>
        <p:spPr>
          <a:xfrm>
            <a:off x="1645920" y="1325880"/>
            <a:ext cx="3291840" cy="749808"/>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Habilidades humanas</a:t>
            </a:r>
            <a:endParaRPr lang="en-US" sz="1800" dirty="0"/>
          </a:p>
        </p:txBody>
      </p:sp>
      <p:sp>
        <p:nvSpPr>
          <p:cNvPr id="10" name="Text 6"/>
          <p:cNvSpPr/>
          <p:nvPr/>
        </p:nvSpPr>
        <p:spPr>
          <a:xfrm>
            <a:off x="5029200" y="1325880"/>
            <a:ext cx="6035040" cy="749808"/>
          </a:xfrm>
          <a:prstGeom prst="rect">
            <a:avLst/>
          </a:prstGeom>
          <a:noFill/>
          <a:ln/>
        </p:spPr>
        <p:txBody>
          <a:bodyPr wrap="square" lIns="0" tIns="0" rIns="0" bIns="0" rtlCol="0" anchor="ctr"/>
          <a:lstStyle/>
          <a:p>
            <a:pPr marL="0" indent="0">
              <a:buNone/>
            </a:pPr>
            <a:r>
              <a:rPr lang="en-US" sz="1400" dirty="0">
                <a:solidFill>
                  <a:srgbClr val="8A93A8"/>
                </a:solidFill>
                <a:latin typeface="Arial" pitchFamily="34" charset="0"/>
                <a:ea typeface="Arial" pitchFamily="34" charset="-122"/>
                <a:cs typeface="Arial" pitchFamily="34" charset="-120"/>
              </a:rPr>
              <a:t>Criterio, comunicación, negocio, buenas preguntas, responsabilidad</a:t>
            </a:r>
            <a:endParaRPr lang="en-US" sz="1400" dirty="0"/>
          </a:p>
        </p:txBody>
      </p:sp>
      <p:sp>
        <p:nvSpPr>
          <p:cNvPr id="11" name="Shape 7"/>
          <p:cNvSpPr/>
          <p:nvPr/>
        </p:nvSpPr>
        <p:spPr>
          <a:xfrm>
            <a:off x="822960" y="2194560"/>
            <a:ext cx="10545775" cy="749808"/>
          </a:xfrm>
          <a:prstGeom prst="rect">
            <a:avLst/>
          </a:prstGeom>
          <a:solidFill>
            <a:srgbClr val="1E2739"/>
          </a:solidFill>
          <a:ln w="12700">
            <a:solidFill>
              <a:srgbClr val="2C3852"/>
            </a:solidFill>
            <a:prstDash val="solid"/>
          </a:ln>
        </p:spPr>
        <p:txBody>
          <a:bodyPr/>
          <a:lstStyle/>
          <a:p>
            <a:endParaRPr lang="en-CO"/>
          </a:p>
        </p:txBody>
      </p:sp>
      <p:sp>
        <p:nvSpPr>
          <p:cNvPr id="12" name="Text 8"/>
          <p:cNvSpPr/>
          <p:nvPr/>
        </p:nvSpPr>
        <p:spPr>
          <a:xfrm>
            <a:off x="1051560" y="2194560"/>
            <a:ext cx="457200" cy="749808"/>
          </a:xfrm>
          <a:prstGeom prst="rect">
            <a:avLst/>
          </a:prstGeom>
          <a:noFill/>
          <a:ln/>
        </p:spPr>
        <p:txBody>
          <a:bodyPr wrap="square" lIns="0" tIns="0" rIns="0" bIns="0" rtlCol="0" anchor="ctr"/>
          <a:lstStyle/>
          <a:p>
            <a:pPr marL="0" indent="0">
              <a:buNone/>
            </a:pPr>
            <a:r>
              <a:rPr lang="en-US" sz="2000" b="1" dirty="0">
                <a:solidFill>
                  <a:srgbClr val="8A93A8"/>
                </a:solidFill>
                <a:latin typeface="Arial" pitchFamily="34" charset="0"/>
                <a:ea typeface="Arial" pitchFamily="34" charset="-122"/>
                <a:cs typeface="Arial" pitchFamily="34" charset="-120"/>
              </a:rPr>
              <a:t>4</a:t>
            </a:r>
            <a:endParaRPr lang="en-US" sz="2000" dirty="0"/>
          </a:p>
        </p:txBody>
      </p:sp>
      <p:sp>
        <p:nvSpPr>
          <p:cNvPr id="13" name="Text 9"/>
          <p:cNvSpPr/>
          <p:nvPr/>
        </p:nvSpPr>
        <p:spPr>
          <a:xfrm>
            <a:off x="1645920" y="2194560"/>
            <a:ext cx="3291840" cy="749808"/>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Inteligencia artificial</a:t>
            </a:r>
            <a:endParaRPr lang="en-US" sz="1800" dirty="0"/>
          </a:p>
        </p:txBody>
      </p:sp>
      <p:sp>
        <p:nvSpPr>
          <p:cNvPr id="14" name="Text 10"/>
          <p:cNvSpPr/>
          <p:nvPr/>
        </p:nvSpPr>
        <p:spPr>
          <a:xfrm>
            <a:off x="5029200" y="2194560"/>
            <a:ext cx="6035040" cy="749808"/>
          </a:xfrm>
          <a:prstGeom prst="rect">
            <a:avLst/>
          </a:prstGeom>
          <a:noFill/>
          <a:ln/>
        </p:spPr>
        <p:txBody>
          <a:bodyPr wrap="square" lIns="0" tIns="0" rIns="0" bIns="0" rtlCol="0" anchor="ctr"/>
          <a:lstStyle/>
          <a:p>
            <a:pPr marL="0" indent="0">
              <a:buNone/>
            </a:pPr>
            <a:r>
              <a:rPr lang="en-US" sz="1400" dirty="0">
                <a:solidFill>
                  <a:srgbClr val="8A93A8"/>
                </a:solidFill>
                <a:latin typeface="Arial" pitchFamily="34" charset="0"/>
                <a:ea typeface="Arial" pitchFamily="34" charset="-122"/>
                <a:cs typeface="Arial" pitchFamily="34" charset="-120"/>
              </a:rPr>
              <a:t>Modelos, contexto, RAG, agentes, MCP, evaluación, costos y límites</a:t>
            </a:r>
            <a:endParaRPr lang="en-US" sz="1400" dirty="0"/>
          </a:p>
        </p:txBody>
      </p:sp>
      <p:sp>
        <p:nvSpPr>
          <p:cNvPr id="15" name="Shape 11"/>
          <p:cNvSpPr/>
          <p:nvPr/>
        </p:nvSpPr>
        <p:spPr>
          <a:xfrm>
            <a:off x="822960" y="3063240"/>
            <a:ext cx="10545775" cy="749808"/>
          </a:xfrm>
          <a:prstGeom prst="rect">
            <a:avLst/>
          </a:prstGeom>
          <a:solidFill>
            <a:srgbClr val="1E2739"/>
          </a:solidFill>
          <a:ln w="12700">
            <a:solidFill>
              <a:srgbClr val="2C3852"/>
            </a:solidFill>
            <a:prstDash val="solid"/>
          </a:ln>
        </p:spPr>
        <p:txBody>
          <a:bodyPr/>
          <a:lstStyle/>
          <a:p>
            <a:endParaRPr lang="en-CO"/>
          </a:p>
        </p:txBody>
      </p:sp>
      <p:sp>
        <p:nvSpPr>
          <p:cNvPr id="16" name="Text 12"/>
          <p:cNvSpPr/>
          <p:nvPr/>
        </p:nvSpPr>
        <p:spPr>
          <a:xfrm>
            <a:off x="1051560" y="3063240"/>
            <a:ext cx="457200" cy="749808"/>
          </a:xfrm>
          <a:prstGeom prst="rect">
            <a:avLst/>
          </a:prstGeom>
          <a:noFill/>
          <a:ln/>
        </p:spPr>
        <p:txBody>
          <a:bodyPr wrap="square" lIns="0" tIns="0" rIns="0" bIns="0" rtlCol="0" anchor="ctr"/>
          <a:lstStyle/>
          <a:p>
            <a:pPr marL="0" indent="0">
              <a:buNone/>
            </a:pPr>
            <a:r>
              <a:rPr lang="en-US" sz="2000" b="1" dirty="0">
                <a:solidFill>
                  <a:srgbClr val="8A93A8"/>
                </a:solidFill>
                <a:latin typeface="Arial" pitchFamily="34" charset="0"/>
                <a:ea typeface="Arial" pitchFamily="34" charset="-122"/>
                <a:cs typeface="Arial" pitchFamily="34" charset="-120"/>
              </a:rPr>
              <a:t>3</a:t>
            </a:r>
            <a:endParaRPr lang="en-US" sz="2000" dirty="0"/>
          </a:p>
        </p:txBody>
      </p:sp>
      <p:sp>
        <p:nvSpPr>
          <p:cNvPr id="17" name="Text 13"/>
          <p:cNvSpPr/>
          <p:nvPr/>
        </p:nvSpPr>
        <p:spPr>
          <a:xfrm>
            <a:off x="1645920" y="3063240"/>
            <a:ext cx="3291840" cy="749808"/>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Cloud</a:t>
            </a:r>
            <a:endParaRPr lang="en-US" sz="1800" dirty="0"/>
          </a:p>
        </p:txBody>
      </p:sp>
      <p:sp>
        <p:nvSpPr>
          <p:cNvPr id="18" name="Text 14"/>
          <p:cNvSpPr/>
          <p:nvPr/>
        </p:nvSpPr>
        <p:spPr>
          <a:xfrm>
            <a:off x="5029200" y="3063240"/>
            <a:ext cx="6035040" cy="749808"/>
          </a:xfrm>
          <a:prstGeom prst="rect">
            <a:avLst/>
          </a:prstGeom>
          <a:noFill/>
          <a:ln/>
        </p:spPr>
        <p:txBody>
          <a:bodyPr wrap="square" lIns="0" tIns="0" rIns="0" bIns="0" rtlCol="0" anchor="ctr"/>
          <a:lstStyle/>
          <a:p>
            <a:pPr marL="0" indent="0">
              <a:buNone/>
            </a:pPr>
            <a:r>
              <a:rPr lang="en-US" sz="1400" dirty="0">
                <a:solidFill>
                  <a:srgbClr val="8A93A8"/>
                </a:solidFill>
                <a:latin typeface="Arial" pitchFamily="34" charset="0"/>
                <a:ea typeface="Arial" pitchFamily="34" charset="-122"/>
                <a:cs typeface="Arial" pitchFamily="34" charset="-120"/>
              </a:rPr>
              <a:t>Cómputo, redes, identidad, serverless, observabilidad, IaC</a:t>
            </a:r>
            <a:endParaRPr lang="en-US" sz="1400" dirty="0"/>
          </a:p>
        </p:txBody>
      </p:sp>
      <p:sp>
        <p:nvSpPr>
          <p:cNvPr id="19" name="Shape 15"/>
          <p:cNvSpPr/>
          <p:nvPr/>
        </p:nvSpPr>
        <p:spPr>
          <a:xfrm>
            <a:off x="822960" y="3931920"/>
            <a:ext cx="10545775" cy="749808"/>
          </a:xfrm>
          <a:prstGeom prst="rect">
            <a:avLst/>
          </a:prstGeom>
          <a:solidFill>
            <a:srgbClr val="1E2739"/>
          </a:solidFill>
          <a:ln w="12700">
            <a:solidFill>
              <a:srgbClr val="2C3852"/>
            </a:solidFill>
            <a:prstDash val="solid"/>
          </a:ln>
        </p:spPr>
        <p:txBody>
          <a:bodyPr/>
          <a:lstStyle/>
          <a:p>
            <a:endParaRPr lang="en-CO"/>
          </a:p>
        </p:txBody>
      </p:sp>
      <p:sp>
        <p:nvSpPr>
          <p:cNvPr id="20" name="Text 16"/>
          <p:cNvSpPr/>
          <p:nvPr/>
        </p:nvSpPr>
        <p:spPr>
          <a:xfrm>
            <a:off x="1051560" y="3931920"/>
            <a:ext cx="457200" cy="749808"/>
          </a:xfrm>
          <a:prstGeom prst="rect">
            <a:avLst/>
          </a:prstGeom>
          <a:noFill/>
          <a:ln/>
        </p:spPr>
        <p:txBody>
          <a:bodyPr wrap="square" lIns="0" tIns="0" rIns="0" bIns="0" rtlCol="0" anchor="ctr"/>
          <a:lstStyle/>
          <a:p>
            <a:pPr marL="0" indent="0">
              <a:buNone/>
            </a:pPr>
            <a:r>
              <a:rPr lang="en-US" sz="2000" b="1" dirty="0">
                <a:solidFill>
                  <a:srgbClr val="8A93A8"/>
                </a:solidFill>
                <a:latin typeface="Arial" pitchFamily="34" charset="0"/>
                <a:ea typeface="Arial" pitchFamily="34" charset="-122"/>
                <a:cs typeface="Arial" pitchFamily="34" charset="-120"/>
              </a:rPr>
              <a:t>2</a:t>
            </a:r>
            <a:endParaRPr lang="en-US" sz="2000" dirty="0"/>
          </a:p>
        </p:txBody>
      </p:sp>
      <p:sp>
        <p:nvSpPr>
          <p:cNvPr id="21" name="Text 17"/>
          <p:cNvSpPr/>
          <p:nvPr/>
        </p:nvSpPr>
        <p:spPr>
          <a:xfrm>
            <a:off x="1645920" y="3931920"/>
            <a:ext cx="3291840" cy="749808"/>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Ingeniería de software</a:t>
            </a:r>
            <a:endParaRPr lang="en-US" sz="1800" dirty="0"/>
          </a:p>
        </p:txBody>
      </p:sp>
      <p:sp>
        <p:nvSpPr>
          <p:cNvPr id="22" name="Text 18"/>
          <p:cNvSpPr/>
          <p:nvPr/>
        </p:nvSpPr>
        <p:spPr>
          <a:xfrm>
            <a:off x="5029200" y="3931920"/>
            <a:ext cx="6035040" cy="749808"/>
          </a:xfrm>
          <a:prstGeom prst="rect">
            <a:avLst/>
          </a:prstGeom>
          <a:noFill/>
          <a:ln/>
        </p:spPr>
        <p:txBody>
          <a:bodyPr wrap="square" lIns="0" tIns="0" rIns="0" bIns="0" rtlCol="0" anchor="ctr"/>
          <a:lstStyle/>
          <a:p>
            <a:pPr marL="0" indent="0">
              <a:buNone/>
            </a:pPr>
            <a:r>
              <a:rPr lang="en-US" sz="1400" dirty="0">
                <a:solidFill>
                  <a:srgbClr val="8A93A8"/>
                </a:solidFill>
                <a:latin typeface="Arial" pitchFamily="34" charset="0"/>
                <a:ea typeface="Arial" pitchFamily="34" charset="-122"/>
                <a:cs typeface="Arial" pitchFamily="34" charset="-120"/>
              </a:rPr>
              <a:t>Diseño, testing, APIs, seguridad, refactoring, arquitectura</a:t>
            </a:r>
            <a:endParaRPr lang="en-US" sz="1400" dirty="0"/>
          </a:p>
        </p:txBody>
      </p:sp>
      <p:sp>
        <p:nvSpPr>
          <p:cNvPr id="23" name="Shape 19"/>
          <p:cNvSpPr/>
          <p:nvPr/>
        </p:nvSpPr>
        <p:spPr>
          <a:xfrm>
            <a:off x="822960" y="4800600"/>
            <a:ext cx="10545775" cy="749808"/>
          </a:xfrm>
          <a:prstGeom prst="rect">
            <a:avLst/>
          </a:prstGeom>
          <a:solidFill>
            <a:srgbClr val="1E2739"/>
          </a:solidFill>
          <a:ln w="12700">
            <a:solidFill>
              <a:srgbClr val="2C3852"/>
            </a:solidFill>
            <a:prstDash val="solid"/>
          </a:ln>
        </p:spPr>
        <p:txBody>
          <a:bodyPr/>
          <a:lstStyle/>
          <a:p>
            <a:endParaRPr lang="en-CO"/>
          </a:p>
        </p:txBody>
      </p:sp>
      <p:sp>
        <p:nvSpPr>
          <p:cNvPr id="24" name="Text 20"/>
          <p:cNvSpPr/>
          <p:nvPr/>
        </p:nvSpPr>
        <p:spPr>
          <a:xfrm>
            <a:off x="1051560" y="4800600"/>
            <a:ext cx="457200" cy="749808"/>
          </a:xfrm>
          <a:prstGeom prst="rect">
            <a:avLst/>
          </a:prstGeom>
          <a:noFill/>
          <a:ln/>
        </p:spPr>
        <p:txBody>
          <a:bodyPr wrap="square" lIns="0" tIns="0" rIns="0" bIns="0" rtlCol="0" anchor="ctr"/>
          <a:lstStyle/>
          <a:p>
            <a:pPr marL="0" indent="0">
              <a:buNone/>
            </a:pPr>
            <a:r>
              <a:rPr lang="en-US" sz="2000" b="1" dirty="0">
                <a:solidFill>
                  <a:srgbClr val="8A93A8"/>
                </a:solidFill>
                <a:latin typeface="Arial" pitchFamily="34" charset="0"/>
                <a:ea typeface="Arial" pitchFamily="34" charset="-122"/>
                <a:cs typeface="Arial" pitchFamily="34" charset="-120"/>
              </a:rPr>
              <a:t>1</a:t>
            </a:r>
            <a:endParaRPr lang="en-US" sz="2000" dirty="0"/>
          </a:p>
        </p:txBody>
      </p:sp>
      <p:sp>
        <p:nvSpPr>
          <p:cNvPr id="25" name="Text 21"/>
          <p:cNvSpPr/>
          <p:nvPr/>
        </p:nvSpPr>
        <p:spPr>
          <a:xfrm>
            <a:off x="1645920" y="4800600"/>
            <a:ext cx="3291840" cy="749808"/>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Fundamentos</a:t>
            </a:r>
            <a:endParaRPr lang="en-US" sz="1800" dirty="0"/>
          </a:p>
        </p:txBody>
      </p:sp>
      <p:sp>
        <p:nvSpPr>
          <p:cNvPr id="26" name="Text 22"/>
          <p:cNvSpPr/>
          <p:nvPr/>
        </p:nvSpPr>
        <p:spPr>
          <a:xfrm>
            <a:off x="5029200" y="4800600"/>
            <a:ext cx="6035040" cy="749808"/>
          </a:xfrm>
          <a:prstGeom prst="rect">
            <a:avLst/>
          </a:prstGeom>
          <a:noFill/>
          <a:ln/>
        </p:spPr>
        <p:txBody>
          <a:bodyPr wrap="square" lIns="0" tIns="0" rIns="0" bIns="0" rtlCol="0" anchor="ctr"/>
          <a:lstStyle/>
          <a:p>
            <a:pPr marL="0" indent="0">
              <a:buNone/>
            </a:pPr>
            <a:r>
              <a:rPr lang="en-US" sz="1400" dirty="0">
                <a:solidFill>
                  <a:srgbClr val="8A93A8"/>
                </a:solidFill>
                <a:latin typeface="Arial" pitchFamily="34" charset="0"/>
                <a:ea typeface="Arial" pitchFamily="34" charset="-122"/>
                <a:cs typeface="Arial" pitchFamily="34" charset="-120"/>
              </a:rPr>
              <a:t>Programación, estructuras de datos, algoritmos, bases de datos, redes, Git</a:t>
            </a:r>
            <a:endParaRPr lang="en-US" sz="1400" dirty="0"/>
          </a:p>
        </p:txBody>
      </p:sp>
      <p:sp>
        <p:nvSpPr>
          <p:cNvPr id="27" name="Text 23"/>
          <p:cNvSpPr/>
          <p:nvPr/>
        </p:nvSpPr>
        <p:spPr>
          <a:xfrm>
            <a:off x="822960" y="5715000"/>
            <a:ext cx="10545775" cy="457200"/>
          </a:xfrm>
          <a:prstGeom prst="rect">
            <a:avLst/>
          </a:prstGeom>
          <a:noFill/>
          <a:ln/>
        </p:spPr>
        <p:txBody>
          <a:bodyPr wrap="square" lIns="0" tIns="0" rIns="0" bIns="0" rtlCol="0" anchor="ctr"/>
          <a:lstStyle/>
          <a:p>
            <a:pPr marL="0" indent="0">
              <a:buNone/>
            </a:pPr>
            <a:r>
              <a:rPr lang="en-US" sz="1700" b="1" dirty="0">
                <a:solidFill>
                  <a:srgbClr val="9257F1"/>
                </a:solidFill>
                <a:latin typeface="Arial" pitchFamily="34" charset="0"/>
                <a:ea typeface="Arial" pitchFamily="34" charset="-122"/>
                <a:cs typeface="Arial" pitchFamily="34" charset="-120"/>
              </a:rPr>
              <a:t>Una IA puede producir veinte alternativas. Alguien todavía tiene que escoger una.</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5.1  ·  30:00–32:11</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31/38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ACTO V · EL ORDEN IMPORTA</a:t>
            </a:r>
            <a:endParaRPr lang="en-US" sz="1200" dirty="0"/>
          </a:p>
        </p:txBody>
      </p:sp>
      <p:sp>
        <p:nvSpPr>
          <p:cNvPr id="7" name="Text 3"/>
          <p:cNvSpPr/>
          <p:nvPr/>
        </p:nvSpPr>
        <p:spPr>
          <a:xfrm>
            <a:off x="822960" y="1463040"/>
            <a:ext cx="502920" cy="731520"/>
          </a:xfrm>
          <a:prstGeom prst="rect">
            <a:avLst/>
          </a:prstGeom>
          <a:noFill/>
          <a:ln/>
        </p:spPr>
        <p:txBody>
          <a:bodyPr wrap="square" lIns="0" tIns="0" rIns="0" bIns="0" rtlCol="0" anchor="ctr"/>
          <a:lstStyle/>
          <a:p>
            <a:pPr marL="0" indent="0">
              <a:buNone/>
            </a:pPr>
            <a:r>
              <a:rPr lang="en-US" sz="2600" b="1" dirty="0">
                <a:solidFill>
                  <a:srgbClr val="9257F1"/>
                </a:solidFill>
                <a:latin typeface="Arial" pitchFamily="34" charset="0"/>
                <a:ea typeface="Arial" pitchFamily="34" charset="-122"/>
                <a:cs typeface="Arial" pitchFamily="34" charset="-120"/>
              </a:rPr>
              <a:t>1</a:t>
            </a:r>
            <a:endParaRPr lang="en-US" sz="2600" dirty="0"/>
          </a:p>
        </p:txBody>
      </p:sp>
      <p:sp>
        <p:nvSpPr>
          <p:cNvPr id="8" name="Text 4"/>
          <p:cNvSpPr/>
          <p:nvPr/>
        </p:nvSpPr>
        <p:spPr>
          <a:xfrm>
            <a:off x="1371600" y="1463040"/>
            <a:ext cx="4754880" cy="731520"/>
          </a:xfrm>
          <a:prstGeom prst="rect">
            <a:avLst/>
          </a:prstGeom>
          <a:noFill/>
          <a:ln/>
        </p:spPr>
        <p:txBody>
          <a:bodyPr wrap="square" lIns="0" tIns="0" rIns="0" bIns="0" rtlCol="0" anchor="ctr"/>
          <a:lstStyle/>
          <a:p>
            <a:pPr marL="0" indent="0">
              <a:buNone/>
            </a:pPr>
            <a:r>
              <a:rPr lang="en-US" sz="1700" dirty="0">
                <a:solidFill>
                  <a:srgbClr val="FFFFFF"/>
                </a:solidFill>
                <a:latin typeface="Arial" pitchFamily="34" charset="0"/>
                <a:ea typeface="Arial" pitchFamily="34" charset="-122"/>
                <a:cs typeface="Arial" pitchFamily="34" charset="-120"/>
              </a:rPr>
              <a:t>Aprender un lenguaje suficientemente bien</a:t>
            </a:r>
            <a:endParaRPr lang="en-US" sz="1700" dirty="0"/>
          </a:p>
        </p:txBody>
      </p:sp>
      <p:sp>
        <p:nvSpPr>
          <p:cNvPr id="9" name="Text 5"/>
          <p:cNvSpPr/>
          <p:nvPr/>
        </p:nvSpPr>
        <p:spPr>
          <a:xfrm>
            <a:off x="822960" y="2514600"/>
            <a:ext cx="502920" cy="731520"/>
          </a:xfrm>
          <a:prstGeom prst="rect">
            <a:avLst/>
          </a:prstGeom>
          <a:noFill/>
          <a:ln/>
        </p:spPr>
        <p:txBody>
          <a:bodyPr wrap="square" lIns="0" tIns="0" rIns="0" bIns="0" rtlCol="0" anchor="ctr"/>
          <a:lstStyle/>
          <a:p>
            <a:pPr marL="0" indent="0">
              <a:buNone/>
            </a:pPr>
            <a:r>
              <a:rPr lang="en-US" sz="2600" b="1" dirty="0">
                <a:solidFill>
                  <a:srgbClr val="9257F1"/>
                </a:solidFill>
                <a:latin typeface="Arial" pitchFamily="34" charset="0"/>
                <a:ea typeface="Arial" pitchFamily="34" charset="-122"/>
                <a:cs typeface="Arial" pitchFamily="34" charset="-120"/>
              </a:rPr>
              <a:t>2</a:t>
            </a:r>
            <a:endParaRPr lang="en-US" sz="2600" dirty="0"/>
          </a:p>
        </p:txBody>
      </p:sp>
      <p:sp>
        <p:nvSpPr>
          <p:cNvPr id="10" name="Text 6"/>
          <p:cNvSpPr/>
          <p:nvPr/>
        </p:nvSpPr>
        <p:spPr>
          <a:xfrm>
            <a:off x="1371600" y="2514600"/>
            <a:ext cx="4754880" cy="731520"/>
          </a:xfrm>
          <a:prstGeom prst="rect">
            <a:avLst/>
          </a:prstGeom>
          <a:noFill/>
          <a:ln/>
        </p:spPr>
        <p:txBody>
          <a:bodyPr wrap="square" lIns="0" tIns="0" rIns="0" bIns="0" rtlCol="0" anchor="ctr"/>
          <a:lstStyle/>
          <a:p>
            <a:pPr marL="0" indent="0">
              <a:buNone/>
            </a:pPr>
            <a:r>
              <a:rPr lang="en-US" sz="1700" dirty="0">
                <a:solidFill>
                  <a:srgbClr val="FFFFFF"/>
                </a:solidFill>
                <a:latin typeface="Arial" pitchFamily="34" charset="0"/>
                <a:ea typeface="Arial" pitchFamily="34" charset="-122"/>
                <a:cs typeface="Arial" pitchFamily="34" charset="-120"/>
              </a:rPr>
              <a:t>Aprender Git</a:t>
            </a:r>
            <a:endParaRPr lang="en-US" sz="1700" dirty="0"/>
          </a:p>
        </p:txBody>
      </p:sp>
      <p:sp>
        <p:nvSpPr>
          <p:cNvPr id="11" name="Text 7"/>
          <p:cNvSpPr/>
          <p:nvPr/>
        </p:nvSpPr>
        <p:spPr>
          <a:xfrm>
            <a:off x="822960" y="3566160"/>
            <a:ext cx="502920" cy="731520"/>
          </a:xfrm>
          <a:prstGeom prst="rect">
            <a:avLst/>
          </a:prstGeom>
          <a:noFill/>
          <a:ln/>
        </p:spPr>
        <p:txBody>
          <a:bodyPr wrap="square" lIns="0" tIns="0" rIns="0" bIns="0" rtlCol="0" anchor="ctr"/>
          <a:lstStyle/>
          <a:p>
            <a:pPr marL="0" indent="0">
              <a:buNone/>
            </a:pPr>
            <a:r>
              <a:rPr lang="en-US" sz="2600" b="1" dirty="0">
                <a:solidFill>
                  <a:srgbClr val="9257F1"/>
                </a:solidFill>
                <a:latin typeface="Arial" pitchFamily="34" charset="0"/>
                <a:ea typeface="Arial" pitchFamily="34" charset="-122"/>
                <a:cs typeface="Arial" pitchFamily="34" charset="-120"/>
              </a:rPr>
              <a:t>3</a:t>
            </a:r>
            <a:endParaRPr lang="en-US" sz="2600" dirty="0"/>
          </a:p>
        </p:txBody>
      </p:sp>
      <p:sp>
        <p:nvSpPr>
          <p:cNvPr id="12" name="Text 8"/>
          <p:cNvSpPr/>
          <p:nvPr/>
        </p:nvSpPr>
        <p:spPr>
          <a:xfrm>
            <a:off x="1371600" y="3566160"/>
            <a:ext cx="4754880" cy="731520"/>
          </a:xfrm>
          <a:prstGeom prst="rect">
            <a:avLst/>
          </a:prstGeom>
          <a:noFill/>
          <a:ln/>
        </p:spPr>
        <p:txBody>
          <a:bodyPr wrap="square" lIns="0" tIns="0" rIns="0" bIns="0" rtlCol="0" anchor="ctr"/>
          <a:lstStyle/>
          <a:p>
            <a:pPr marL="0" indent="0">
              <a:buNone/>
            </a:pPr>
            <a:r>
              <a:rPr lang="en-US" sz="1700" dirty="0">
                <a:solidFill>
                  <a:srgbClr val="FFFFFF"/>
                </a:solidFill>
                <a:latin typeface="Arial" pitchFamily="34" charset="0"/>
                <a:ea typeface="Arial" pitchFamily="34" charset="-122"/>
                <a:cs typeface="Arial" pitchFamily="34" charset="-120"/>
              </a:rPr>
              <a:t>Construir dos o tres proyectos que puedas explicar</a:t>
            </a:r>
            <a:endParaRPr lang="en-US" sz="1700" dirty="0"/>
          </a:p>
        </p:txBody>
      </p:sp>
      <p:sp>
        <p:nvSpPr>
          <p:cNvPr id="13" name="Text 9"/>
          <p:cNvSpPr/>
          <p:nvPr/>
        </p:nvSpPr>
        <p:spPr>
          <a:xfrm>
            <a:off x="822960" y="4617720"/>
            <a:ext cx="502920" cy="731520"/>
          </a:xfrm>
          <a:prstGeom prst="rect">
            <a:avLst/>
          </a:prstGeom>
          <a:noFill/>
          <a:ln/>
        </p:spPr>
        <p:txBody>
          <a:bodyPr wrap="square" lIns="0" tIns="0" rIns="0" bIns="0" rtlCol="0" anchor="ctr"/>
          <a:lstStyle/>
          <a:p>
            <a:pPr marL="0" indent="0">
              <a:buNone/>
            </a:pPr>
            <a:r>
              <a:rPr lang="en-US" sz="2600" b="1" dirty="0">
                <a:solidFill>
                  <a:srgbClr val="9257F1"/>
                </a:solidFill>
                <a:latin typeface="Arial" pitchFamily="34" charset="0"/>
                <a:ea typeface="Arial" pitchFamily="34" charset="-122"/>
                <a:cs typeface="Arial" pitchFamily="34" charset="-120"/>
              </a:rPr>
              <a:t>4</a:t>
            </a:r>
            <a:endParaRPr lang="en-US" sz="2600" dirty="0"/>
          </a:p>
        </p:txBody>
      </p:sp>
      <p:sp>
        <p:nvSpPr>
          <p:cNvPr id="14" name="Text 10"/>
          <p:cNvSpPr/>
          <p:nvPr/>
        </p:nvSpPr>
        <p:spPr>
          <a:xfrm>
            <a:off x="1371600" y="4617720"/>
            <a:ext cx="4754880" cy="731520"/>
          </a:xfrm>
          <a:prstGeom prst="rect">
            <a:avLst/>
          </a:prstGeom>
          <a:noFill/>
          <a:ln/>
        </p:spPr>
        <p:txBody>
          <a:bodyPr wrap="square" lIns="0" tIns="0" rIns="0" bIns="0" rtlCol="0" anchor="ctr"/>
          <a:lstStyle/>
          <a:p>
            <a:pPr marL="0" indent="0">
              <a:buNone/>
            </a:pPr>
            <a:r>
              <a:rPr lang="en-US" sz="1700" dirty="0">
                <a:solidFill>
                  <a:srgbClr val="FFFFFF"/>
                </a:solidFill>
                <a:latin typeface="Arial" pitchFamily="34" charset="0"/>
                <a:ea typeface="Arial" pitchFamily="34" charset="-122"/>
                <a:cs typeface="Arial" pitchFamily="34" charset="-120"/>
              </a:rPr>
              <a:t>Desplegar esos proyectos</a:t>
            </a:r>
            <a:endParaRPr lang="en-US" sz="1700" dirty="0"/>
          </a:p>
        </p:txBody>
      </p:sp>
      <p:sp>
        <p:nvSpPr>
          <p:cNvPr id="15" name="Text 11"/>
          <p:cNvSpPr/>
          <p:nvPr/>
        </p:nvSpPr>
        <p:spPr>
          <a:xfrm>
            <a:off x="6400800" y="1463040"/>
            <a:ext cx="502920" cy="731520"/>
          </a:xfrm>
          <a:prstGeom prst="rect">
            <a:avLst/>
          </a:prstGeom>
          <a:noFill/>
          <a:ln/>
        </p:spPr>
        <p:txBody>
          <a:bodyPr wrap="square" lIns="0" tIns="0" rIns="0" bIns="0" rtlCol="0" anchor="ctr"/>
          <a:lstStyle/>
          <a:p>
            <a:pPr marL="0" indent="0">
              <a:buNone/>
            </a:pPr>
            <a:r>
              <a:rPr lang="en-US" sz="2600" b="1" dirty="0">
                <a:solidFill>
                  <a:srgbClr val="9257F1"/>
                </a:solidFill>
                <a:latin typeface="Arial" pitchFamily="34" charset="0"/>
                <a:ea typeface="Arial" pitchFamily="34" charset="-122"/>
                <a:cs typeface="Arial" pitchFamily="34" charset="-120"/>
              </a:rPr>
              <a:t>5</a:t>
            </a:r>
            <a:endParaRPr lang="en-US" sz="2600" dirty="0"/>
          </a:p>
        </p:txBody>
      </p:sp>
      <p:sp>
        <p:nvSpPr>
          <p:cNvPr id="16" name="Text 12"/>
          <p:cNvSpPr/>
          <p:nvPr/>
        </p:nvSpPr>
        <p:spPr>
          <a:xfrm>
            <a:off x="6949440" y="1463040"/>
            <a:ext cx="4754880" cy="731520"/>
          </a:xfrm>
          <a:prstGeom prst="rect">
            <a:avLst/>
          </a:prstGeom>
          <a:noFill/>
          <a:ln/>
        </p:spPr>
        <p:txBody>
          <a:bodyPr wrap="square" lIns="0" tIns="0" rIns="0" bIns="0" rtlCol="0" anchor="ctr"/>
          <a:lstStyle/>
          <a:p>
            <a:pPr marL="0" indent="0">
              <a:buNone/>
            </a:pPr>
            <a:r>
              <a:rPr lang="en-US" sz="1700" dirty="0">
                <a:solidFill>
                  <a:srgbClr val="FFFFFF"/>
                </a:solidFill>
                <a:latin typeface="Arial" pitchFamily="34" charset="0"/>
                <a:ea typeface="Arial" pitchFamily="34" charset="-122"/>
                <a:cs typeface="Arial" pitchFamily="34" charset="-120"/>
              </a:rPr>
              <a:t>Usar IA desde el primer día — ¿entiendo lo que generó?</a:t>
            </a:r>
            <a:endParaRPr lang="en-US" sz="1700" dirty="0"/>
          </a:p>
        </p:txBody>
      </p:sp>
      <p:sp>
        <p:nvSpPr>
          <p:cNvPr id="17" name="Text 13"/>
          <p:cNvSpPr/>
          <p:nvPr/>
        </p:nvSpPr>
        <p:spPr>
          <a:xfrm>
            <a:off x="6400800" y="2514600"/>
            <a:ext cx="502920" cy="731520"/>
          </a:xfrm>
          <a:prstGeom prst="rect">
            <a:avLst/>
          </a:prstGeom>
          <a:noFill/>
          <a:ln/>
        </p:spPr>
        <p:txBody>
          <a:bodyPr wrap="square" lIns="0" tIns="0" rIns="0" bIns="0" rtlCol="0" anchor="ctr"/>
          <a:lstStyle/>
          <a:p>
            <a:pPr marL="0" indent="0">
              <a:buNone/>
            </a:pPr>
            <a:r>
              <a:rPr lang="en-US" sz="2600" b="1" dirty="0">
                <a:solidFill>
                  <a:srgbClr val="9257F1"/>
                </a:solidFill>
                <a:latin typeface="Arial" pitchFamily="34" charset="0"/>
                <a:ea typeface="Arial" pitchFamily="34" charset="-122"/>
                <a:cs typeface="Arial" pitchFamily="34" charset="-120"/>
              </a:rPr>
              <a:t>6</a:t>
            </a:r>
            <a:endParaRPr lang="en-US" sz="2600" dirty="0"/>
          </a:p>
        </p:txBody>
      </p:sp>
      <p:sp>
        <p:nvSpPr>
          <p:cNvPr id="18" name="Text 14"/>
          <p:cNvSpPr/>
          <p:nvPr/>
        </p:nvSpPr>
        <p:spPr>
          <a:xfrm>
            <a:off x="6949440" y="2514600"/>
            <a:ext cx="4754880" cy="731520"/>
          </a:xfrm>
          <a:prstGeom prst="rect">
            <a:avLst/>
          </a:prstGeom>
          <a:noFill/>
          <a:ln/>
        </p:spPr>
        <p:txBody>
          <a:bodyPr wrap="square" lIns="0" tIns="0" rIns="0" bIns="0" rtlCol="0" anchor="ctr"/>
          <a:lstStyle/>
          <a:p>
            <a:pPr marL="0" indent="0">
              <a:buNone/>
            </a:pPr>
            <a:r>
              <a:rPr lang="en-US" sz="1700" dirty="0">
                <a:solidFill>
                  <a:srgbClr val="FFFFFF"/>
                </a:solidFill>
                <a:latin typeface="Arial" pitchFamily="34" charset="0"/>
                <a:ea typeface="Arial" pitchFamily="34" charset="-122"/>
                <a:cs typeface="Arial" pitchFamily="34" charset="-120"/>
              </a:rPr>
              <a:t>Escribir especificaciones, no solo prompts</a:t>
            </a:r>
            <a:endParaRPr lang="en-US" sz="1700" dirty="0"/>
          </a:p>
        </p:txBody>
      </p:sp>
      <p:sp>
        <p:nvSpPr>
          <p:cNvPr id="19" name="Text 15"/>
          <p:cNvSpPr/>
          <p:nvPr/>
        </p:nvSpPr>
        <p:spPr>
          <a:xfrm>
            <a:off x="6400800" y="3566160"/>
            <a:ext cx="502920" cy="731520"/>
          </a:xfrm>
          <a:prstGeom prst="rect">
            <a:avLst/>
          </a:prstGeom>
          <a:noFill/>
          <a:ln/>
        </p:spPr>
        <p:txBody>
          <a:bodyPr wrap="square" lIns="0" tIns="0" rIns="0" bIns="0" rtlCol="0" anchor="ctr"/>
          <a:lstStyle/>
          <a:p>
            <a:pPr marL="0" indent="0">
              <a:buNone/>
            </a:pPr>
            <a:r>
              <a:rPr lang="en-US" sz="2600" b="1" dirty="0">
                <a:solidFill>
                  <a:srgbClr val="9257F1"/>
                </a:solidFill>
                <a:latin typeface="Arial" pitchFamily="34" charset="0"/>
                <a:ea typeface="Arial" pitchFamily="34" charset="-122"/>
                <a:cs typeface="Arial" pitchFamily="34" charset="-120"/>
              </a:rPr>
              <a:t>7</a:t>
            </a:r>
            <a:endParaRPr lang="en-US" sz="2600" dirty="0"/>
          </a:p>
        </p:txBody>
      </p:sp>
      <p:sp>
        <p:nvSpPr>
          <p:cNvPr id="20" name="Text 16"/>
          <p:cNvSpPr/>
          <p:nvPr/>
        </p:nvSpPr>
        <p:spPr>
          <a:xfrm>
            <a:off x="6949440" y="3566160"/>
            <a:ext cx="4754880" cy="731520"/>
          </a:xfrm>
          <a:prstGeom prst="rect">
            <a:avLst/>
          </a:prstGeom>
          <a:noFill/>
          <a:ln/>
        </p:spPr>
        <p:txBody>
          <a:bodyPr wrap="square" lIns="0" tIns="0" rIns="0" bIns="0" rtlCol="0" anchor="ctr"/>
          <a:lstStyle/>
          <a:p>
            <a:pPr marL="0" indent="0">
              <a:buNone/>
            </a:pPr>
            <a:r>
              <a:rPr lang="en-US" sz="1700" dirty="0">
                <a:solidFill>
                  <a:srgbClr val="FFFFFF"/>
                </a:solidFill>
                <a:latin typeface="Arial" pitchFamily="34" charset="0"/>
                <a:ea typeface="Arial" pitchFamily="34" charset="-122"/>
                <a:cs typeface="Arial" pitchFamily="34" charset="-120"/>
              </a:rPr>
              <a:t>Construir evidencia de que sabes hacer cosas</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5.2  ·  32:11–35:33</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32/38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LOS RECURSOS: LA ESCALERA DE AWS</a:t>
            </a:r>
            <a:endParaRPr lang="en-US" sz="1200" dirty="0"/>
          </a:p>
        </p:txBody>
      </p:sp>
      <p:sp>
        <p:nvSpPr>
          <p:cNvPr id="7" name="Shape 3"/>
          <p:cNvSpPr/>
          <p:nvPr/>
        </p:nvSpPr>
        <p:spPr>
          <a:xfrm>
            <a:off x="822960" y="4069080"/>
            <a:ext cx="2606040" cy="1417320"/>
          </a:xfrm>
          <a:prstGeom prst="rect">
            <a:avLst/>
          </a:prstGeom>
          <a:solidFill>
            <a:srgbClr val="1E2739"/>
          </a:solidFill>
          <a:ln w="12700">
            <a:solidFill>
              <a:srgbClr val="2C3852"/>
            </a:solidFill>
            <a:prstDash val="solid"/>
          </a:ln>
        </p:spPr>
        <p:txBody>
          <a:bodyPr/>
          <a:lstStyle/>
          <a:p>
            <a:endParaRPr lang="en-CO"/>
          </a:p>
        </p:txBody>
      </p:sp>
      <p:sp>
        <p:nvSpPr>
          <p:cNvPr id="8" name="Text 4"/>
          <p:cNvSpPr/>
          <p:nvPr/>
        </p:nvSpPr>
        <p:spPr>
          <a:xfrm>
            <a:off x="1024128" y="4233672"/>
            <a:ext cx="2203704" cy="457200"/>
          </a:xfrm>
          <a:prstGeom prst="rect">
            <a:avLst/>
          </a:prstGeom>
          <a:noFill/>
          <a:ln/>
        </p:spPr>
        <p:txBody>
          <a:bodyPr wrap="square" lIns="0" tIns="0" rIns="0" bIns="0" rtlCol="0" anchor="t"/>
          <a:lstStyle/>
          <a:p>
            <a:pPr marL="0" indent="0">
              <a:buNone/>
            </a:pPr>
            <a:r>
              <a:rPr lang="en-US" sz="1600" b="1" dirty="0">
                <a:solidFill>
                  <a:srgbClr val="FFFFFF"/>
                </a:solidFill>
                <a:latin typeface="Arial" pitchFamily="34" charset="0"/>
                <a:ea typeface="Arial" pitchFamily="34" charset="-122"/>
                <a:cs typeface="Arial" pitchFamily="34" charset="-120"/>
              </a:rPr>
              <a:t>AWS Educate</a:t>
            </a:r>
            <a:endParaRPr lang="en-US" sz="1600" dirty="0"/>
          </a:p>
        </p:txBody>
      </p:sp>
      <p:sp>
        <p:nvSpPr>
          <p:cNvPr id="9" name="Text 5"/>
          <p:cNvSpPr/>
          <p:nvPr/>
        </p:nvSpPr>
        <p:spPr>
          <a:xfrm>
            <a:off x="1024128" y="4727448"/>
            <a:ext cx="2203704" cy="594360"/>
          </a:xfrm>
          <a:prstGeom prst="rect">
            <a:avLst/>
          </a:prstGeom>
          <a:noFill/>
          <a:ln/>
        </p:spPr>
        <p:txBody>
          <a:bodyPr wrap="square" lIns="0" tIns="0" rIns="0" bIns="0" rtlCol="0" anchor="t"/>
          <a:lstStyle/>
          <a:p>
            <a:pPr marL="0" indent="0">
              <a:lnSpc>
                <a:spcPts val="1800"/>
              </a:lnSpc>
              <a:buNone/>
            </a:pPr>
            <a:r>
              <a:rPr lang="en-US" sz="1200" dirty="0">
                <a:solidFill>
                  <a:srgbClr val="8A93A8"/>
                </a:solidFill>
                <a:latin typeface="Arial" pitchFamily="34" charset="0"/>
                <a:ea typeface="Arial" pitchFamily="34" charset="-122"/>
                <a:cs typeface="Arial" pitchFamily="34" charset="-120"/>
              </a:rPr>
              <a:t>Gratis, sin tarjeta.</a:t>
            </a:r>
            <a:endParaRPr lang="en-US" sz="1200" dirty="0"/>
          </a:p>
          <a:p>
            <a:pPr marL="0" indent="0">
              <a:lnSpc>
                <a:spcPts val="1800"/>
              </a:lnSpc>
              <a:buNone/>
            </a:pPr>
            <a:r>
              <a:rPr lang="en-US" sz="1200" dirty="0">
                <a:solidFill>
                  <a:srgbClr val="8A93A8"/>
                </a:solidFill>
                <a:latin typeface="Arial" pitchFamily="34" charset="0"/>
                <a:ea typeface="Arial" pitchFamily="34" charset="-122"/>
                <a:cs typeface="Arial" pitchFamily="34" charset="-120"/>
              </a:rPr>
              <a:t>Labs de S3, EC2, VPC, RDS.</a:t>
            </a:r>
            <a:endParaRPr lang="en-US" sz="1200" dirty="0"/>
          </a:p>
          <a:p>
            <a:pPr marL="0" indent="0">
              <a:lnSpc>
                <a:spcPts val="1800"/>
              </a:lnSpc>
              <a:buNone/>
            </a:pPr>
            <a:r>
              <a:rPr lang="en-US" sz="1200" dirty="0">
                <a:solidFill>
                  <a:srgbClr val="8A93A8"/>
                </a:solidFill>
                <a:latin typeface="Arial" pitchFamily="34" charset="0"/>
                <a:ea typeface="Arial" pitchFamily="34" charset="-122"/>
                <a:cs typeface="Arial" pitchFamily="34" charset="-120"/>
              </a:rPr>
              <a:t>Insignias y bolsa de empleo.</a:t>
            </a:r>
            <a:endParaRPr lang="en-US" sz="1200" dirty="0"/>
          </a:p>
        </p:txBody>
      </p:sp>
      <p:sp>
        <p:nvSpPr>
          <p:cNvPr id="10" name="Shape 6"/>
          <p:cNvSpPr/>
          <p:nvPr/>
        </p:nvSpPr>
        <p:spPr>
          <a:xfrm>
            <a:off x="3685032" y="3538728"/>
            <a:ext cx="2606040" cy="1947672"/>
          </a:xfrm>
          <a:prstGeom prst="rect">
            <a:avLst/>
          </a:prstGeom>
          <a:solidFill>
            <a:srgbClr val="1E2739"/>
          </a:solidFill>
          <a:ln w="12700">
            <a:solidFill>
              <a:srgbClr val="2C3852"/>
            </a:solidFill>
            <a:prstDash val="solid"/>
          </a:ln>
        </p:spPr>
        <p:txBody>
          <a:bodyPr/>
          <a:lstStyle/>
          <a:p>
            <a:endParaRPr lang="en-CO"/>
          </a:p>
        </p:txBody>
      </p:sp>
      <p:sp>
        <p:nvSpPr>
          <p:cNvPr id="11" name="Text 7"/>
          <p:cNvSpPr/>
          <p:nvPr/>
        </p:nvSpPr>
        <p:spPr>
          <a:xfrm>
            <a:off x="3886200" y="3703320"/>
            <a:ext cx="2203704" cy="457200"/>
          </a:xfrm>
          <a:prstGeom prst="rect">
            <a:avLst/>
          </a:prstGeom>
          <a:noFill/>
          <a:ln/>
        </p:spPr>
        <p:txBody>
          <a:bodyPr wrap="square" lIns="0" tIns="0" rIns="0" bIns="0" rtlCol="0" anchor="t"/>
          <a:lstStyle/>
          <a:p>
            <a:pPr marL="0" indent="0">
              <a:buNone/>
            </a:pPr>
            <a:r>
              <a:rPr lang="en-US" sz="1600" b="1" dirty="0">
                <a:solidFill>
                  <a:srgbClr val="FFFFFF"/>
                </a:solidFill>
                <a:latin typeface="Arial" pitchFamily="34" charset="0"/>
                <a:ea typeface="Arial" pitchFamily="34" charset="-122"/>
                <a:cs typeface="Arial" pitchFamily="34" charset="-120"/>
              </a:rPr>
              <a:t>AWS Skill Builder</a:t>
            </a:r>
            <a:endParaRPr lang="en-US" sz="1600" dirty="0"/>
          </a:p>
        </p:txBody>
      </p:sp>
      <p:sp>
        <p:nvSpPr>
          <p:cNvPr id="12" name="Text 8"/>
          <p:cNvSpPr/>
          <p:nvPr/>
        </p:nvSpPr>
        <p:spPr>
          <a:xfrm>
            <a:off x="3886200" y="4197096"/>
            <a:ext cx="2203704" cy="1124712"/>
          </a:xfrm>
          <a:prstGeom prst="rect">
            <a:avLst/>
          </a:prstGeom>
          <a:noFill/>
          <a:ln/>
        </p:spPr>
        <p:txBody>
          <a:bodyPr wrap="square" lIns="0" tIns="0" rIns="0" bIns="0" rtlCol="0" anchor="t"/>
          <a:lstStyle/>
          <a:p>
            <a:pPr marL="0" indent="0">
              <a:lnSpc>
                <a:spcPts val="1800"/>
              </a:lnSpc>
              <a:buNone/>
            </a:pPr>
            <a:r>
              <a:rPr lang="en-US" sz="1200" dirty="0">
                <a:solidFill>
                  <a:srgbClr val="8A93A8"/>
                </a:solidFill>
                <a:latin typeface="Arial" pitchFamily="34" charset="0"/>
                <a:ea typeface="Arial" pitchFamily="34" charset="-122"/>
                <a:cs typeface="Arial" pitchFamily="34" charset="-120"/>
              </a:rPr>
              <a:t>Gratis: sets de práctica,</a:t>
            </a:r>
            <a:endParaRPr lang="en-US" sz="1200" dirty="0"/>
          </a:p>
          <a:p>
            <a:pPr marL="0" indent="0">
              <a:lnSpc>
                <a:spcPts val="1800"/>
              </a:lnSpc>
              <a:buNone/>
            </a:pPr>
            <a:r>
              <a:rPr lang="en-US" sz="1200" dirty="0">
                <a:solidFill>
                  <a:srgbClr val="8A93A8"/>
                </a:solidFill>
                <a:latin typeface="Arial" pitchFamily="34" charset="0"/>
                <a:ea typeface="Arial" pitchFamily="34" charset="-122"/>
                <a:cs typeface="Arial" pitchFamily="34" charset="-120"/>
              </a:rPr>
              <a:t>Exam Prep, Cloud Quest.</a:t>
            </a:r>
            <a:endParaRPr lang="en-US" sz="1200" dirty="0"/>
          </a:p>
          <a:p>
            <a:pPr marL="0" indent="0">
              <a:lnSpc>
                <a:spcPts val="1800"/>
              </a:lnSpc>
              <a:buNone/>
            </a:pPr>
            <a:r>
              <a:rPr lang="en-US" sz="1200" dirty="0">
                <a:solidFill>
                  <a:srgbClr val="8A93A8"/>
                </a:solidFill>
                <a:latin typeface="Arial" pitchFamily="34" charset="0"/>
                <a:ea typeface="Arial" pitchFamily="34" charset="-122"/>
                <a:cs typeface="Arial" pitchFamily="34" charset="-120"/>
              </a:rPr>
              <a:t>Suscripción desde $29/mes.</a:t>
            </a:r>
            <a:endParaRPr lang="en-US" sz="1200" dirty="0"/>
          </a:p>
        </p:txBody>
      </p:sp>
      <p:sp>
        <p:nvSpPr>
          <p:cNvPr id="13" name="Shape 9"/>
          <p:cNvSpPr/>
          <p:nvPr/>
        </p:nvSpPr>
        <p:spPr>
          <a:xfrm>
            <a:off x="6547104" y="3008376"/>
            <a:ext cx="2606040" cy="2478024"/>
          </a:xfrm>
          <a:prstGeom prst="rect">
            <a:avLst/>
          </a:prstGeom>
          <a:solidFill>
            <a:srgbClr val="1E2739"/>
          </a:solidFill>
          <a:ln w="12700">
            <a:solidFill>
              <a:srgbClr val="2C3852"/>
            </a:solidFill>
            <a:prstDash val="solid"/>
          </a:ln>
        </p:spPr>
        <p:txBody>
          <a:bodyPr/>
          <a:lstStyle/>
          <a:p>
            <a:endParaRPr lang="en-CO"/>
          </a:p>
        </p:txBody>
      </p:sp>
      <p:sp>
        <p:nvSpPr>
          <p:cNvPr id="14" name="Text 10"/>
          <p:cNvSpPr/>
          <p:nvPr/>
        </p:nvSpPr>
        <p:spPr>
          <a:xfrm>
            <a:off x="6748272" y="3172968"/>
            <a:ext cx="2203704" cy="457200"/>
          </a:xfrm>
          <a:prstGeom prst="rect">
            <a:avLst/>
          </a:prstGeom>
          <a:noFill/>
          <a:ln/>
        </p:spPr>
        <p:txBody>
          <a:bodyPr wrap="square" lIns="0" tIns="0" rIns="0" bIns="0" rtlCol="0" anchor="t"/>
          <a:lstStyle/>
          <a:p>
            <a:pPr marL="0" indent="0">
              <a:buNone/>
            </a:pPr>
            <a:r>
              <a:rPr lang="en-US" sz="1600" b="1" dirty="0">
                <a:solidFill>
                  <a:srgbClr val="FFFFFF"/>
                </a:solidFill>
                <a:latin typeface="Arial" pitchFamily="34" charset="0"/>
                <a:ea typeface="Arial" pitchFamily="34" charset="-122"/>
                <a:cs typeface="Arial" pitchFamily="34" charset="-120"/>
              </a:rPr>
              <a:t>Kiro</a:t>
            </a:r>
            <a:endParaRPr lang="en-US" sz="1600" dirty="0"/>
          </a:p>
        </p:txBody>
      </p:sp>
      <p:sp>
        <p:nvSpPr>
          <p:cNvPr id="15" name="Text 11"/>
          <p:cNvSpPr/>
          <p:nvPr/>
        </p:nvSpPr>
        <p:spPr>
          <a:xfrm>
            <a:off x="6748272" y="3666744"/>
            <a:ext cx="2203704" cy="1655064"/>
          </a:xfrm>
          <a:prstGeom prst="rect">
            <a:avLst/>
          </a:prstGeom>
          <a:noFill/>
          <a:ln/>
        </p:spPr>
        <p:txBody>
          <a:bodyPr wrap="square" lIns="0" tIns="0" rIns="0" bIns="0" rtlCol="0" anchor="t"/>
          <a:lstStyle/>
          <a:p>
            <a:pPr marL="0" indent="0">
              <a:lnSpc>
                <a:spcPts val="1800"/>
              </a:lnSpc>
              <a:buNone/>
            </a:pPr>
            <a:r>
              <a:rPr lang="en-US" sz="1200" dirty="0">
                <a:solidFill>
                  <a:srgbClr val="8A93A8"/>
                </a:solidFill>
                <a:latin typeface="Arial" pitchFamily="34" charset="0"/>
                <a:ea typeface="Arial" pitchFamily="34" charset="-122"/>
                <a:cs typeface="Arial" pitchFamily="34" charset="-120"/>
              </a:rPr>
              <a:t>Capa gratuita. IDE, CLI y web.</a:t>
            </a:r>
            <a:endParaRPr lang="en-US" sz="1200" dirty="0"/>
          </a:p>
          <a:p>
            <a:pPr marL="0" indent="0">
              <a:lnSpc>
                <a:spcPts val="1800"/>
              </a:lnSpc>
              <a:buNone/>
            </a:pPr>
            <a:r>
              <a:rPr lang="en-US" sz="1200" dirty="0">
                <a:solidFill>
                  <a:srgbClr val="8A93A8"/>
                </a:solidFill>
                <a:latin typeface="Arial" pitchFamily="34" charset="0"/>
                <a:ea typeface="Arial" pitchFamily="34" charset="-122"/>
                <a:cs typeface="Arial" pitchFamily="34" charset="-120"/>
              </a:rPr>
              <a:t>No requiere cuenta AWS.</a:t>
            </a:r>
            <a:endParaRPr lang="en-US" sz="1200" dirty="0"/>
          </a:p>
          <a:p>
            <a:pPr marL="0" indent="0">
              <a:lnSpc>
                <a:spcPts val="1800"/>
              </a:lnSpc>
              <a:buNone/>
            </a:pPr>
            <a:r>
              <a:rPr lang="en-US" sz="1200" dirty="0">
                <a:solidFill>
                  <a:srgbClr val="8A93A8"/>
                </a:solidFill>
                <a:latin typeface="Arial" pitchFamily="34" charset="0"/>
                <a:ea typeface="Arial" pitchFamily="34" charset="-122"/>
                <a:cs typeface="Arial" pitchFamily="34" charset="-120"/>
              </a:rPr>
              <a:t>Spec-driven en la práctica.</a:t>
            </a:r>
            <a:endParaRPr lang="en-US" sz="1200" dirty="0"/>
          </a:p>
        </p:txBody>
      </p:sp>
      <p:sp>
        <p:nvSpPr>
          <p:cNvPr id="16" name="Shape 12"/>
          <p:cNvSpPr/>
          <p:nvPr/>
        </p:nvSpPr>
        <p:spPr>
          <a:xfrm>
            <a:off x="9409176" y="2478024"/>
            <a:ext cx="2606040" cy="3008376"/>
          </a:xfrm>
          <a:prstGeom prst="rect">
            <a:avLst/>
          </a:prstGeom>
          <a:solidFill>
            <a:srgbClr val="231C3D"/>
          </a:solidFill>
          <a:ln w="12700">
            <a:solidFill>
              <a:srgbClr val="9257F1"/>
            </a:solidFill>
            <a:prstDash val="solid"/>
          </a:ln>
        </p:spPr>
        <p:txBody>
          <a:bodyPr/>
          <a:lstStyle/>
          <a:p>
            <a:endParaRPr lang="en-CO"/>
          </a:p>
        </p:txBody>
      </p:sp>
      <p:sp>
        <p:nvSpPr>
          <p:cNvPr id="17" name="Text 13"/>
          <p:cNvSpPr/>
          <p:nvPr/>
        </p:nvSpPr>
        <p:spPr>
          <a:xfrm>
            <a:off x="9610344" y="2642616"/>
            <a:ext cx="2203704" cy="457200"/>
          </a:xfrm>
          <a:prstGeom prst="rect">
            <a:avLst/>
          </a:prstGeom>
          <a:noFill/>
          <a:ln/>
        </p:spPr>
        <p:txBody>
          <a:bodyPr wrap="square" lIns="0" tIns="0" rIns="0" bIns="0" rtlCol="0" anchor="t"/>
          <a:lstStyle/>
          <a:p>
            <a:pPr marL="0" indent="0">
              <a:buNone/>
            </a:pPr>
            <a:r>
              <a:rPr lang="en-US" sz="1600" b="1" dirty="0">
                <a:solidFill>
                  <a:srgbClr val="9257F1"/>
                </a:solidFill>
                <a:latin typeface="Arial" pitchFamily="34" charset="0"/>
                <a:ea typeface="Arial" pitchFamily="34" charset="-122"/>
                <a:cs typeface="Arial" pitchFamily="34" charset="-120"/>
              </a:rPr>
              <a:t>Certificaciones</a:t>
            </a:r>
            <a:endParaRPr lang="en-US" sz="1600" dirty="0"/>
          </a:p>
        </p:txBody>
      </p:sp>
      <p:sp>
        <p:nvSpPr>
          <p:cNvPr id="18" name="Text 14"/>
          <p:cNvSpPr/>
          <p:nvPr/>
        </p:nvSpPr>
        <p:spPr>
          <a:xfrm>
            <a:off x="9610344" y="3136392"/>
            <a:ext cx="2203704" cy="2185416"/>
          </a:xfrm>
          <a:prstGeom prst="rect">
            <a:avLst/>
          </a:prstGeom>
          <a:noFill/>
          <a:ln/>
        </p:spPr>
        <p:txBody>
          <a:bodyPr wrap="square" lIns="0" tIns="0" rIns="0" bIns="0" rtlCol="0" anchor="t"/>
          <a:lstStyle/>
          <a:p>
            <a:pPr marL="0" indent="0">
              <a:lnSpc>
                <a:spcPts val="1800"/>
              </a:lnSpc>
              <a:buNone/>
            </a:pPr>
            <a:r>
              <a:rPr lang="en-US" sz="1200" dirty="0">
                <a:solidFill>
                  <a:srgbClr val="8A93A8"/>
                </a:solidFill>
                <a:latin typeface="Arial" pitchFamily="34" charset="0"/>
                <a:ea typeface="Arial" pitchFamily="34" charset="-122"/>
                <a:cs typeface="Arial" pitchFamily="34" charset="-120"/>
              </a:rPr>
              <a:t>4 niveles + Gen AI Developer.</a:t>
            </a:r>
            <a:endParaRPr lang="en-US" sz="1200" dirty="0"/>
          </a:p>
          <a:p>
            <a:pPr marL="0" indent="0">
              <a:lnSpc>
                <a:spcPts val="1800"/>
              </a:lnSpc>
              <a:buNone/>
            </a:pPr>
            <a:r>
              <a:rPr lang="en-US" sz="1200" dirty="0">
                <a:solidFill>
                  <a:srgbClr val="8A93A8"/>
                </a:solidFill>
                <a:latin typeface="Arial" pitchFamily="34" charset="0"/>
                <a:ea typeface="Arial" pitchFamily="34" charset="-122"/>
                <a:cs typeface="Arial" pitchFamily="34" charset="-120"/>
              </a:rPr>
              <a:t>Microcredenciales en</a:t>
            </a:r>
            <a:endParaRPr lang="en-US" sz="1200" dirty="0"/>
          </a:p>
          <a:p>
            <a:pPr marL="0" indent="0">
              <a:lnSpc>
                <a:spcPts val="1800"/>
              </a:lnSpc>
              <a:buNone/>
            </a:pPr>
            <a:r>
              <a:rPr lang="en-US" sz="1200" dirty="0">
                <a:solidFill>
                  <a:srgbClr val="8A93A8"/>
                </a:solidFill>
                <a:latin typeface="Arial" pitchFamily="34" charset="0"/>
                <a:ea typeface="Arial" pitchFamily="34" charset="-122"/>
                <a:cs typeface="Arial" pitchFamily="34" charset="-120"/>
              </a:rPr>
              <a:t>entorno real de AWS.</a:t>
            </a:r>
            <a:endParaRPr lang="en-US" sz="1200" dirty="0"/>
          </a:p>
        </p:txBody>
      </p:sp>
      <p:sp>
        <p:nvSpPr>
          <p:cNvPr id="19" name="Text 15"/>
          <p:cNvSpPr/>
          <p:nvPr/>
        </p:nvSpPr>
        <p:spPr>
          <a:xfrm>
            <a:off x="822960" y="5715000"/>
            <a:ext cx="10545775" cy="365760"/>
          </a:xfrm>
          <a:prstGeom prst="rect">
            <a:avLst/>
          </a:prstGeom>
          <a:noFill/>
          <a:ln/>
        </p:spPr>
        <p:txBody>
          <a:bodyPr wrap="square" lIns="0" tIns="0" rIns="0" bIns="0" rtlCol="0" anchor="ctr"/>
          <a:lstStyle/>
          <a:p>
            <a:pPr marL="0" indent="0">
              <a:buNone/>
            </a:pPr>
            <a:r>
              <a:rPr lang="en-US" sz="1300" i="1" dirty="0">
                <a:solidFill>
                  <a:srgbClr val="8A93A8"/>
                </a:solidFill>
                <a:latin typeface="Arial" pitchFamily="34" charset="0"/>
                <a:ea typeface="Arial" pitchFamily="34" charset="-122"/>
                <a:cs typeface="Arial" pitchFamily="34" charset="-120"/>
              </a:rPr>
              <a:t>Kiro Students (1.000 créditos/mes) todavía no cubre universidades colombianas — pueden solicitar la suya en kiro.dev/students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5.2  ·  32:11–35:33</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33/38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914400" y="1645920"/>
            <a:ext cx="10362895" cy="3566160"/>
          </a:xfrm>
          <a:prstGeom prst="rect">
            <a:avLst/>
          </a:prstGeom>
          <a:noFill/>
          <a:ln/>
        </p:spPr>
        <p:txBody>
          <a:bodyPr wrap="square" lIns="0" tIns="0" rIns="0" bIns="0" rtlCol="0" anchor="ctr"/>
          <a:lstStyle/>
          <a:p>
            <a:pPr marL="0" indent="0" algn="ctr">
              <a:lnSpc>
                <a:spcPts val="4800"/>
              </a:lnSpc>
              <a:buNone/>
            </a:pPr>
            <a:r>
              <a:rPr lang="en-US" sz="2800" dirty="0">
                <a:solidFill>
                  <a:srgbClr val="8A93A8"/>
                </a:solidFill>
                <a:latin typeface="Arial" pitchFamily="34" charset="0"/>
                <a:ea typeface="Arial" pitchFamily="34" charset="-122"/>
                <a:cs typeface="Arial" pitchFamily="34" charset="-120"/>
              </a:rPr>
              <a:t>La certificación no reemplaza la experiencia.</a:t>
            </a:r>
            <a:endParaRPr lang="en-US" sz="2800" dirty="0"/>
          </a:p>
          <a:p>
            <a:pPr marL="0" indent="0" algn="ctr">
              <a:lnSpc>
                <a:spcPts val="4800"/>
              </a:lnSpc>
              <a:buNone/>
            </a:pPr>
            <a:r>
              <a:rPr lang="en-US" sz="2800" dirty="0">
                <a:solidFill>
                  <a:srgbClr val="8A93A8"/>
                </a:solidFill>
                <a:latin typeface="Arial" pitchFamily="34" charset="0"/>
                <a:ea typeface="Arial" pitchFamily="34" charset="-122"/>
                <a:cs typeface="Arial" pitchFamily="34" charset="-120"/>
              </a:rPr>
              <a:t>El proyecto no reemplaza los fundamentos.</a:t>
            </a:r>
            <a:endParaRPr lang="en-US" sz="2800" dirty="0"/>
          </a:p>
          <a:p>
            <a:pPr marL="0" indent="0" algn="ctr">
              <a:lnSpc>
                <a:spcPts val="4800"/>
              </a:lnSpc>
              <a:buNone/>
            </a:pPr>
            <a:r>
              <a:rPr lang="en-US" sz="2800" dirty="0">
                <a:solidFill>
                  <a:srgbClr val="8A93A8"/>
                </a:solidFill>
                <a:latin typeface="Arial" pitchFamily="34" charset="0"/>
                <a:ea typeface="Arial" pitchFamily="34" charset="-122"/>
                <a:cs typeface="Arial" pitchFamily="34" charset="-120"/>
              </a:rPr>
              <a:t>La IA no reemplaza ninguna de las dos.</a:t>
            </a:r>
            <a:endParaRPr lang="en-US" sz="2800" dirty="0"/>
          </a:p>
          <a:p>
            <a:pPr marL="0" indent="0" algn="ctr">
              <a:lnSpc>
                <a:spcPts val="4800"/>
              </a:lnSpc>
              <a:buNone/>
            </a:pPr>
            <a:r>
              <a:rPr lang="en-US" sz="1200" dirty="0">
                <a:solidFill>
                  <a:srgbClr val="000000"/>
                </a:solidFill>
                <a:latin typeface="Arial" pitchFamily="34" charset="0"/>
                <a:ea typeface="Arial" pitchFamily="34" charset="-122"/>
                <a:cs typeface="Arial" pitchFamily="34" charset="-120"/>
              </a:rPr>
              <a:t>
</a:t>
            </a:r>
            <a:endParaRPr lang="en-US" sz="2800" dirty="0"/>
          </a:p>
          <a:p>
            <a:pPr marL="0" indent="0" algn="ctr">
              <a:lnSpc>
                <a:spcPts val="4800"/>
              </a:lnSpc>
              <a:buNone/>
            </a:pPr>
            <a:r>
              <a:rPr lang="en-US" sz="2800" b="1" dirty="0">
                <a:solidFill>
                  <a:srgbClr val="9257F1"/>
                </a:solidFill>
                <a:latin typeface="Arial" pitchFamily="34" charset="0"/>
                <a:ea typeface="Arial" pitchFamily="34" charset="-122"/>
                <a:cs typeface="Arial" pitchFamily="34" charset="-120"/>
              </a:rPr>
              <a:t>Las tres cosas se complementan.</a:t>
            </a:r>
            <a:endParaRPr 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6.1  ·  35:33–36:25</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34/38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3246120" y="1691640"/>
            <a:ext cx="2103120" cy="548640"/>
          </a:xfrm>
          <a:prstGeom prst="rect">
            <a:avLst/>
          </a:prstGeom>
          <a:noFill/>
          <a:ln/>
        </p:spPr>
        <p:txBody>
          <a:bodyPr wrap="square" lIns="0" tIns="0" rIns="0" bIns="0" rtlCol="0" anchor="ctr"/>
          <a:lstStyle/>
          <a:p>
            <a:pPr marL="0" indent="0" algn="r">
              <a:buNone/>
            </a:pPr>
            <a:r>
              <a:rPr lang="en-US" sz="2600" b="1" dirty="0">
                <a:solidFill>
                  <a:srgbClr val="8A93A8"/>
                </a:solidFill>
                <a:latin typeface="Arial" pitchFamily="34" charset="0"/>
                <a:ea typeface="Arial" pitchFamily="34" charset="-122"/>
                <a:cs typeface="Arial" pitchFamily="34" charset="-120"/>
              </a:rPr>
              <a:t>3 horas</a:t>
            </a:r>
            <a:endParaRPr lang="en-US" sz="2600" dirty="0"/>
          </a:p>
        </p:txBody>
      </p:sp>
      <p:sp>
        <p:nvSpPr>
          <p:cNvPr id="7" name="Text 3"/>
          <p:cNvSpPr/>
          <p:nvPr/>
        </p:nvSpPr>
        <p:spPr>
          <a:xfrm>
            <a:off x="5577840" y="1691640"/>
            <a:ext cx="3337560" cy="548640"/>
          </a:xfrm>
          <a:prstGeom prst="rect">
            <a:avLst/>
          </a:prstGeom>
          <a:noFill/>
          <a:ln/>
        </p:spPr>
        <p:txBody>
          <a:bodyPr wrap="square" lIns="0" tIns="0" rIns="0" bIns="0" rtlCol="0" anchor="ctr"/>
          <a:lstStyle/>
          <a:p>
            <a:pPr marL="0" indent="0">
              <a:buNone/>
            </a:pPr>
            <a:r>
              <a:rPr lang="en-US" sz="2200" dirty="0">
                <a:solidFill>
                  <a:srgbClr val="8A93A8"/>
                </a:solidFill>
                <a:latin typeface="Arial" pitchFamily="34" charset="0"/>
                <a:ea typeface="Arial" pitchFamily="34" charset="-122"/>
                <a:cs typeface="Arial" pitchFamily="34" charset="-120"/>
              </a:rPr>
              <a:t>aprendiendo a construirlo</a:t>
            </a:r>
            <a:endParaRPr lang="en-US" sz="2200" dirty="0"/>
          </a:p>
        </p:txBody>
      </p:sp>
      <p:sp>
        <p:nvSpPr>
          <p:cNvPr id="8" name="Text 4"/>
          <p:cNvSpPr/>
          <p:nvPr/>
        </p:nvSpPr>
        <p:spPr>
          <a:xfrm>
            <a:off x="3246120" y="2468880"/>
            <a:ext cx="2103120" cy="548640"/>
          </a:xfrm>
          <a:prstGeom prst="rect">
            <a:avLst/>
          </a:prstGeom>
          <a:noFill/>
          <a:ln/>
        </p:spPr>
        <p:txBody>
          <a:bodyPr wrap="square" lIns="0" tIns="0" rIns="0" bIns="0" rtlCol="0" anchor="ctr"/>
          <a:lstStyle/>
          <a:p>
            <a:pPr marL="0" indent="0" algn="r">
              <a:buNone/>
            </a:pPr>
            <a:r>
              <a:rPr lang="en-US" sz="2600" b="1" dirty="0">
                <a:solidFill>
                  <a:srgbClr val="9257F1"/>
                </a:solidFill>
                <a:latin typeface="Arial" pitchFamily="34" charset="0"/>
                <a:ea typeface="Arial" pitchFamily="34" charset="-122"/>
                <a:cs typeface="Arial" pitchFamily="34" charset="-120"/>
              </a:rPr>
              <a:t>30 segundos</a:t>
            </a:r>
            <a:endParaRPr lang="en-US" sz="2600" dirty="0"/>
          </a:p>
        </p:txBody>
      </p:sp>
      <p:sp>
        <p:nvSpPr>
          <p:cNvPr id="9" name="Text 5"/>
          <p:cNvSpPr/>
          <p:nvPr/>
        </p:nvSpPr>
        <p:spPr>
          <a:xfrm>
            <a:off x="5577840" y="2468880"/>
            <a:ext cx="3337560" cy="548640"/>
          </a:xfrm>
          <a:prstGeom prst="rect">
            <a:avLst/>
          </a:prstGeom>
          <a:noFill/>
          <a:ln/>
        </p:spPr>
        <p:txBody>
          <a:bodyPr wrap="square" lIns="0" tIns="0" rIns="0" bIns="0" rtlCol="0" anchor="ctr"/>
          <a:lstStyle/>
          <a:p>
            <a:pPr marL="0" indent="0">
              <a:buNone/>
            </a:pPr>
            <a:r>
              <a:rPr lang="en-US" sz="2200" dirty="0">
                <a:solidFill>
                  <a:srgbClr val="8A93A8"/>
                </a:solidFill>
                <a:latin typeface="Arial" pitchFamily="34" charset="0"/>
                <a:ea typeface="Arial" pitchFamily="34" charset="-122"/>
                <a:cs typeface="Arial" pitchFamily="34" charset="-120"/>
              </a:rPr>
              <a:t>para que una IA lo escriba</a:t>
            </a:r>
            <a:endParaRPr lang="en-US" sz="2200" dirty="0"/>
          </a:p>
        </p:txBody>
      </p:sp>
      <p:sp>
        <p:nvSpPr>
          <p:cNvPr id="10" name="Text 6"/>
          <p:cNvSpPr/>
          <p:nvPr/>
        </p:nvSpPr>
        <p:spPr>
          <a:xfrm>
            <a:off x="914400" y="3794760"/>
            <a:ext cx="10362895" cy="1280160"/>
          </a:xfrm>
          <a:prstGeom prst="rect">
            <a:avLst/>
          </a:prstGeom>
          <a:noFill/>
          <a:ln/>
        </p:spPr>
        <p:txBody>
          <a:bodyPr wrap="square" lIns="0" tIns="0" rIns="0" bIns="0" rtlCol="0" anchor="ctr"/>
          <a:lstStyle/>
          <a:p>
            <a:pPr marL="0" indent="0" algn="ctr">
              <a:buNone/>
            </a:pPr>
            <a:r>
              <a:rPr lang="en-US" sz="5000" b="1" dirty="0">
                <a:solidFill>
                  <a:srgbClr val="FFFFFF"/>
                </a:solidFill>
                <a:latin typeface="Arial" pitchFamily="34" charset="0"/>
                <a:ea typeface="Arial" pitchFamily="34" charset="-122"/>
                <a:cs typeface="Arial" pitchFamily="34" charset="-120"/>
              </a:rPr>
              <a:t>¿Se </a:t>
            </a:r>
            <a:r>
              <a:rPr lang="en-US" sz="5000" b="1" dirty="0" err="1">
                <a:solidFill>
                  <a:srgbClr val="FFFFFF"/>
                </a:solidFill>
                <a:latin typeface="Arial" pitchFamily="34" charset="0"/>
                <a:ea typeface="Arial" pitchFamily="34" charset="-122"/>
                <a:cs typeface="Arial" pitchFamily="34" charset="-120"/>
              </a:rPr>
              <a:t>Perdieron</a:t>
            </a:r>
            <a:r>
              <a:rPr lang="en-US" sz="5000" b="1" dirty="0">
                <a:solidFill>
                  <a:srgbClr val="FFFFFF"/>
                </a:solidFill>
                <a:latin typeface="Arial" pitchFamily="34" charset="0"/>
                <a:ea typeface="Arial" pitchFamily="34" charset="-122"/>
                <a:cs typeface="Arial" pitchFamily="34" charset="-120"/>
              </a:rPr>
              <a:t> esas tres horas?</a:t>
            </a:r>
            <a:endParaRPr lang="en-US" sz="5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6.2  ·  36:25–37:29</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35/38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914400" y="1097280"/>
            <a:ext cx="10362895" cy="4480560"/>
          </a:xfrm>
          <a:prstGeom prst="rect">
            <a:avLst/>
          </a:prstGeom>
          <a:noFill/>
          <a:ln/>
        </p:spPr>
        <p:txBody>
          <a:bodyPr wrap="square" lIns="0" tIns="0" rIns="0" bIns="0" rtlCol="0" anchor="ctr"/>
          <a:lstStyle/>
          <a:p>
            <a:pPr marL="0" indent="0" algn="ctr">
              <a:lnSpc>
                <a:spcPts val="4800"/>
              </a:lnSpc>
              <a:buNone/>
            </a:pPr>
            <a:r>
              <a:rPr lang="en-US" sz="3600" b="1" dirty="0">
                <a:solidFill>
                  <a:srgbClr val="FFFFFF"/>
                </a:solidFill>
                <a:latin typeface="Arial" pitchFamily="34" charset="0"/>
                <a:ea typeface="Arial" pitchFamily="34" charset="-122"/>
                <a:cs typeface="Arial" pitchFamily="34" charset="-120"/>
              </a:rPr>
              <a:t>No intenten ser la persona que escribe</a:t>
            </a:r>
            <a:endParaRPr lang="en-US" sz="3600" dirty="0"/>
          </a:p>
          <a:p>
            <a:pPr marL="0" indent="0" algn="ctr">
              <a:lnSpc>
                <a:spcPts val="4800"/>
              </a:lnSpc>
              <a:buNone/>
            </a:pPr>
            <a:r>
              <a:rPr lang="en-US" sz="3600" b="1" dirty="0">
                <a:solidFill>
                  <a:srgbClr val="8A93A8"/>
                </a:solidFill>
                <a:latin typeface="Arial" pitchFamily="34" charset="0"/>
                <a:ea typeface="Arial" pitchFamily="34" charset="-122"/>
                <a:cs typeface="Arial" pitchFamily="34" charset="-120"/>
              </a:rPr>
              <a:t>código más rápido que una IA.</a:t>
            </a:r>
            <a:endParaRPr lang="en-US" sz="3600" dirty="0"/>
          </a:p>
          <a:p>
            <a:pPr marL="0" indent="0" algn="ctr">
              <a:lnSpc>
                <a:spcPts val="4800"/>
              </a:lnSpc>
              <a:buNone/>
            </a:pPr>
            <a:endParaRPr lang="en-US" sz="3600" dirty="0"/>
          </a:p>
          <a:p>
            <a:pPr marL="0" indent="0" algn="ctr">
              <a:lnSpc>
                <a:spcPts val="4800"/>
              </a:lnSpc>
              <a:buNone/>
            </a:pPr>
            <a:r>
              <a:rPr lang="en-US" sz="3600" b="1" dirty="0">
                <a:solidFill>
                  <a:srgbClr val="9257F1"/>
                </a:solidFill>
                <a:latin typeface="Arial" pitchFamily="34" charset="0"/>
                <a:ea typeface="Arial" pitchFamily="34" charset="-122"/>
                <a:cs typeface="Arial" pitchFamily="34" charset="-120"/>
              </a:rPr>
              <a:t>La habilidad es hacer ingeniería con IA.</a:t>
            </a:r>
            <a:endParaRPr lang="en-US" sz="3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6.3  ·  37:29–38:48</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36/38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822960" y="502920"/>
            <a:ext cx="10545775"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TRES IDEAS PARA LLEVARSE A CASA</a:t>
            </a:r>
            <a:endParaRPr lang="en-US" sz="1200" dirty="0"/>
          </a:p>
        </p:txBody>
      </p:sp>
      <p:sp>
        <p:nvSpPr>
          <p:cNvPr id="7" name="Shape 3"/>
          <p:cNvSpPr/>
          <p:nvPr/>
        </p:nvSpPr>
        <p:spPr>
          <a:xfrm>
            <a:off x="822960" y="2011680"/>
            <a:ext cx="3301898" cy="3200400"/>
          </a:xfrm>
          <a:prstGeom prst="rect">
            <a:avLst/>
          </a:prstGeom>
          <a:solidFill>
            <a:srgbClr val="1E2739"/>
          </a:solidFill>
          <a:ln w="12700">
            <a:solidFill>
              <a:srgbClr val="2C3852"/>
            </a:solidFill>
            <a:prstDash val="solid"/>
          </a:ln>
        </p:spPr>
        <p:txBody>
          <a:bodyPr/>
          <a:lstStyle/>
          <a:p>
            <a:endParaRPr lang="en-CO"/>
          </a:p>
        </p:txBody>
      </p:sp>
      <p:sp>
        <p:nvSpPr>
          <p:cNvPr id="8" name="Text 4"/>
          <p:cNvSpPr/>
          <p:nvPr/>
        </p:nvSpPr>
        <p:spPr>
          <a:xfrm>
            <a:off x="1143000" y="2331720"/>
            <a:ext cx="2661818"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PRIMERA</a:t>
            </a:r>
            <a:endParaRPr lang="en-US" sz="1200" dirty="0"/>
          </a:p>
        </p:txBody>
      </p:sp>
      <p:sp>
        <p:nvSpPr>
          <p:cNvPr id="9" name="Text 5"/>
          <p:cNvSpPr/>
          <p:nvPr/>
        </p:nvSpPr>
        <p:spPr>
          <a:xfrm>
            <a:off x="1143000" y="2788920"/>
            <a:ext cx="2661818" cy="2057400"/>
          </a:xfrm>
          <a:prstGeom prst="rect">
            <a:avLst/>
          </a:prstGeom>
          <a:noFill/>
          <a:ln/>
        </p:spPr>
        <p:txBody>
          <a:bodyPr wrap="square" lIns="0" tIns="0" rIns="0" bIns="0" rtlCol="0" anchor="t"/>
          <a:lstStyle/>
          <a:p>
            <a:pPr marL="0" indent="0">
              <a:lnSpc>
                <a:spcPts val="2600"/>
              </a:lnSpc>
              <a:buNone/>
            </a:pPr>
            <a:r>
              <a:rPr lang="en-US" sz="1700" dirty="0">
                <a:solidFill>
                  <a:srgbClr val="FFFFFF"/>
                </a:solidFill>
                <a:latin typeface="Arial" pitchFamily="34" charset="0"/>
                <a:ea typeface="Arial" pitchFamily="34" charset="-122"/>
                <a:cs typeface="Arial" pitchFamily="34" charset="-120"/>
              </a:rPr>
              <a:t>Sí, vale la pena aprender a programar. Pero eso ya no puede significar únicamente aprender sintaxis.</a:t>
            </a:r>
            <a:endParaRPr lang="en-US" sz="1700" dirty="0"/>
          </a:p>
        </p:txBody>
      </p:sp>
      <p:sp>
        <p:nvSpPr>
          <p:cNvPr id="10" name="Shape 6"/>
          <p:cNvSpPr/>
          <p:nvPr/>
        </p:nvSpPr>
        <p:spPr>
          <a:xfrm>
            <a:off x="4444898" y="2011680"/>
            <a:ext cx="3301898" cy="3200400"/>
          </a:xfrm>
          <a:prstGeom prst="rect">
            <a:avLst/>
          </a:prstGeom>
          <a:solidFill>
            <a:srgbClr val="1E2739"/>
          </a:solidFill>
          <a:ln w="12700">
            <a:solidFill>
              <a:srgbClr val="2C3852"/>
            </a:solidFill>
            <a:prstDash val="solid"/>
          </a:ln>
        </p:spPr>
        <p:txBody>
          <a:bodyPr/>
          <a:lstStyle/>
          <a:p>
            <a:endParaRPr lang="en-CO"/>
          </a:p>
        </p:txBody>
      </p:sp>
      <p:sp>
        <p:nvSpPr>
          <p:cNvPr id="11" name="Text 7"/>
          <p:cNvSpPr/>
          <p:nvPr/>
        </p:nvSpPr>
        <p:spPr>
          <a:xfrm>
            <a:off x="4764938" y="2331720"/>
            <a:ext cx="2661818"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SEGUNDA</a:t>
            </a:r>
            <a:endParaRPr lang="en-US" sz="1200" dirty="0"/>
          </a:p>
        </p:txBody>
      </p:sp>
      <p:sp>
        <p:nvSpPr>
          <p:cNvPr id="12" name="Text 8"/>
          <p:cNvSpPr/>
          <p:nvPr/>
        </p:nvSpPr>
        <p:spPr>
          <a:xfrm>
            <a:off x="4764938" y="2788920"/>
            <a:ext cx="2661818" cy="2057400"/>
          </a:xfrm>
          <a:prstGeom prst="rect">
            <a:avLst/>
          </a:prstGeom>
          <a:noFill/>
          <a:ln/>
        </p:spPr>
        <p:txBody>
          <a:bodyPr wrap="square" lIns="0" tIns="0" rIns="0" bIns="0" rtlCol="0" anchor="t"/>
          <a:lstStyle/>
          <a:p>
            <a:pPr marL="0" indent="0">
              <a:lnSpc>
                <a:spcPts val="2600"/>
              </a:lnSpc>
              <a:buNone/>
            </a:pPr>
            <a:r>
              <a:rPr lang="en-US" sz="1700" dirty="0">
                <a:solidFill>
                  <a:srgbClr val="FFFFFF"/>
                </a:solidFill>
                <a:latin typeface="Arial" pitchFamily="34" charset="0"/>
                <a:ea typeface="Arial" pitchFamily="34" charset="-122"/>
                <a:cs typeface="Arial" pitchFamily="34" charset="-120"/>
              </a:rPr>
              <a:t>Usar IA será parte normal del trabajo. La ventaja está en usarla con criterio de ingeniería.</a:t>
            </a:r>
            <a:endParaRPr lang="en-US" sz="1700" dirty="0"/>
          </a:p>
        </p:txBody>
      </p:sp>
      <p:sp>
        <p:nvSpPr>
          <p:cNvPr id="13" name="Shape 9"/>
          <p:cNvSpPr/>
          <p:nvPr/>
        </p:nvSpPr>
        <p:spPr>
          <a:xfrm>
            <a:off x="8066837" y="2011680"/>
            <a:ext cx="3301898" cy="3200400"/>
          </a:xfrm>
          <a:prstGeom prst="rect">
            <a:avLst/>
          </a:prstGeom>
          <a:solidFill>
            <a:srgbClr val="1E2739"/>
          </a:solidFill>
          <a:ln w="12700">
            <a:solidFill>
              <a:srgbClr val="2C3852"/>
            </a:solidFill>
            <a:prstDash val="solid"/>
          </a:ln>
        </p:spPr>
        <p:txBody>
          <a:bodyPr/>
          <a:lstStyle/>
          <a:p>
            <a:endParaRPr lang="en-CO"/>
          </a:p>
        </p:txBody>
      </p:sp>
      <p:sp>
        <p:nvSpPr>
          <p:cNvPr id="14" name="Text 10"/>
          <p:cNvSpPr/>
          <p:nvPr/>
        </p:nvSpPr>
        <p:spPr>
          <a:xfrm>
            <a:off x="8386877" y="2331720"/>
            <a:ext cx="2661818" cy="320040"/>
          </a:xfrm>
          <a:prstGeom prst="rect">
            <a:avLst/>
          </a:prstGeom>
          <a:noFill/>
          <a:ln/>
        </p:spPr>
        <p:txBody>
          <a:bodyPr wrap="square" lIns="0" tIns="0" rIns="0" bIns="0" rtlCol="0" anchor="ctr"/>
          <a:lstStyle/>
          <a:p>
            <a:pPr marL="0" indent="0">
              <a:buNone/>
            </a:pPr>
            <a:r>
              <a:rPr lang="en-US" sz="1200" b="1" kern="0" spc="200" dirty="0">
                <a:solidFill>
                  <a:srgbClr val="9257F1"/>
                </a:solidFill>
                <a:latin typeface="Arial" pitchFamily="34" charset="0"/>
                <a:ea typeface="Arial" pitchFamily="34" charset="-122"/>
                <a:cs typeface="Arial" pitchFamily="34" charset="-120"/>
              </a:rPr>
              <a:t>TERCERA</a:t>
            </a:r>
            <a:endParaRPr lang="en-US" sz="1200" dirty="0"/>
          </a:p>
        </p:txBody>
      </p:sp>
      <p:sp>
        <p:nvSpPr>
          <p:cNvPr id="15" name="Text 11"/>
          <p:cNvSpPr/>
          <p:nvPr/>
        </p:nvSpPr>
        <p:spPr>
          <a:xfrm>
            <a:off x="8386877" y="2788920"/>
            <a:ext cx="2661818" cy="2057400"/>
          </a:xfrm>
          <a:prstGeom prst="rect">
            <a:avLst/>
          </a:prstGeom>
          <a:noFill/>
          <a:ln/>
        </p:spPr>
        <p:txBody>
          <a:bodyPr wrap="square" lIns="0" tIns="0" rIns="0" bIns="0" rtlCol="0" anchor="t"/>
          <a:lstStyle/>
          <a:p>
            <a:pPr marL="0" indent="0">
              <a:lnSpc>
                <a:spcPts val="2600"/>
              </a:lnSpc>
              <a:buNone/>
            </a:pPr>
            <a:r>
              <a:rPr lang="en-US" sz="1700" dirty="0">
                <a:solidFill>
                  <a:srgbClr val="FFFFFF"/>
                </a:solidFill>
                <a:latin typeface="Arial" pitchFamily="34" charset="0"/>
                <a:ea typeface="Arial" pitchFamily="34" charset="-122"/>
                <a:cs typeface="Arial" pitchFamily="34" charset="-120"/>
              </a:rPr>
              <a:t>El código ya no será la parte más difícil. El problema, la arquitectura, la seguridad y el costo sí.</a:t>
            </a:r>
            <a:endParaRPr lang="en-US" sz="1700" dirty="0"/>
          </a:p>
        </p:txBody>
      </p:sp>
      <p:sp>
        <p:nvSpPr>
          <p:cNvPr id="16" name="Text 12"/>
          <p:cNvSpPr/>
          <p:nvPr/>
        </p:nvSpPr>
        <p:spPr>
          <a:xfrm>
            <a:off x="822960" y="5532120"/>
            <a:ext cx="10545775" cy="457200"/>
          </a:xfrm>
          <a:prstGeom prst="rect">
            <a:avLst/>
          </a:prstGeom>
          <a:noFill/>
          <a:ln/>
        </p:spPr>
        <p:txBody>
          <a:bodyPr wrap="square" lIns="0" tIns="0" rIns="0" bIns="0" rtlCol="0" anchor="ctr"/>
          <a:lstStyle/>
          <a:p>
            <a:pPr marL="0" indent="0" algn="ctr">
              <a:buNone/>
            </a:pPr>
            <a:r>
              <a:rPr lang="en-US" sz="2200" b="1" dirty="0">
                <a:solidFill>
                  <a:srgbClr val="9257F1"/>
                </a:solidFill>
                <a:latin typeface="Arial" pitchFamily="34" charset="0"/>
                <a:ea typeface="Arial" pitchFamily="34" charset="-122"/>
                <a:cs typeface="Arial" pitchFamily="34" charset="-120"/>
              </a:rPr>
              <a:t>Y ahí sigue haciendo falta un ingeniero.</a:t>
            </a:r>
            <a:endParaRPr lang="en-US"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6.4  ·  38:48–39:58</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38/38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914400" y="1920240"/>
            <a:ext cx="10362895" cy="2011680"/>
          </a:xfrm>
          <a:prstGeom prst="rect">
            <a:avLst/>
          </a:prstGeom>
          <a:noFill/>
          <a:ln/>
        </p:spPr>
        <p:txBody>
          <a:bodyPr wrap="square" lIns="0" tIns="0" rIns="0" bIns="0" rtlCol="0" anchor="ctr"/>
          <a:lstStyle/>
          <a:p>
            <a:pPr marL="0" indent="0" algn="ctr">
              <a:lnSpc>
                <a:spcPts val="5400"/>
              </a:lnSpc>
              <a:buNone/>
            </a:pPr>
            <a:r>
              <a:rPr lang="en-US" sz="4000" b="1" dirty="0">
                <a:solidFill>
                  <a:srgbClr val="FFFFFF"/>
                </a:solidFill>
                <a:latin typeface="Arial" pitchFamily="34" charset="0"/>
                <a:ea typeface="Arial" pitchFamily="34" charset="-122"/>
                <a:cs typeface="Arial" pitchFamily="34" charset="-120"/>
              </a:rPr>
              <a:t>Don't compete with AI at writing code.</a:t>
            </a:r>
            <a:endParaRPr lang="en-US" sz="4000" dirty="0"/>
          </a:p>
          <a:p>
            <a:pPr marL="0" indent="0" algn="ctr">
              <a:lnSpc>
                <a:spcPts val="5400"/>
              </a:lnSpc>
              <a:buNone/>
            </a:pPr>
            <a:r>
              <a:rPr lang="en-US" sz="4000" b="1" dirty="0">
                <a:solidFill>
                  <a:srgbClr val="9257F1"/>
                </a:solidFill>
                <a:latin typeface="Arial" pitchFamily="34" charset="0"/>
                <a:ea typeface="Arial" pitchFamily="34" charset="-122"/>
                <a:cs typeface="Arial" pitchFamily="34" charset="-120"/>
              </a:rPr>
              <a:t>Learn to build what matters.</a:t>
            </a:r>
            <a:endParaRPr lang="en-US" sz="4000" dirty="0"/>
          </a:p>
        </p:txBody>
      </p:sp>
      <p:sp>
        <p:nvSpPr>
          <p:cNvPr id="7" name="Text 3"/>
          <p:cNvSpPr/>
          <p:nvPr/>
        </p:nvSpPr>
        <p:spPr>
          <a:xfrm>
            <a:off x="914400" y="4206240"/>
            <a:ext cx="10362895" cy="548640"/>
          </a:xfrm>
          <a:prstGeom prst="rect">
            <a:avLst/>
          </a:prstGeom>
          <a:noFill/>
          <a:ln/>
        </p:spPr>
        <p:txBody>
          <a:bodyPr wrap="square" lIns="0" tIns="0" rIns="0" bIns="0" rtlCol="0" anchor="ctr"/>
          <a:lstStyle/>
          <a:p>
            <a:pPr marL="0" indent="0" algn="ctr">
              <a:buNone/>
            </a:pPr>
            <a:r>
              <a:rPr lang="en-US" sz="2200" dirty="0">
                <a:solidFill>
                  <a:srgbClr val="8A93A8"/>
                </a:solidFill>
                <a:latin typeface="Arial" pitchFamily="34" charset="0"/>
                <a:ea typeface="Arial" pitchFamily="34" charset="-122"/>
                <a:cs typeface="Arial" pitchFamily="34" charset="-120"/>
              </a:rPr>
              <a:t>Ingeniería  +  Cloud  +  IA  +  criterio.</a:t>
            </a:r>
            <a:endParaRPr lang="en-US" sz="2200" dirty="0"/>
          </a:p>
        </p:txBody>
      </p:sp>
      <p:pic>
        <p:nvPicPr>
          <p:cNvPr id="8" name="Image 1" descr="/sessions/awesome-wizardly-sagan/mnt/charla-ia-aws-ug-cucuta/multimedia/aws_ug_cucuta_logo.jpeg"/>
          <p:cNvPicPr>
            <a:picLocks noChangeAspect="1"/>
          </p:cNvPicPr>
          <p:nvPr/>
        </p:nvPicPr>
        <p:blipFill>
          <a:blip r:embed="rId3"/>
          <a:stretch>
            <a:fillRect/>
          </a:stretch>
        </p:blipFill>
        <p:spPr>
          <a:xfrm>
            <a:off x="5661508" y="5074920"/>
            <a:ext cx="868680" cy="86868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161D2D"/>
        </a:solidFill>
        <a:effectLst/>
      </p:bgPr>
    </p:bg>
    <p:spTree>
      <p:nvGrpSpPr>
        <p:cNvPr id="1" name=""/>
        <p:cNvGrpSpPr/>
        <p:nvPr/>
      </p:nvGrpSpPr>
      <p:grpSpPr>
        <a:xfrm>
          <a:off x="0" y="0"/>
          <a:ext cx="0" cy="0"/>
          <a:chOff x="0" y="0"/>
          <a:chExt cx="0" cy="0"/>
        </a:xfrm>
      </p:grpSpPr>
      <p:sp>
        <p:nvSpPr>
          <p:cNvPr id="3" name="Text 0"/>
          <p:cNvSpPr/>
          <p:nvPr/>
        </p:nvSpPr>
        <p:spPr>
          <a:xfrm>
            <a:off x="548640" y="6291072"/>
            <a:ext cx="3657600" cy="274320"/>
          </a:xfrm>
          <a:prstGeom prst="rect">
            <a:avLst/>
          </a:prstGeom>
          <a:noFill/>
          <a:ln/>
        </p:spPr>
        <p:txBody>
          <a:bodyPr wrap="square" lIns="0" tIns="0" rIns="0" bIns="0" rtlCol="0" anchor="ctr"/>
          <a:lstStyle/>
          <a:p>
            <a:pPr marL="0" indent="0" algn="l">
              <a:buNone/>
            </a:pPr>
            <a:r>
              <a:rPr lang="en-US" sz="1000" dirty="0">
                <a:solidFill>
                  <a:srgbClr val="48536B"/>
                </a:solidFill>
                <a:latin typeface="Arial" pitchFamily="34" charset="0"/>
                <a:ea typeface="Arial" pitchFamily="34" charset="-122"/>
                <a:cs typeface="Arial" pitchFamily="34" charset="-120"/>
              </a:rPr>
              <a:t>6.4  ·  38:48–39:58</a:t>
            </a:r>
            <a:endParaRPr lang="en-US" sz="1000" dirty="0"/>
          </a:p>
        </p:txBody>
      </p:sp>
      <p:sp>
        <p:nvSpPr>
          <p:cNvPr id="4" name="Text 1"/>
          <p:cNvSpPr/>
          <p:nvPr/>
        </p:nvSpPr>
        <p:spPr>
          <a:xfrm>
            <a:off x="10042855" y="6291072"/>
            <a:ext cx="914400" cy="274320"/>
          </a:xfrm>
          <a:prstGeom prst="rect">
            <a:avLst/>
          </a:prstGeom>
          <a:noFill/>
          <a:ln/>
        </p:spPr>
        <p:txBody>
          <a:bodyPr wrap="square" lIns="0" tIns="0" rIns="0" bIns="0" rtlCol="0" anchor="ctr"/>
          <a:lstStyle/>
          <a:p>
            <a:pPr marL="0" indent="0" algn="r">
              <a:buNone/>
            </a:pPr>
            <a:r>
              <a:rPr lang="en-US" sz="1000" dirty="0">
                <a:solidFill>
                  <a:srgbClr val="48536B"/>
                </a:solidFill>
                <a:latin typeface="Arial" pitchFamily="34" charset="0"/>
                <a:ea typeface="Arial" pitchFamily="34" charset="-122"/>
                <a:cs typeface="Arial" pitchFamily="34" charset="-120"/>
              </a:rPr>
              <a:t>37/38</a:t>
            </a:r>
            <a:endParaRPr lang="en-US" sz="1000" dirty="0"/>
          </a:p>
        </p:txBody>
      </p:sp>
      <p:pic>
        <p:nvPicPr>
          <p:cNvPr id="5" name="Image 0" descr="/sessions/awesome-wizardly-sagan/mnt/charla-ia-aws-ug-cucuta/multimedia/aws_ug_cucuta_logo.jpeg"/>
          <p:cNvPicPr>
            <a:picLocks noChangeAspect="1"/>
          </p:cNvPicPr>
          <p:nvPr/>
        </p:nvPicPr>
        <p:blipFill>
          <a:blip r:embed="rId3">
            <a:alphaModFix amt="75000"/>
          </a:blip>
          <a:stretch>
            <a:fillRect/>
          </a:stretch>
        </p:blipFill>
        <p:spPr>
          <a:xfrm>
            <a:off x="11231575" y="6071616"/>
            <a:ext cx="457200" cy="457200"/>
          </a:xfrm>
          <a:prstGeom prst="rect">
            <a:avLst/>
          </a:prstGeom>
        </p:spPr>
      </p:pic>
      <p:sp>
        <p:nvSpPr>
          <p:cNvPr id="6" name="Text 2"/>
          <p:cNvSpPr/>
          <p:nvPr/>
        </p:nvSpPr>
        <p:spPr>
          <a:xfrm>
            <a:off x="5852160" y="3108960"/>
            <a:ext cx="457200" cy="457200"/>
          </a:xfrm>
          <a:prstGeom prst="rect">
            <a:avLst/>
          </a:prstGeom>
          <a:noFill/>
          <a:ln/>
        </p:spPr>
        <p:txBody>
          <a:bodyPr wrap="square" lIns="0" tIns="0" rIns="0" bIns="0" rtlCol="0" anchor="ctr"/>
          <a:lstStyle/>
          <a:p>
            <a:pPr marL="0" indent="0" algn="ctr">
              <a:buNone/>
            </a:pPr>
            <a:r>
              <a:rPr lang="en-US" sz="2000" dirty="0">
                <a:solidFill>
                  <a:srgbClr val="1A2233"/>
                </a:solidFill>
                <a:latin typeface="Arial" pitchFamily="34" charset="0"/>
                <a:ea typeface="Arial" pitchFamily="34" charset="-122"/>
                <a:cs typeface="Arial" pitchFamily="34" charset="-120"/>
              </a:rPr>
              <a:t>·</a:t>
            </a:r>
            <a:endParaRPr lang="en-US" sz="2000" dirty="0"/>
          </a:p>
        </p:txBody>
      </p:sp>
      <p:pic>
        <p:nvPicPr>
          <p:cNvPr id="9" name="Picture 8">
            <a:extLst>
              <a:ext uri="{FF2B5EF4-FFF2-40B4-BE49-F238E27FC236}">
                <a16:creationId xmlns:a16="http://schemas.microsoft.com/office/drawing/2014/main" id="{4728CE6E-59B2-E306-436E-E50C0866240B}"/>
              </a:ext>
            </a:extLst>
          </p:cNvPr>
          <p:cNvPicPr>
            <a:picLocks noChangeAspect="1"/>
          </p:cNvPicPr>
          <p:nvPr/>
        </p:nvPicPr>
        <p:blipFill>
          <a:blip r:embed="rId4"/>
          <a:stretch>
            <a:fillRect/>
          </a:stretch>
        </p:blipFill>
        <p:spPr>
          <a:xfrm>
            <a:off x="3657600" y="990600"/>
            <a:ext cx="4876800" cy="4876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249</TotalTime>
  <Words>8157</Words>
  <Application>Microsoft Macintosh PowerPoint</Application>
  <PresentationFormat>Widescreen</PresentationFormat>
  <Paragraphs>412</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futuro del desarrollo de software luego de la IA</dc:title>
  <dc:subject>PptxGenJS Presentation</dc:subject>
  <dc:creator>Gabriel Díaz</dc:creator>
  <cp:lastModifiedBy>Gabriel Diaz</cp:lastModifiedBy>
  <cp:revision>16</cp:revision>
  <dcterms:created xsi:type="dcterms:W3CDTF">2026-08-14T13:35:33Z</dcterms:created>
  <dcterms:modified xsi:type="dcterms:W3CDTF">2026-08-20T02:50:59Z</dcterms:modified>
</cp:coreProperties>
</file>